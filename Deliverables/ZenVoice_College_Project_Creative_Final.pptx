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72011fad26424d" /><Relationship Type="http://schemas.openxmlformats.org/officeDocument/2006/relationships/extended-properties" Target="/docProps/app.xml" Id="R6cb1a5a47fe74e7d" /><Relationship Type="http://schemas.openxmlformats.org/officeDocument/2006/relationships/officeDocument" Target="/ppt/presentation.xml" Id="Rc262949ed4974d8a" /></Relationships>
</file>

<file path=ppt/presentation.xml><?xml version="1.0" encoding="utf-8"?>
<p:presentation xmlns:p="http://schemas.openxmlformats.org/presentationml/2006/main">
  <p:sldMasterIdLst>
    <p:sldMasterId xmlns:r="http://schemas.openxmlformats.org/officeDocument/2006/relationships" id="2147483648" r:id="Rea4a82a8337943c8"/>
  </p:sldMasterIdLst>
  <p:notesMasterIdLst>
    <p:notesMasterId xmlns:r="http://schemas.openxmlformats.org/officeDocument/2006/relationships" r:id="Re519ee11026d4c2d"/>
  </p:notesMasterIdLst>
  <p:sldIdLst>
    <p:sldId xmlns:r="http://schemas.openxmlformats.org/officeDocument/2006/relationships" id="256" r:id="R4440054018784347"/>
    <p:sldId xmlns:r="http://schemas.openxmlformats.org/officeDocument/2006/relationships" id="257" r:id="R40c71bf5890e410c"/>
    <p:sldId xmlns:r="http://schemas.openxmlformats.org/officeDocument/2006/relationships" id="258" r:id="Raea206173ac248a7"/>
    <p:sldId xmlns:r="http://schemas.openxmlformats.org/officeDocument/2006/relationships" id="259" r:id="Rc8993063e300459e"/>
    <p:sldId xmlns:r="http://schemas.openxmlformats.org/officeDocument/2006/relationships" id="260" r:id="R6270eea83a294012"/>
    <p:sldId xmlns:r="http://schemas.openxmlformats.org/officeDocument/2006/relationships" id="261" r:id="R2f5e5a181dd94dae"/>
    <p:sldId xmlns:r="http://schemas.openxmlformats.org/officeDocument/2006/relationships" id="262" r:id="Rcee80e65f64c45b1"/>
    <p:sldId xmlns:r="http://schemas.openxmlformats.org/officeDocument/2006/relationships" id="263" r:id="R5145effbbfe7414a"/>
    <p:sldId xmlns:r="http://schemas.openxmlformats.org/officeDocument/2006/relationships" id="264" r:id="R0a47eda8aa6b4b67"/>
    <p:sldId xmlns:r="http://schemas.openxmlformats.org/officeDocument/2006/relationships" id="265" r:id="R06d98ff916814d59"/>
    <p:sldId xmlns:r="http://schemas.openxmlformats.org/officeDocument/2006/relationships" id="266" r:id="R86c4b6b2d9b843bb"/>
    <p:sldId xmlns:r="http://schemas.openxmlformats.org/officeDocument/2006/relationships" id="267" r:id="R69db89329b764f21"/>
    <p:sldId xmlns:r="http://schemas.openxmlformats.org/officeDocument/2006/relationships" id="268" r:id="R045ccad708fc429b"/>
    <p:sldId xmlns:r="http://schemas.openxmlformats.org/officeDocument/2006/relationships" id="269" r:id="Rc2ba43c938af46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dc059e281548a4" /><Relationship Type="http://schemas.openxmlformats.org/officeDocument/2006/relationships/slideMaster" Target="/ppt/slideMasters/slideMaster1.xml" Id="Rea4a82a8337943c8" /><Relationship Type="http://schemas.openxmlformats.org/officeDocument/2006/relationships/notesMaster" Target="/ppt/notesMasters/notesMaster1.xml" Id="Re519ee11026d4c2d" /><Relationship Type="http://schemas.openxmlformats.org/officeDocument/2006/relationships/presProps" Target="/ppt/presProps.xml" Id="R392b036229a746fa" /><Relationship Type="http://schemas.openxmlformats.org/officeDocument/2006/relationships/tableStyles" Target="/ppt/tableStyles.xml" Id="R6d3c325d077e4b39" /><Relationship Type="http://schemas.openxmlformats.org/officeDocument/2006/relationships/slide" Target="/ppt/slides/slide1.xml" Id="R4440054018784347" /><Relationship Type="http://schemas.openxmlformats.org/officeDocument/2006/relationships/slide" Target="/ppt/slides/slide2.xml" Id="R40c71bf5890e410c" /><Relationship Type="http://schemas.openxmlformats.org/officeDocument/2006/relationships/slide" Target="/ppt/slides/slide3.xml" Id="Raea206173ac248a7" /><Relationship Type="http://schemas.openxmlformats.org/officeDocument/2006/relationships/slide" Target="/ppt/slides/slide4.xml" Id="Rc8993063e300459e" /><Relationship Type="http://schemas.openxmlformats.org/officeDocument/2006/relationships/slide" Target="/ppt/slides/slide5.xml" Id="R6270eea83a294012" /><Relationship Type="http://schemas.openxmlformats.org/officeDocument/2006/relationships/slide" Target="/ppt/slides/slide6.xml" Id="R2f5e5a181dd94dae" /><Relationship Type="http://schemas.openxmlformats.org/officeDocument/2006/relationships/slide" Target="/ppt/slides/slide7.xml" Id="Rcee80e65f64c45b1" /><Relationship Type="http://schemas.openxmlformats.org/officeDocument/2006/relationships/slide" Target="/ppt/slides/slide8.xml" Id="R5145effbbfe7414a" /><Relationship Type="http://schemas.openxmlformats.org/officeDocument/2006/relationships/slide" Target="/ppt/slides/slide9.xml" Id="R0a47eda8aa6b4b67" /><Relationship Type="http://schemas.openxmlformats.org/officeDocument/2006/relationships/slide" Target="/ppt/slides/slide10.xml" Id="R06d98ff916814d59" /><Relationship Type="http://schemas.openxmlformats.org/officeDocument/2006/relationships/slide" Target="/ppt/slides/slide11.xml" Id="R86c4b6b2d9b843bb" /><Relationship Type="http://schemas.openxmlformats.org/officeDocument/2006/relationships/slide" Target="/ppt/slides/slide12.xml" Id="R69db89329b764f21" /><Relationship Type="http://schemas.openxmlformats.org/officeDocument/2006/relationships/slide" Target="/ppt/slides/slide13.xml" Id="R045ccad708fc429b" /><Relationship Type="http://schemas.openxmlformats.org/officeDocument/2006/relationships/slide" Target="/ppt/slides/slide14.xml" Id="Rc2ba43c938af46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51b3d54e024b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5b497d44f14aa9" /><Relationship Type="http://schemas.openxmlformats.org/officeDocument/2006/relationships/notesMaster" Target="/ppt/notesMasters/notesMaster1.xml" Id="Rd817176ab65d4d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6c899bed644afd" /><Relationship Type="http://schemas.openxmlformats.org/officeDocument/2006/relationships/notesMaster" Target="/ppt/notesMasters/notesMaster1.xml" Id="Rd077afbbe82843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2586ddbc8d4c9c" /><Relationship Type="http://schemas.openxmlformats.org/officeDocument/2006/relationships/notesMaster" Target="/ppt/notesMasters/notesMaster1.xml" Id="Re1d28bf71c4f4c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72e17cb90c4bd0" /><Relationship Type="http://schemas.openxmlformats.org/officeDocument/2006/relationships/notesMaster" Target="/ppt/notesMasters/notesMaster1.xml" Id="R34a097e9a1324b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23f6c872264998" /><Relationship Type="http://schemas.openxmlformats.org/officeDocument/2006/relationships/notesMaster" Target="/ppt/notesMasters/notesMaster1.xml" Id="Racb69797380441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35a68e812e4992" /><Relationship Type="http://schemas.openxmlformats.org/officeDocument/2006/relationships/notesMaster" Target="/ppt/notesMasters/notesMaster1.xml" Id="R6870f1dc55a842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02aa7853d64b76" /><Relationship Type="http://schemas.openxmlformats.org/officeDocument/2006/relationships/notesMaster" Target="/ppt/notesMasters/notesMaster1.xml" Id="R6a138df345944f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ede95f4aaf42b5" /><Relationship Type="http://schemas.openxmlformats.org/officeDocument/2006/relationships/notesMaster" Target="/ppt/notesMasters/notesMaster1.xml" Id="R599ceb9574b64f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f98ed3799f481e" /><Relationship Type="http://schemas.openxmlformats.org/officeDocument/2006/relationships/notesMaster" Target="/ppt/notesMasters/notesMaster1.xml" Id="Rb124888364774d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60e6f60ce24130" /><Relationship Type="http://schemas.openxmlformats.org/officeDocument/2006/relationships/notesMaster" Target="/ppt/notesMasters/notesMaster1.xml" Id="R845c2e1d945b4c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69538cb4594b45" /><Relationship Type="http://schemas.openxmlformats.org/officeDocument/2006/relationships/notesMaster" Target="/ppt/notesMasters/notesMaster1.xml" Id="Rd2402eb5e5dd40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bf3b5ad7954607" /><Relationship Type="http://schemas.openxmlformats.org/officeDocument/2006/relationships/notesMaster" Target="/ppt/notesMasters/notesMaster1.xml" Id="R1e8872c27d3046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82f22fc53348ad" /><Relationship Type="http://schemas.openxmlformats.org/officeDocument/2006/relationships/notesMaster" Target="/ppt/notesMasters/notesMaster1.xml" Id="Rf8ae740ed23543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98b2bd47af4022" /><Relationship Type="http://schemas.openxmlformats.org/officeDocument/2006/relationships/notesMaster" Target="/ppt/notesMasters/notesMaster1.xml" Id="R6b9b628205e64c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 live-product sentence: ZenVoice is a native macOS dictation app that converts speech into text in the app already in focus. The visual establishes the product’s central metaphor—one microphone, one local signal path, one controlled result.</a:t>
            </a:r>
          </a:p>
          <a:p xmlns:a="http://schemas.openxmlformats.org/drawingml/2006/main">
            <a:r>
              <a:t/>
            </a:r>
          </a:p>
          <a:p xmlns:a="http://schemas.openxmlformats.org/drawingml/2006/main">
            <a:r>
              <a:t>[Sources]</a:t>
            </a:r>
          </a:p>
          <a:p xmlns:a="http://schemas.openxmlformats.org/drawingml/2006/main">
            <a:r>
              <a:t>ZenVoice README.md; owned brand asset: Resources/Brand/ZenLogo.png; generated asset: Deliverables/ZenVoice_Assets/microphone-hero.png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contexts one at a time. The audience should understand that ZenVoice solves a workflow problem and a trust problem—not only a transcription problem. The app must be fast enough to feel natural and clear enough about data handling to be credible.</a:t>
            </a:r>
          </a:p>
          <a:p xmlns:a="http://schemas.openxmlformats.org/drawingml/2006/main">
            <a:r>
              <a:t/>
            </a:r>
          </a:p>
          <a:p xmlns:a="http://schemas.openxmlformats.org/drawingml/2006/main">
            <a:r>
              <a:t>[Sources]</a:t>
            </a:r>
          </a:p>
          <a:p xmlns:a="http://schemas.openxmlformats.org/drawingml/2006/main">
            <a:r>
              <a:t>ZenVoice README.md;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Speak, Decode, and Insert. This is the simplest description of ZenVoice: the user stays in their current app; ZenVoice records locally, transcribes with the selected engine, applies controlled cleanup, and inserts the result.</a:t>
            </a:r>
          </a:p>
          <a:p xmlns:a="http://schemas.openxmlformats.org/drawingml/2006/main">
            <a:r>
              <a:t/>
            </a:r>
          </a:p>
          <a:p xmlns:a="http://schemas.openxmlformats.org/drawingml/2006/main">
            <a:r>
              <a:t>[Sources]</a:t>
            </a:r>
          </a:p>
          <a:p xmlns:a="http://schemas.openxmlformats.org/drawingml/2006/main">
            <a:r>
              <a:t>ZenVoice README.md — Features, Quick Start, How it works;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through the five moments. If Accessibility permission is missing, transcription still works and the result remains available on the clipboard. A live demo can follow this exact sequence in Notes or any editable field.</a:t>
            </a:r>
          </a:p>
          <a:p xmlns:a="http://schemas.openxmlformats.org/drawingml/2006/main">
            <a:r>
              <a:t/>
            </a:r>
          </a:p>
          <a:p xmlns:a="http://schemas.openxmlformats.org/drawingml/2006/main">
            <a:r>
              <a:t>[Sources]</a:t>
            </a:r>
          </a:p>
          <a:p xmlns:a="http://schemas.openxmlformats.org/drawingml/2006/main">
            <a:r>
              <a:t>ZenVoice README.md — Quick Start and Requirements; generated asset: Deliverables/ZenVoice_Assets/microphone-hero.png</a:t>
            </a:r>
          </a:p>
          <a:p xmlns:a="http://schemas.openxmlformats.org/drawingml/2006/main">
            <a:r>
              <a:t>
Visual updated: Deliverables/ZenVoice_Assets/slide04-full-microphone.png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four surrounding capabilities. ZenBar is intentionally small: the product’s intelligence lives in model selection, permission recovery, history, and per-app rules rather than in a large always-open interface.</a:t>
            </a:r>
          </a:p>
          <a:p xmlns:a="http://schemas.openxmlformats.org/drawingml/2006/main">
            <a:r>
              <a:t/>
            </a:r>
          </a:p>
          <a:p xmlns:a="http://schemas.openxmlformats.org/drawingml/2006/main">
            <a:r>
              <a:t>[Sources]</a:t>
            </a:r>
          </a:p>
          <a:p xmlns:a="http://schemas.openxmlformats.org/drawingml/2006/main">
            <a:r>
              <a:t>ZenVoice README.md — ZenBar, Live preview, Audio Doctor, Per-app rules, Recovery Inbox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each privacy rule. Be precise: encrypted transcript History and optional Audio History are different. Audio History is off by default and not encrypted at rest, so the deck presents that choice honestly. Optional cloud formatting receives finished text and a fixed prompt, never microphone audio.</a:t>
            </a:r>
          </a:p>
          <a:p xmlns:a="http://schemas.openxmlformats.org/drawingml/2006/main">
            <a:r>
              <a:t/>
            </a:r>
          </a:p>
          <a:p xmlns:a="http://schemas.openxmlformats.org/drawingml/2006/main">
            <a:r>
              <a:t>[Sources]</a:t>
            </a:r>
          </a:p>
          <a:p xmlns:a="http://schemas.openxmlformats.org/drawingml/2006/main">
            <a:r>
              <a:t>ZenVoice README.md — Privacy; docs/PRIVACY.md; docs/decisions/0010-audio-history.md; docs/decisions/0011-cloud-ai-enhancement.md; generated asset: Deliverables/ZenVoice_Assets/privacy-wave-shield.png</a:t>
            </a:r>
          </a:p>
          <a:p xmlns:a="http://schemas.openxmlformats.org/drawingml/2006/main">
            <a:r>
              <a:t>
Visual updated: Deliverables/ZenVoice_Assets/slide06-centered-shield.png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before text, the corrected output, then the local-intelligence list. This slide explains the practical role of AI/ML without exaggeration: ZenVoice combines deterministic cleanup, optional guarded on-device refinement, and explicit encrypted correction rules.</a:t>
            </a:r>
          </a:p>
          <a:p xmlns:a="http://schemas.openxmlformats.org/drawingml/2006/main">
            <a:r>
              <a:t/>
            </a:r>
          </a:p>
          <a:p xmlns:a="http://schemas.openxmlformats.org/drawingml/2006/main">
            <a:r>
              <a:t>[Sources]</a:t>
            </a:r>
          </a:p>
          <a:p xmlns:a="http://schemas.openxmlformats.org/drawingml/2006/main">
            <a:r>
              <a:t>ZenVoice README.md — Formatting and Voice Profile; docs/VOICE_PROFILE.md; docs/INSTANT_REFINE.md;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through the five stages. The selected engine is a replaceable runtime boundary; local recording, cleanup, insertion, and storage policy remain controlled by the application. This keeps model experimentation from silently changing the privacy contract.</a:t>
            </a:r>
          </a:p>
          <a:p xmlns:a="http://schemas.openxmlformats.org/drawingml/2006/main">
            <a:r>
              <a:t/>
            </a:r>
          </a:p>
          <a:p xmlns:a="http://schemas.openxmlformats.org/drawingml/2006/main">
            <a:r>
              <a:t>[Sources]</a:t>
            </a:r>
          </a:p>
          <a:p xmlns:a="http://schemas.openxmlformats.org/drawingml/2006/main">
            <a:r>
              <a:t>ZenVoice README.md — How it works and Architecture; docs/ARCHITECTURE.md;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model paths. Explain that the runtime engine and the model file are separate. ZenVoice does not expose every possible model; it uses a curated, hardware-aware catalogue so the app can make a defensible recommendation.</a:t>
            </a:r>
          </a:p>
          <a:p xmlns:a="http://schemas.openxmlformats.org/drawingml/2006/main">
            <a:r>
              <a:t/>
            </a:r>
          </a:p>
          <a:p xmlns:a="http://schemas.openxmlformats.org/drawingml/2006/main">
            <a:r>
              <a:t>[Sources]</a:t>
            </a:r>
          </a:p>
          <a:p xmlns:a="http://schemas.openxmlformats.org/drawingml/2006/main">
            <a:r>
              <a:t>ZenVoice README.md — Supported models; docs/MODEL_CATALOG.md; docs/decisions/0005-multi-engine-architecture.md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two chart headings. WER means Word Error Rate, so lower is better. Real-time multiple compares audio duration with processing time, so higher is faster. The scientific caveat matters: the frozen public corpus compares engines, but the project does not call it representative ZenVoice dictation. A consented representative cohort remains pending.</a:t>
            </a:r>
          </a:p>
          <a:p xmlns:a="http://schemas.openxmlformats.org/drawingml/2006/main">
            <a:r>
              <a:t/>
            </a:r>
          </a:p>
          <a:p xmlns:a="http://schemas.openxmlformats.org/drawingml/2006/main">
            <a:r>
              <a:t>[Sources]</a:t>
            </a:r>
          </a:p>
          <a:p xmlns:a="http://schemas.openxmlformats.org/drawingml/2006/main">
            <a:r>
              <a:t>docs/REAL_SPEECH_CORPUS.md — Per-engine baselines; docs/PHASE_6.md; docs/CONSENTED_DICTATION_MODEL_CYCLE.md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branches around the central ZenVoice College Project node. Explain how the project combines AI/ML evaluation, native macOS product engineering, and privacy/security evidence in one working application.</a:t>
            </a:r>
          </a:p>
          <a:p xmlns:a="http://schemas.openxmlformats.org/drawingml/2006/main">
            <a:r>
              <a:t/>
            </a:r>
          </a:p>
          <a:p xmlns:a="http://schemas.openxmlformats.org/drawingml/2006/main">
            <a:r>
              <a:t>[Sources]</a:t>
            </a:r>
          </a:p>
          <a:p xmlns:a="http://schemas.openxmlformats.org/drawingml/2006/main">
            <a:r>
              <a:t>ZenVoice README.md; docs/ROADMAP.md; Package.swift; docs/PRIVACY.md; docs/REAL_SPEECH_CORPUS.md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Capture, Transcribe, and Summarize. Lecture Capture v1 stays narrow and useful. Two-role diarization is not being integrated because the tested candidates did not meet the conservative reliability gate. This is an evidence-based stop, not an unfinished UI task.</a:t>
            </a:r>
          </a:p>
          <a:p xmlns:a="http://schemas.openxmlformats.org/drawingml/2006/main">
            <a:r>
              <a:t/>
            </a:r>
          </a:p>
          <a:p xmlns:a="http://schemas.openxmlformats.org/drawingml/2006/main">
            <a:r>
              <a:t>[Sources]</a:t>
            </a:r>
          </a:p>
          <a:p xmlns:a="http://schemas.openxmlformats.org/drawingml/2006/main">
            <a:r>
              <a:t>docs/decisions/0014-lecture-capture-v1.md; docs/decisions/0015-lecture-two-role-diarization.md; docs/DIARIZATION_ENGINE_GATE_2026-08-22.md; docs/TEACHER_REST_ARCHITECTURE_GATE_2026-08-22.md; generated asset: Deliverables/ZenVoice_Assets/lecture-capture.png</a:t>
            </a:r>
          </a:p>
          <a:p xmlns:a="http://schemas.openxmlformats.org/drawingml/2006/main">
            <a:r>
              <a:t>
Visual updated: Deliverables/ZenVoice_Assets/slide12-balanced-lecture.png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Now, Next, and Ship. The current product is a working personal alpha. Public distribution is deliberately deferred until signing, notarization, the exact package test, accessibility review, and clean-device QA are complete.</a:t>
            </a:r>
          </a:p>
          <a:p xmlns:a="http://schemas.openxmlformats.org/drawingml/2006/main">
            <a:r>
              <a:t/>
            </a:r>
          </a:p>
          <a:p xmlns:a="http://schemas.openxmlformats.org/drawingml/2006/main">
            <a:r>
              <a:t>[Sources]</a:t>
            </a:r>
          </a:p>
          <a:p xmlns:a="http://schemas.openxmlformats.org/drawingml/2006/main">
            <a:r>
              <a:t>docs/ROADMAP.md; docs/RELEASE_READINESS.md; docs/RELEASE_QA_RECORD.md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ZenVoice makes speaking a productive way to write while keeping control on the user’s Mac. Invite questions or move directly into the live shortcut demonstration.</a:t>
            </a:r>
          </a:p>
          <a:p xmlns:a="http://schemas.openxmlformats.org/drawingml/2006/main">
            <a:r>
              <a:t/>
            </a:r>
          </a:p>
          <a:p xmlns:a="http://schemas.openxmlformats.org/drawingml/2006/main">
            <a:r>
              <a:t>[Sources]</a:t>
            </a:r>
          </a:p>
          <a:p xmlns:a="http://schemas.openxmlformats.org/drawingml/2006/main">
            <a:r>
              <a:t>ZenVoice README.md; generated asset: Deliverables/ZenVoice_Assets/microphone-hero.png; owned brand asset: Resources/Brand/ZenLogo.png</a:t>
            </a:r>
          </a:p>
          <a:p xmlns:a="http://schemas.openxmlformats.org/drawingml/2006/main">
            <a:r>
              <a:t>
Visual updated: Deliverables/ZenVoice_Assets/slide14-centered-microphone.png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02a922542d45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521a754c144eb2" /><Relationship Type="http://schemas.openxmlformats.org/officeDocument/2006/relationships/slideLayout" Target="/ppt/slideLayouts/slideLayout1.xml" Id="Ra5024b50255341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024b50255341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670a7298994339" /><Relationship Type="http://schemas.openxmlformats.org/officeDocument/2006/relationships/image" Target="/ppt/media/image.png" Id="R342cd9c3b1bd4b66" /><Relationship Type="http://schemas.openxmlformats.org/officeDocument/2006/relationships/image" Target="/ppt/media/image2.png" Id="R515495f5742d4ed3" /><Relationship Type="http://schemas.openxmlformats.org/officeDocument/2006/relationships/notesSlide" Target="/ppt/notesSlides/notesSlide1.xml" Id="R2f8b731d852642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63b1e7e6e84ece" /><Relationship Type="http://schemas.openxmlformats.org/officeDocument/2006/relationships/notesSlide" Target="/ppt/notesSlides/notesSlide2.xml" Id="R0230283f4b4b4d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aa1e4a347c4eab" /><Relationship Type="http://schemas.openxmlformats.org/officeDocument/2006/relationships/notesSlide" Target="/ppt/notesSlides/notesSlide3.xml" Id="R7fa5ed22efea40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4e8a51f4664a06" /><Relationship Type="http://schemas.openxmlformats.org/officeDocument/2006/relationships/image" Target="/ppt/media/image3.png" Id="R9bfc0d62b78f4115" /><Relationship Type="http://schemas.openxmlformats.org/officeDocument/2006/relationships/notesSlide" Target="/ppt/notesSlides/notesSlide4.xml" Id="R84bb7be268cc48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1b4655f4904edb" /><Relationship Type="http://schemas.openxmlformats.org/officeDocument/2006/relationships/notesSlide" Target="/ppt/notesSlides/notesSlide5.xml" Id="R1226ee299c8b47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2be7ee612e4734" /><Relationship Type="http://schemas.openxmlformats.org/officeDocument/2006/relationships/image" Target="/ppt/media/image4.png" Id="Rc66978f4bf8f42dc" /><Relationship Type="http://schemas.openxmlformats.org/officeDocument/2006/relationships/notesSlide" Target="/ppt/notesSlides/notesSlide6.xml" Id="R593b0e5128344f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c5b9d5081c4c70" /><Relationship Type="http://schemas.openxmlformats.org/officeDocument/2006/relationships/notesSlide" Target="/ppt/notesSlides/notesSlide7.xml" Id="Rc702bd5c39bf42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07177a78bf498a" /><Relationship Type="http://schemas.openxmlformats.org/officeDocument/2006/relationships/notesSlide" Target="/ppt/notesSlides/notesSlide8.xml" Id="R3ee72f15b87f44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ef0663ec08422b" /><Relationship Type="http://schemas.openxmlformats.org/officeDocument/2006/relationships/notesSlide" Target="/ppt/notesSlides/notesSlide9.xml" Id="R1fb1fee455be4c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169432c2dc40be" /><Relationship Type="http://schemas.openxmlformats.org/officeDocument/2006/relationships/chart" Target="/ppt/slides/charts/chart1.xml" Id="R2d93739993f54cff" /><Relationship Type="http://schemas.openxmlformats.org/officeDocument/2006/relationships/chart" Target="/ppt/slides/charts/chart2.xml" Id="R0407cdf89dfc4110" /><Relationship Type="http://schemas.openxmlformats.org/officeDocument/2006/relationships/notesSlide" Target="/ppt/notesSlides/notesSlide10.xml" Id="R4eb15e8c331e4d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dfce16c67444ef" /><Relationship Type="http://schemas.openxmlformats.org/officeDocument/2006/relationships/notesSlide" Target="/ppt/notesSlides/notesSlide11.xml" Id="R254568b10c8046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351162fe3947cb" /><Relationship Type="http://schemas.openxmlformats.org/officeDocument/2006/relationships/image" Target="/ppt/media/image5.png" Id="R5f4750ac1bd54363" /><Relationship Type="http://schemas.openxmlformats.org/officeDocument/2006/relationships/notesSlide" Target="/ppt/notesSlides/notesSlide12.xml" Id="R1d5974ad295741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f3c20bc78e43d8" /><Relationship Type="http://schemas.openxmlformats.org/officeDocument/2006/relationships/notesSlide" Target="/ppt/notesSlides/notesSlide13.xml" Id="Ra6795caec58543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ef75d4cad14b06" /><Relationship Type="http://schemas.openxmlformats.org/officeDocument/2006/relationships/image" Target="/ppt/media/image6.png" Id="Re2fc1044196843ae" /><Relationship Type="http://schemas.openxmlformats.org/officeDocument/2006/relationships/image" Target="/ppt/media/image7.png" Id="Rd040729f3d0548f2" /><Relationship Type="http://schemas.openxmlformats.org/officeDocument/2006/relationships/notesSlide" Target="/ppt/notesSlides/notesSlide14.xml" Id="Rd560aa1a87e14888" /></Relationships>
</file>

<file path=ppt/slides/charts/chart1.xml><?xml version="1.0" encoding="utf-8"?>
<c:chartSpace xmlns:c="http://schemas.openxmlformats.org/drawingml/2006/chart">
  <c:lang val="en-US"/>
  <c:chart>
    <c:plotArea>
      <c:barChart>
        <c:barDir val="bar"/>
        <c:grouping val="clustered"/>
        <c:varyColors val="0"/>
        <c:ser>
          <c:idx val="0"/>
          <c:order val="0"/>
          <c:tx>
            <c:v>WER</c:v>
          </c:tx>
          <c:spPr>
            <a:solidFill xmlns:a="http://schemas.openxmlformats.org/drawingml/2006/main">
              <a:srgbClr val="7667F2"/>
            </a:solidFill>
          </c:spPr>
          <c:dPt>
            <c:idx val="1"/>
            <c:invertIfNegative val="0"/>
            <c:spPr>
              <a:solidFill xmlns:a="http://schemas.openxmlformats.org/drawingml/2006/main">
                <a:srgbClr val="D7A75E"/>
              </a:solidFill>
            </c:spPr>
          </c:dPt>
          <c:cat>
            <c:strLit>
              <c:ptCount val="2"/>
              <c:pt idx="0">
                <c:v>Whisper Turbo</c:v>
              </c:pt>
              <c:pt idx="1">
                <c:v>Parakeet TDT v3</c:v>
              </c:pt>
            </c:strLit>
          </c:cat>
          <c:val>
            <c:numLit>
              <c:formatCode>General</c:formatCode>
              <c:ptCount val="2"/>
              <c:pt idx="0">
                <c:v>8.2</c:v>
              </c:pt>
              <c:pt idx="1">
                <c:v>6.9</c:v>
              </c:pt>
            </c:numLit>
          </c:val>
        </c:ser>
        <c:dLbls>
          <c:txPr>
            <a:bodyPr xmlns:a="http://schemas.openxmlformats.org/drawingml/2006/main" anchorCtr="1"/>
            <a:lstStyle xmlns:a="http://schemas.openxmlformats.org/drawingml/2006/main"/>
            <a:p xmlns:a="http://schemas.openxmlformats.org/drawingml/2006/main">
              <a:pPr>
                <a:defRPr sz="1200" b="1">
                  <a:solidFill>
                    <a:srgbClr val="F7F4EF"/>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36333E"/>
              </a:solidFill>
              <a:prstDash val="solid"/>
            </a:ln>
          </c:spPr>
        </c:majorGridlines>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050">
                <a:solidFill>
                  <a:srgbClr val="96909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200">
                <a:solidFill>
                  <a:srgbClr val="D3CED0"/>
                </a:solidFill>
              </a:defRPr>
            </a:pPr>
          </a:p>
        </c:txPr>
        <c:crossAx val="48650112"/>
        <c:crossBetween val="between"/>
      </c:valAx>
      <c:spPr>
        <a:solidFill xmlns:a="http://schemas.openxmlformats.org/drawingml/2006/main">
          <a:srgbClr val="08080A"/>
        </a:solidFill>
        <a:ln xmlns:a="http://schemas.openxmlformats.org/drawingml/2006/main" w="0">
          <a:solidFill>
            <a:srgbClr val="08080A"/>
          </a:solidFill>
          <a:prstDash val="solid"/>
        </a:ln>
      </c:spPr>
    </c:plotArea>
    <c:plotVisOnly val="1"/>
  </c:chart>
  <c:spPr>
    <a:solidFill xmlns:a="http://schemas.openxmlformats.org/drawingml/2006/main">
      <a:srgbClr val="08080A"/>
    </a:solidFill>
    <a:ln xmlns:a="http://schemas.openxmlformats.org/drawingml/2006/main" w="0">
      <a:solidFill>
        <a:srgbClr val="08080A"/>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Speed</c:v>
          </c:tx>
          <c:spPr>
            <a:solidFill xmlns:a="http://schemas.openxmlformats.org/drawingml/2006/main">
              <a:srgbClr val="7667F2"/>
            </a:solidFill>
          </c:spPr>
          <c:dPt>
            <c:idx val="1"/>
            <c:invertIfNegative val="0"/>
            <c:spPr>
              <a:solidFill xmlns:a="http://schemas.openxmlformats.org/drawingml/2006/main">
                <a:srgbClr val="D7A75E"/>
              </a:solidFill>
            </c:spPr>
          </c:dPt>
          <c:cat>
            <c:strLit>
              <c:ptCount val="2"/>
              <c:pt idx="0">
                <c:v>Whisper Turbo</c:v>
              </c:pt>
              <c:pt idx="1">
                <c:v>Parakeet TDT v3</c:v>
              </c:pt>
            </c:strLit>
          </c:cat>
          <c:val>
            <c:numLit>
              <c:formatCode>General</c:formatCode>
              <c:ptCount val="2"/>
              <c:pt idx="0">
                <c:v>11</c:v>
              </c:pt>
              <c:pt idx="1">
                <c:v>73</c:v>
              </c:pt>
            </c:numLit>
          </c:val>
        </c:ser>
        <c:dLbls>
          <c:txPr>
            <a:bodyPr xmlns:a="http://schemas.openxmlformats.org/drawingml/2006/main" anchorCtr="1"/>
            <a:lstStyle xmlns:a="http://schemas.openxmlformats.org/drawingml/2006/main"/>
            <a:p xmlns:a="http://schemas.openxmlformats.org/drawingml/2006/main">
              <a:pPr>
                <a:defRPr sz="1200" b="1">
                  <a:solidFill>
                    <a:srgbClr val="F7F4EF"/>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36333E"/>
              </a:solidFill>
              <a:prstDash val="solid"/>
            </a:ln>
          </c:spPr>
        </c:majorGridlines>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050">
                <a:solidFill>
                  <a:srgbClr val="96909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200">
                <a:solidFill>
                  <a:srgbClr val="D3CED0"/>
                </a:solidFill>
              </a:defRPr>
            </a:pPr>
          </a:p>
        </c:txPr>
        <c:crossAx val="48650112"/>
        <c:crossBetween val="between"/>
      </c:valAx>
      <c:spPr>
        <a:solidFill xmlns:a="http://schemas.openxmlformats.org/drawingml/2006/main">
          <a:srgbClr val="08080A"/>
        </a:solidFill>
        <a:ln xmlns:a="http://schemas.openxmlformats.org/drawingml/2006/main" w="0">
          <a:solidFill>
            <a:srgbClr val="08080A"/>
          </a:solidFill>
          <a:prstDash val="solid"/>
        </a:ln>
      </c:spPr>
    </c:plotArea>
    <c:plotVisOnly val="1"/>
  </c:chart>
  <c:spPr>
    <a:solidFill xmlns:a="http://schemas.openxmlformats.org/drawingml/2006/main">
      <a:srgbClr val="08080A"/>
    </a:solidFill>
    <a:ln xmlns:a="http://schemas.openxmlformats.org/drawingml/2006/main" w="0">
      <a:solidFill>
        <a:srgbClr val="08080A"/>
      </a:solidFill>
      <a:prstDash val="solid"/>
    </a:ln>
  </c:spPr>
</c:chartSpace>
</file>

<file path=ppt/slides/slide1.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42cd9c3b1bd4b6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A852B0-5379-4D43-A494-C6599FBEBB4A}"/>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15495f5742d4ed3"/>
          <a:stretch xmlns:a="http://schemas.openxmlformats.org/drawingml/2006/main"/>
        </p:blipFill>
        <p:spPr>
          <a:xfrm xmlns:a="http://schemas.openxmlformats.org/drawingml/2006/main">
            <a:off x="647700" y="552450"/>
            <a:ext cx="685800" cy="685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405208-4917-47BD-A418-3DFC6E096B78}"/>
              </a:ext>
            </a:extLst>
          </p:cNvPr>
          <p:cNvSpPr>
            <a:spLocks xmlns:a="http://schemas.openxmlformats.org/drawingml/2006/main" noGrp="1"/>
          </p:cNvSpPr>
          <p:nvPr/>
        </p:nvSpPr>
        <p:spPr>
          <a:xfrm xmlns:a="http://schemas.openxmlformats.org/drawingml/2006/main">
            <a:off x="628650" y="152400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Speak.</a:t>
            </a:r>
          </a:p>
          <a:p xmlns:a="http://schemas.openxmlformats.org/drawingml/2006/main">
            <a:pPr algn="l">
              <a:buNone/>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It types.</a:t>
            </a:r>
          </a:p>
          <a:p xmlns:a="http://schemas.openxmlformats.org/drawingml/2006/main">
            <a:pPr algn="l">
              <a:buNone/>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Your Mac keeps it.</a:t>
            </a:r>
          </a:p>
        </p:txBody>
      </p:sp>
      <p:sp>
        <p:nvSpPr>
          <p:cNvPr id="5" name="">
            <a:extLst xmlns:a="http://schemas.openxmlformats.org/drawingml/2006/main">
              <a:ext uri="{FF2B5EF4-FFF2-40B4-BE49-F238E27FC236}">
                <a16:creationId xmlns:a16="http://schemas.microsoft.com/office/drawing/2014/main" id="{5C4CDD59-45EE-4A87-A490-EFDE06E0A96E}"/>
              </a:ext>
            </a:extLst>
          </p:cNvPr>
          <p:cNvSpPr>
            <a:spLocks xmlns:a="http://schemas.openxmlformats.org/drawingml/2006/main" noGrp="1"/>
          </p:cNvSpPr>
          <p:nvPr/>
        </p:nvSpPr>
        <p:spPr>
          <a:xfrm xmlns:a="http://schemas.openxmlformats.org/drawingml/2006/main">
            <a:off x="666750" y="40957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0" i="0">
                <a:solidFill>
                  <a:srgbClr val="D3CED0"/>
                </a:solidFill>
                <a:latin typeface="Avenir Next"/>
                <a:ea typeface="Avenir Next"/>
                <a:cs typeface="Avenir Next"/>
              </a:defRPr>
            </a:pPr>
            <a:r>
              <a:rPr sz="2025" b="0" i="0">
                <a:solidFill>
                  <a:srgbClr val="D3CED0"/>
                </a:solidFill>
                <a:latin typeface="Avenir Next"/>
                <a:ea typeface="Avenir Next"/>
                <a:cs typeface="Avenir Next"/>
              </a:rPr>
              <a:t>Private, local-first voice dictation for macOS.</a:t>
            </a:r>
          </a:p>
        </p:txBody>
      </p:sp>
      <p:sp>
        <p:nvSpPr>
          <p:cNvPr id="6" name="">
            <a:extLst xmlns:a="http://schemas.openxmlformats.org/drawingml/2006/main">
              <a:ext uri="{FF2B5EF4-FFF2-40B4-BE49-F238E27FC236}">
                <a16:creationId xmlns:a16="http://schemas.microsoft.com/office/drawing/2014/main" id="{18C9E34F-E3C9-4670-B07F-D25D6B289C18}"/>
              </a:ext>
            </a:extLst>
          </p:cNvPr>
          <p:cNvSpPr>
            <a:spLocks xmlns:a="http://schemas.openxmlformats.org/drawingml/2006/main" noGrp="1"/>
          </p:cNvSpPr>
          <p:nvPr/>
        </p:nvSpPr>
        <p:spPr>
          <a:xfrm xmlns:a="http://schemas.openxmlformats.org/drawingml/2006/main">
            <a:off x="666750" y="53625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COLLEGE PROJECT  •  AI/ML  •  macOS</a:t>
            </a:r>
          </a:p>
        </p:txBody>
      </p:sp>
      <p:sp>
        <p:nvSpPr>
          <p:cNvPr id="7" name="">
            <a:extLst xmlns:a="http://schemas.openxmlformats.org/drawingml/2006/main">
              <a:ext uri="{FF2B5EF4-FFF2-40B4-BE49-F238E27FC236}">
                <a16:creationId xmlns:a16="http://schemas.microsoft.com/office/drawing/2014/main" id="{45A7A313-C041-4027-A1E2-A46C201DF2C7}"/>
              </a:ext>
            </a:extLst>
          </p:cNvPr>
          <p:cNvSpPr>
            <a:spLocks xmlns:a="http://schemas.openxmlformats.org/drawingml/2006/main" noGrp="1"/>
          </p:cNvSpPr>
          <p:nvPr/>
        </p:nvSpPr>
        <p:spPr>
          <a:xfrm xmlns:a="http://schemas.openxmlformats.org/drawingml/2006/main">
            <a:off x="66675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96909A"/>
                </a:solidFill>
                <a:latin typeface="Avenir Next"/>
                <a:ea typeface="Avenir Next"/>
                <a:cs typeface="Avenir Next"/>
              </a:defRPr>
            </a:pPr>
            <a:r>
              <a:rPr sz="1275" b="0" i="0">
                <a:solidFill>
                  <a:srgbClr val="96909A"/>
                </a:solidFill>
                <a:latin typeface="Avenir Next"/>
                <a:ea typeface="Avenir Next"/>
                <a:cs typeface="Avenir Next"/>
              </a:rPr>
              <a:t>Product • Technology • Evidence • Roadmap</a:t>
            </a:r>
          </a:p>
        </p:txBody>
      </p:sp>
    </p:spTree>
    <p:extLst>
      <p:ext uri="{BB962C8B-B14F-4D97-AF65-F5344CB8AC3E}">
        <p14:creationId xmlns:p14="http://schemas.microsoft.com/office/powerpoint/2010/main" val="1045558978"/>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7175CF-63FD-4261-96E6-8CB3B593588E}"/>
              </a:ext>
            </a:extLst>
          </p:cNvPr>
          <p:cNvSpPr>
            <a:spLocks xmlns:a="http://schemas.openxmlformats.org/drawingml/2006/main" noGrp="1"/>
          </p:cNvSpPr>
          <p:nvPr/>
        </p:nvSpPr>
        <p:spPr>
          <a:xfrm xmlns:a="http://schemas.openxmlformats.org/drawingml/2006/main">
            <a:off x="609600" y="4572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02  /  THE PROBLEM</a:t>
            </a:r>
          </a:p>
        </p:txBody>
      </p:sp>
      <p:sp>
        <p:nvSpPr>
          <p:cNvPr id="2" name="">
            <a:extLst xmlns:a="http://schemas.openxmlformats.org/drawingml/2006/main">
              <a:ext uri="{FF2B5EF4-FFF2-40B4-BE49-F238E27FC236}">
                <a16:creationId xmlns:a16="http://schemas.microsoft.com/office/drawing/2014/main" id="{F4060ECA-87EE-4054-BEAF-756875059D2E}"/>
              </a:ext>
            </a:extLst>
          </p:cNvPr>
          <p:cNvSpPr>
            <a:spLocks xmlns:a="http://schemas.openxmlformats.org/drawingml/2006/main" noGrp="1"/>
          </p:cNvSpPr>
          <p:nvPr/>
        </p:nvSpPr>
        <p:spPr>
          <a:xfrm xmlns:a="http://schemas.openxmlformats.org/drawingml/2006/main">
            <a:off x="609600" y="952500"/>
            <a:ext cx="61912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i="0">
                <a:solidFill>
                  <a:srgbClr val="F7F4EF"/>
                </a:solidFill>
                <a:latin typeface="Avenir Next"/>
                <a:ea typeface="Avenir Next"/>
                <a:cs typeface="Avenir Next"/>
              </a:defRPr>
            </a:pPr>
            <a:r>
              <a:rPr sz="4800" b="1" i="0">
                <a:solidFill>
                  <a:srgbClr val="F7F4EF"/>
                </a:solidFill>
                <a:latin typeface="Avenir Next"/>
                <a:ea typeface="Avenir Next"/>
                <a:cs typeface="Avenir Next"/>
              </a:rPr>
              <a:t>Why build</a:t>
            </a:r>
          </a:p>
          <a:p xmlns:a="http://schemas.openxmlformats.org/drawingml/2006/main">
            <a:pPr algn="l">
              <a:buNone/>
              <a:defRPr sz="4800" b="1" i="0">
                <a:solidFill>
                  <a:srgbClr val="F7F4EF"/>
                </a:solidFill>
                <a:latin typeface="Avenir Next"/>
                <a:ea typeface="Avenir Next"/>
                <a:cs typeface="Avenir Next"/>
              </a:defRPr>
            </a:pPr>
            <a:r>
              <a:rPr sz="4800" b="1" i="0">
                <a:solidFill>
                  <a:srgbClr val="F7F4EF"/>
                </a:solidFill>
                <a:latin typeface="Avenir Next"/>
                <a:ea typeface="Avenir Next"/>
                <a:cs typeface="Avenir Next"/>
              </a:rPr>
              <a:t>ZenVoice?</a:t>
            </a:r>
          </a:p>
        </p:txBody>
      </p:sp>
      <p:sp>
        <p:nvSpPr>
          <p:cNvPr id="3" name="">
            <a:extLst xmlns:a="http://schemas.openxmlformats.org/drawingml/2006/main">
              <a:ext uri="{FF2B5EF4-FFF2-40B4-BE49-F238E27FC236}">
                <a16:creationId xmlns:a16="http://schemas.microsoft.com/office/drawing/2014/main" id="{8CB3C1A7-497B-44F8-B216-AD995E0EED73}"/>
              </a:ext>
            </a:extLst>
          </p:cNvPr>
          <p:cNvSpPr>
            <a:spLocks xmlns:a="http://schemas.openxmlformats.org/drawingml/2006/main" noGrp="1"/>
          </p:cNvSpPr>
          <p:nvPr/>
        </p:nvSpPr>
        <p:spPr>
          <a:xfrm xmlns:a="http://schemas.openxmlformats.org/drawingml/2006/main">
            <a:off x="7429500" y="1104900"/>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Ideas move faster than keyboards.</a:t>
            </a:r>
          </a:p>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The friction appears in three places.</a:t>
            </a:r>
          </a:p>
        </p:txBody>
      </p:sp>
      <p:sp>
        <p:nvSpPr>
          <p:cNvPr id="4" name="">
            <a:extLst xmlns:a="http://schemas.openxmlformats.org/drawingml/2006/main">
              <a:ext uri="{FF2B5EF4-FFF2-40B4-BE49-F238E27FC236}">
                <a16:creationId xmlns:a16="http://schemas.microsoft.com/office/drawing/2014/main" id="{3BAF4A62-0671-42EA-ADB6-2C08FD6C94DB}"/>
              </a:ext>
            </a:extLst>
          </p:cNvPr>
          <p:cNvSpPr>
            <a:spLocks xmlns:a="http://schemas.openxmlformats.org/drawingml/2006/main" noGrp="1"/>
          </p:cNvSpPr>
          <p:nvPr/>
        </p:nvSpPr>
        <p:spPr>
          <a:xfrm xmlns:a="http://schemas.openxmlformats.org/drawingml/2006/main">
            <a:off x="609600" y="262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26BF206D-BA47-4E43-82A2-A030A55530A9}"/>
              </a:ext>
            </a:extLst>
          </p:cNvPr>
          <p:cNvSpPr>
            <a:spLocks xmlns:a="http://schemas.openxmlformats.org/drawingml/2006/main" noGrp="1"/>
          </p:cNvSpPr>
          <p:nvPr/>
        </p:nvSpPr>
        <p:spPr>
          <a:xfrm xmlns:a="http://schemas.openxmlformats.org/drawingml/2006/main">
            <a:off x="609600" y="3143250"/>
            <a:ext cx="114300" cy="64770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6" name="anim-1-study">
            <a:extLst xmlns:a="http://schemas.openxmlformats.org/drawingml/2006/main">
              <a:ext uri="{FF2B5EF4-FFF2-40B4-BE49-F238E27FC236}">
                <a16:creationId xmlns:a16="http://schemas.microsoft.com/office/drawing/2014/main" id="{6BD022C6-F8E5-4593-9BC5-3411E7C633E1}"/>
              </a:ext>
            </a:extLst>
          </p:cNvPr>
          <p:cNvSpPr>
            <a:spLocks xmlns:a="http://schemas.openxmlformats.org/drawingml/2006/main" noGrp="1"/>
          </p:cNvSpPr>
          <p:nvPr/>
        </p:nvSpPr>
        <p:spPr>
          <a:xfrm xmlns:a="http://schemas.openxmlformats.org/drawingml/2006/main">
            <a:off x="952500" y="31242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D7A75E"/>
                </a:solidFill>
                <a:latin typeface="Avenir Next"/>
                <a:ea typeface="Avenir Next"/>
                <a:cs typeface="Avenir Next"/>
              </a:defRPr>
            </a:pPr>
            <a:r>
              <a:rPr sz="2025" b="1" i="0">
                <a:solidFill>
                  <a:srgbClr val="D7A75E"/>
                </a:solidFill>
                <a:latin typeface="Avenir Next"/>
                <a:ea typeface="Avenir Next"/>
                <a:cs typeface="Avenir Next"/>
              </a:rPr>
              <a:t>01  STUDY</a:t>
            </a:r>
          </a:p>
        </p:txBody>
      </p:sp>
      <p:sp>
        <p:nvSpPr>
          <p:cNvPr id="7" name="">
            <a:extLst xmlns:a="http://schemas.openxmlformats.org/drawingml/2006/main">
              <a:ext uri="{FF2B5EF4-FFF2-40B4-BE49-F238E27FC236}">
                <a16:creationId xmlns:a16="http://schemas.microsoft.com/office/drawing/2014/main" id="{267916CB-C8AC-4994-801F-D716B0C1FFDC}"/>
              </a:ext>
            </a:extLst>
          </p:cNvPr>
          <p:cNvSpPr>
            <a:spLocks xmlns:a="http://schemas.openxmlformats.org/drawingml/2006/main" noGrp="1"/>
          </p:cNvSpPr>
          <p:nvPr/>
        </p:nvSpPr>
        <p:spPr>
          <a:xfrm xmlns:a="http://schemas.openxmlformats.org/drawingml/2006/main">
            <a:off x="3429000" y="312420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Capture explanations and rough ideas without breaking attention.</a:t>
            </a:r>
          </a:p>
        </p:txBody>
      </p:sp>
      <p:sp>
        <p:nvSpPr>
          <p:cNvPr id="8" name="">
            <a:extLst xmlns:a="http://schemas.openxmlformats.org/drawingml/2006/main">
              <a:ext uri="{FF2B5EF4-FFF2-40B4-BE49-F238E27FC236}">
                <a16:creationId xmlns:a16="http://schemas.microsoft.com/office/drawing/2014/main" id="{6306372B-5755-45B4-8913-C7098194A667}"/>
              </a:ext>
            </a:extLst>
          </p:cNvPr>
          <p:cNvSpPr>
            <a:spLocks xmlns:a="http://schemas.openxmlformats.org/drawingml/2006/main" noGrp="1"/>
          </p:cNvSpPr>
          <p:nvPr/>
        </p:nvSpPr>
        <p:spPr>
          <a:xfrm xmlns:a="http://schemas.openxmlformats.org/drawingml/2006/main">
            <a:off x="609600" y="4095750"/>
            <a:ext cx="114300" cy="64770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9" name="anim-2-work">
            <a:extLst xmlns:a="http://schemas.openxmlformats.org/drawingml/2006/main">
              <a:ext uri="{FF2B5EF4-FFF2-40B4-BE49-F238E27FC236}">
                <a16:creationId xmlns:a16="http://schemas.microsoft.com/office/drawing/2014/main" id="{65A5CCBA-D294-4762-A37B-A8156BB541F9}"/>
              </a:ext>
            </a:extLst>
          </p:cNvPr>
          <p:cNvSpPr>
            <a:spLocks xmlns:a="http://schemas.openxmlformats.org/drawingml/2006/main" noGrp="1"/>
          </p:cNvSpPr>
          <p:nvPr/>
        </p:nvSpPr>
        <p:spPr>
          <a:xfrm xmlns:a="http://schemas.openxmlformats.org/drawingml/2006/main">
            <a:off x="952500" y="40767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7667F2"/>
                </a:solidFill>
                <a:latin typeface="Avenir Next"/>
                <a:ea typeface="Avenir Next"/>
                <a:cs typeface="Avenir Next"/>
              </a:defRPr>
            </a:pPr>
            <a:r>
              <a:rPr sz="2025" b="1" i="0">
                <a:solidFill>
                  <a:srgbClr val="7667F2"/>
                </a:solidFill>
                <a:latin typeface="Avenir Next"/>
                <a:ea typeface="Avenir Next"/>
                <a:cs typeface="Avenir Next"/>
              </a:rPr>
              <a:t>02  WORK</a:t>
            </a:r>
          </a:p>
        </p:txBody>
      </p:sp>
      <p:sp>
        <p:nvSpPr>
          <p:cNvPr id="10" name="">
            <a:extLst xmlns:a="http://schemas.openxmlformats.org/drawingml/2006/main">
              <a:ext uri="{FF2B5EF4-FFF2-40B4-BE49-F238E27FC236}">
                <a16:creationId xmlns:a16="http://schemas.microsoft.com/office/drawing/2014/main" id="{C56D44B9-6EEF-4341-AE13-74C2E61C2FDE}"/>
              </a:ext>
            </a:extLst>
          </p:cNvPr>
          <p:cNvSpPr>
            <a:spLocks xmlns:a="http://schemas.openxmlformats.org/drawingml/2006/main" noGrp="1"/>
          </p:cNvSpPr>
          <p:nvPr/>
        </p:nvSpPr>
        <p:spPr>
          <a:xfrm xmlns:a="http://schemas.openxmlformats.org/drawingml/2006/main">
            <a:off x="3429000" y="407670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Draft messages, briefs, tickets, and reports inside the current app.</a:t>
            </a:r>
          </a:p>
        </p:txBody>
      </p:sp>
      <p:sp>
        <p:nvSpPr>
          <p:cNvPr id="11" name="">
            <a:extLst xmlns:a="http://schemas.openxmlformats.org/drawingml/2006/main">
              <a:ext uri="{FF2B5EF4-FFF2-40B4-BE49-F238E27FC236}">
                <a16:creationId xmlns:a16="http://schemas.microsoft.com/office/drawing/2014/main" id="{2BF27E60-EB8C-4385-86DB-4DE79ED8A7F0}"/>
              </a:ext>
            </a:extLst>
          </p:cNvPr>
          <p:cNvSpPr>
            <a:spLocks xmlns:a="http://schemas.openxmlformats.org/drawingml/2006/main" noGrp="1"/>
          </p:cNvSpPr>
          <p:nvPr/>
        </p:nvSpPr>
        <p:spPr>
          <a:xfrm xmlns:a="http://schemas.openxmlformats.org/drawingml/2006/main">
            <a:off x="609600" y="5048250"/>
            <a:ext cx="114300" cy="64770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2" name="anim-3-private">
            <a:extLst xmlns:a="http://schemas.openxmlformats.org/drawingml/2006/main">
              <a:ext uri="{FF2B5EF4-FFF2-40B4-BE49-F238E27FC236}">
                <a16:creationId xmlns:a16="http://schemas.microsoft.com/office/drawing/2014/main" id="{6A5084A6-E2A9-4921-8025-B5B2851D4A6F}"/>
              </a:ext>
            </a:extLst>
          </p:cNvPr>
          <p:cNvSpPr>
            <a:spLocks xmlns:a="http://schemas.openxmlformats.org/drawingml/2006/main" noGrp="1"/>
          </p:cNvSpPr>
          <p:nvPr/>
        </p:nvSpPr>
        <p:spPr>
          <a:xfrm xmlns:a="http://schemas.openxmlformats.org/drawingml/2006/main">
            <a:off x="952500" y="50292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4B9CF5"/>
                </a:solidFill>
                <a:latin typeface="Avenir Next"/>
                <a:ea typeface="Avenir Next"/>
                <a:cs typeface="Avenir Next"/>
              </a:defRPr>
            </a:pPr>
            <a:r>
              <a:rPr sz="2025" b="1" i="0">
                <a:solidFill>
                  <a:srgbClr val="4B9CF5"/>
                </a:solidFill>
                <a:latin typeface="Avenir Next"/>
                <a:ea typeface="Avenir Next"/>
                <a:cs typeface="Avenir Next"/>
              </a:rPr>
              <a:t>03  PRIVATE</a:t>
            </a:r>
          </a:p>
        </p:txBody>
      </p:sp>
      <p:sp>
        <p:nvSpPr>
          <p:cNvPr id="13" name="">
            <a:extLst xmlns:a="http://schemas.openxmlformats.org/drawingml/2006/main">
              <a:ext uri="{FF2B5EF4-FFF2-40B4-BE49-F238E27FC236}">
                <a16:creationId xmlns:a16="http://schemas.microsoft.com/office/drawing/2014/main" id="{B1FB5520-F2CA-4243-A42A-3933D0AE2635}"/>
              </a:ext>
            </a:extLst>
          </p:cNvPr>
          <p:cNvSpPr>
            <a:spLocks xmlns:a="http://schemas.openxmlformats.org/drawingml/2006/main" noGrp="1"/>
          </p:cNvSpPr>
          <p:nvPr/>
        </p:nvSpPr>
        <p:spPr>
          <a:xfrm xmlns:a="http://schemas.openxmlformats.org/drawingml/2006/main">
            <a:off x="3429000" y="502920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Keep sensitive spoken context on the device by default.</a:t>
            </a:r>
          </a:p>
        </p:txBody>
      </p:sp>
      <p:sp>
        <p:nvSpPr>
          <p:cNvPr id="14" name="">
            <a:extLst xmlns:a="http://schemas.openxmlformats.org/drawingml/2006/main">
              <a:ext uri="{FF2B5EF4-FFF2-40B4-BE49-F238E27FC236}">
                <a16:creationId xmlns:a16="http://schemas.microsoft.com/office/drawing/2014/main" id="{68936F78-8614-4CFA-A7C0-260AAA2B7BD6}"/>
              </a:ext>
            </a:extLst>
          </p:cNvPr>
          <p:cNvSpPr>
            <a:spLocks xmlns:a="http://schemas.openxmlformats.org/drawingml/2006/main" noGrp="1"/>
          </p:cNvSpPr>
          <p:nvPr/>
        </p:nvSpPr>
        <p:spPr>
          <a:xfrm xmlns:a="http://schemas.openxmlformats.org/drawingml/2006/main">
            <a:off x="6096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0C47C"/>
                </a:solidFill>
                <a:latin typeface="Avenir Next"/>
                <a:ea typeface="Avenir Next"/>
                <a:cs typeface="Avenir Next"/>
              </a:defRPr>
            </a:pPr>
            <a:r>
              <a:rPr sz="1725" b="1" i="0">
                <a:solidFill>
                  <a:srgbClr val="F0C47C"/>
                </a:solidFill>
                <a:latin typeface="Avenir Next"/>
                <a:ea typeface="Avenir Next"/>
                <a:cs typeface="Avenir Next"/>
              </a:rPr>
              <a:t>The opportunity: fast dictation without leaving the app—or the Mac.</a:t>
            </a:r>
          </a:p>
        </p:txBody>
      </p:sp>
      <p:sp>
        <p:nvSpPr>
          <p:cNvPr id="15" name="">
            <a:extLst xmlns:a="http://schemas.openxmlformats.org/drawingml/2006/main">
              <a:ext uri="{FF2B5EF4-FFF2-40B4-BE49-F238E27FC236}">
                <a16:creationId xmlns:a16="http://schemas.microsoft.com/office/drawing/2014/main" id="{280731DF-EAE2-414A-964F-EAFB6C35507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D87ED34F-41B2-4773-AC20-4314980FC53B}"/>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0900761D-EA76-4CCD-BEE8-B48362C674D4}"/>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02</a:t>
            </a:r>
          </a:p>
        </p:txBody>
      </p:sp>
    </p:spTree>
    <p:extLst>
      <p:ext uri="{BB962C8B-B14F-4D97-AF65-F5344CB8AC3E}">
        <p14:creationId xmlns:p14="http://schemas.microsoft.com/office/powerpoint/2010/main" val="738629150"/>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2"/>
                                        </p:tgtEl>
                                      </p:cBhvr>
                                    </p:animEffect>
                                  </p:childTnLst>
                                </p:cTn>
                              </p:par>
                            </p:childTnLst>
                          </p:cTn>
                        </p:par>
                      </p:childTnLst>
                    </p:cTn>
                  </p:par>
                </p:childTnLst>
              </p:cTn>
            </p:seq>
          </p:childTnLst>
        </p:cTn>
      </p:par>
    </p:tnLst>
  </p:timing>
</p:sld>
</file>

<file path=ppt/slides/slide3.xml><?xml version="1.0" encoding="utf-8"?>
<p:sld xmlns:p="http://schemas.openxmlformats.org/presentationml/2006/main">
  <p:cSld>
    <p:bg>
      <p:bgPr>
        <a:gradFill xmlns:a="http://schemas.openxmlformats.org/drawingml/2006/main">
          <a:gsLst>
            <a:gs pos="0">
              <a:srgbClr val="08080A"/>
            </a:gs>
            <a:gs pos="58000">
              <a:srgbClr val="15121B"/>
            </a:gs>
            <a:gs pos="100000">
              <a:srgbClr val="0B0A0E"/>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4A17FF-0097-4EBB-9008-81C7D5396408}"/>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03  /  THE SOLUTION</a:t>
            </a:r>
          </a:p>
        </p:txBody>
      </p:sp>
      <p:sp>
        <p:nvSpPr>
          <p:cNvPr id="2" name="">
            <a:extLst xmlns:a="http://schemas.openxmlformats.org/drawingml/2006/main">
              <a:ext uri="{FF2B5EF4-FFF2-40B4-BE49-F238E27FC236}">
                <a16:creationId xmlns:a16="http://schemas.microsoft.com/office/drawing/2014/main" id="{54BC0382-1AA7-4912-8142-0D316E44022E}"/>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One shortcut becomes finished text.</a:t>
            </a:r>
          </a:p>
        </p:txBody>
      </p:sp>
      <p:sp>
        <p:nvSpPr>
          <p:cNvPr id="3" name="">
            <a:extLst xmlns:a="http://schemas.openxmlformats.org/drawingml/2006/main">
              <a:ext uri="{FF2B5EF4-FFF2-40B4-BE49-F238E27FC236}">
                <a16:creationId xmlns:a16="http://schemas.microsoft.com/office/drawing/2014/main" id="{A4920CCB-5DF7-458C-B5F3-84AF3043C5CD}"/>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single local signal path connects voice, on-device intelligence, and the focused app.</a:t>
            </a:r>
          </a:p>
        </p:txBody>
      </p:sp>
      <p:sp>
        <p:nvSpPr>
          <p:cNvPr id="4" name="">
            <a:extLst xmlns:a="http://schemas.openxmlformats.org/drawingml/2006/main">
              <a:ext uri="{FF2B5EF4-FFF2-40B4-BE49-F238E27FC236}">
                <a16:creationId xmlns:a16="http://schemas.microsoft.com/office/drawing/2014/main" id="{655F55E5-AE07-448B-BB06-12F1D26C37C0}"/>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speak">
            <a:extLst xmlns:a="http://schemas.openxmlformats.org/drawingml/2006/main">
              <a:ext uri="{FF2B5EF4-FFF2-40B4-BE49-F238E27FC236}">
                <a16:creationId xmlns:a16="http://schemas.microsoft.com/office/drawing/2014/main" id="{E22F29F9-F3D9-498B-AF8E-689CB64B260B}"/>
              </a:ext>
            </a:extLst>
          </p:cNvPr>
          <p:cNvSpPr>
            <a:spLocks xmlns:a="http://schemas.openxmlformats.org/drawingml/2006/main" noGrp="1"/>
          </p:cNvSpPr>
          <p:nvPr/>
        </p:nvSpPr>
        <p:spPr>
          <a:xfrm xmlns:a="http://schemas.openxmlformats.org/drawingml/2006/main">
            <a:off x="723900" y="34290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D7A75E"/>
                </a:solidFill>
                <a:latin typeface="Avenir Next"/>
                <a:ea typeface="Avenir Next"/>
                <a:cs typeface="Avenir Next"/>
              </a:defRPr>
            </a:pPr>
            <a:r>
              <a:rPr sz="3300" b="1" i="0">
                <a:solidFill>
                  <a:srgbClr val="D7A75E"/>
                </a:solidFill>
                <a:latin typeface="Avenir Next"/>
                <a:ea typeface="Avenir Next"/>
                <a:cs typeface="Avenir Next"/>
              </a:rPr>
              <a:t>VOICE</a:t>
            </a:r>
          </a:p>
        </p:txBody>
      </p:sp>
      <p:sp>
        <p:nvSpPr>
          <p:cNvPr id="6" name="">
            <a:extLst xmlns:a="http://schemas.openxmlformats.org/drawingml/2006/main">
              <a:ext uri="{FF2B5EF4-FFF2-40B4-BE49-F238E27FC236}">
                <a16:creationId xmlns:a16="http://schemas.microsoft.com/office/drawing/2014/main" id="{4B85D5F7-FFE8-4486-AF47-AAA06926A052}"/>
              </a:ext>
            </a:extLst>
          </p:cNvPr>
          <p:cNvSpPr>
            <a:spLocks xmlns:a="http://schemas.openxmlformats.org/drawingml/2006/main" noGrp="1"/>
          </p:cNvSpPr>
          <p:nvPr/>
        </p:nvSpPr>
        <p:spPr>
          <a:xfrm xmlns:a="http://schemas.openxmlformats.org/drawingml/2006/main">
            <a:off x="3028950" y="3886200"/>
            <a:ext cx="180975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7" name="">
            <a:extLst xmlns:a="http://schemas.openxmlformats.org/drawingml/2006/main">
              <a:ext uri="{FF2B5EF4-FFF2-40B4-BE49-F238E27FC236}">
                <a16:creationId xmlns:a16="http://schemas.microsoft.com/office/drawing/2014/main" id="{E5D24F5F-1B2E-41C3-B864-509477ED7958}"/>
              </a:ext>
            </a:extLst>
          </p:cNvPr>
          <p:cNvSpPr>
            <a:spLocks xmlns:a="http://schemas.openxmlformats.org/drawingml/2006/main" noGrp="1"/>
          </p:cNvSpPr>
          <p:nvPr/>
        </p:nvSpPr>
        <p:spPr>
          <a:xfrm xmlns:a="http://schemas.openxmlformats.org/drawingml/2006/main">
            <a:off x="723900" y="42862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Global shortcut</a:t>
            </a:r>
          </a:p>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microphone</a:t>
            </a:r>
          </a:p>
        </p:txBody>
      </p:sp>
      <p:sp>
        <p:nvSpPr>
          <p:cNvPr id="8" name="anim-2-decode">
            <a:extLst xmlns:a="http://schemas.openxmlformats.org/drawingml/2006/main">
              <a:ext uri="{FF2B5EF4-FFF2-40B4-BE49-F238E27FC236}">
                <a16:creationId xmlns:a16="http://schemas.microsoft.com/office/drawing/2014/main" id="{29CE3FF6-E9FA-4509-B9B1-C1A061413CB5}"/>
              </a:ext>
            </a:extLst>
          </p:cNvPr>
          <p:cNvSpPr>
            <a:spLocks xmlns:a="http://schemas.openxmlformats.org/drawingml/2006/main" noGrp="1"/>
          </p:cNvSpPr>
          <p:nvPr/>
        </p:nvSpPr>
        <p:spPr>
          <a:xfrm xmlns:a="http://schemas.openxmlformats.org/drawingml/2006/main">
            <a:off x="4905375" y="29527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300" b="1" i="0">
                <a:solidFill>
                  <a:srgbClr val="7667F2"/>
                </a:solidFill>
                <a:latin typeface="Avenir Next"/>
                <a:ea typeface="Avenir Next"/>
                <a:cs typeface="Avenir Next"/>
              </a:defRPr>
            </a:pPr>
            <a:r>
              <a:rPr sz="3300" b="1" i="0">
                <a:solidFill>
                  <a:srgbClr val="7667F2"/>
                </a:solidFill>
                <a:latin typeface="Avenir Next"/>
                <a:ea typeface="Avenir Next"/>
                <a:cs typeface="Avenir Next"/>
              </a:rPr>
              <a:t>LOCAL AI</a:t>
            </a:r>
          </a:p>
        </p:txBody>
      </p:sp>
      <p:sp>
        <p:nvSpPr>
          <p:cNvPr id="9" name="">
            <a:extLst xmlns:a="http://schemas.openxmlformats.org/drawingml/2006/main">
              <a:ext uri="{FF2B5EF4-FFF2-40B4-BE49-F238E27FC236}">
                <a16:creationId xmlns:a16="http://schemas.microsoft.com/office/drawing/2014/main" id="{36BA069D-0CCF-4C2E-9628-B01C148E8D6E}"/>
              </a:ext>
            </a:extLst>
          </p:cNvPr>
          <p:cNvSpPr>
            <a:spLocks xmlns:a="http://schemas.openxmlformats.org/drawingml/2006/main" noGrp="1"/>
          </p:cNvSpPr>
          <p:nvPr/>
        </p:nvSpPr>
        <p:spPr>
          <a:xfrm xmlns:a="http://schemas.openxmlformats.org/drawingml/2006/main">
            <a:off x="7353300" y="3886200"/>
            <a:ext cx="169545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10" name="">
            <a:extLst xmlns:a="http://schemas.openxmlformats.org/drawingml/2006/main">
              <a:ext uri="{FF2B5EF4-FFF2-40B4-BE49-F238E27FC236}">
                <a16:creationId xmlns:a16="http://schemas.microsoft.com/office/drawing/2014/main" id="{F1057BF9-5485-41CF-A178-DDDBAC73FE92}"/>
              </a:ext>
            </a:extLst>
          </p:cNvPr>
          <p:cNvSpPr>
            <a:spLocks xmlns:a="http://schemas.openxmlformats.org/drawingml/2006/main" noGrp="1"/>
          </p:cNvSpPr>
          <p:nvPr/>
        </p:nvSpPr>
        <p:spPr>
          <a:xfrm xmlns:a="http://schemas.openxmlformats.org/drawingml/2006/main">
            <a:off x="4905375" y="409575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Selected engine</a:t>
            </a:r>
          </a:p>
          <a:p xmlns:a="http://schemas.openxmlformats.org/drawingml/2006/main">
            <a:pPr algn="ct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cleanup + corrections</a:t>
            </a:r>
          </a:p>
        </p:txBody>
      </p:sp>
      <p:sp>
        <p:nvSpPr>
          <p:cNvPr id="11" name="anim-3-insert">
            <a:extLst xmlns:a="http://schemas.openxmlformats.org/drawingml/2006/main">
              <a:ext uri="{FF2B5EF4-FFF2-40B4-BE49-F238E27FC236}">
                <a16:creationId xmlns:a16="http://schemas.microsoft.com/office/drawing/2014/main" id="{1ACD0725-1A70-44A4-8F4D-68D795194B99}"/>
              </a:ext>
            </a:extLst>
          </p:cNvPr>
          <p:cNvSpPr>
            <a:spLocks xmlns:a="http://schemas.openxmlformats.org/drawingml/2006/main" noGrp="1"/>
          </p:cNvSpPr>
          <p:nvPr/>
        </p:nvSpPr>
        <p:spPr>
          <a:xfrm xmlns:a="http://schemas.openxmlformats.org/drawingml/2006/main">
            <a:off x="9105900" y="34290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3300" b="1" i="0">
                <a:solidFill>
                  <a:srgbClr val="4B9CF5"/>
                </a:solidFill>
                <a:latin typeface="Avenir Next"/>
                <a:ea typeface="Avenir Next"/>
                <a:cs typeface="Avenir Next"/>
              </a:defRPr>
            </a:pPr>
            <a:r>
              <a:rPr sz="3300" b="1" i="0">
                <a:solidFill>
                  <a:srgbClr val="4B9CF5"/>
                </a:solidFill>
                <a:latin typeface="Avenir Next"/>
                <a:ea typeface="Avenir Next"/>
                <a:cs typeface="Avenir Next"/>
              </a:rPr>
              <a:t>TEXT</a:t>
            </a:r>
          </a:p>
        </p:txBody>
      </p:sp>
      <p:sp>
        <p:nvSpPr>
          <p:cNvPr id="12" name="">
            <a:extLst xmlns:a="http://schemas.openxmlformats.org/drawingml/2006/main">
              <a:ext uri="{FF2B5EF4-FFF2-40B4-BE49-F238E27FC236}">
                <a16:creationId xmlns:a16="http://schemas.microsoft.com/office/drawing/2014/main" id="{E9DE6E55-E8B8-4319-ADDD-00B57CD55F7E}"/>
              </a:ext>
            </a:extLst>
          </p:cNvPr>
          <p:cNvSpPr>
            <a:spLocks xmlns:a="http://schemas.openxmlformats.org/drawingml/2006/main" noGrp="1"/>
          </p:cNvSpPr>
          <p:nvPr/>
        </p:nvSpPr>
        <p:spPr>
          <a:xfrm xmlns:a="http://schemas.openxmlformats.org/drawingml/2006/main">
            <a:off x="4905375" y="3771900"/>
            <a:ext cx="2381250" cy="0"/>
          </a:xfrm>
          <a:prstGeom xmlns:a="http://schemas.openxmlformats.org/drawingml/2006/main" prst="line">
            <a:avLst/>
          </a:prstGeom>
          <a:noFill xmlns:a="http://schemas.openxmlformats.org/drawingml/2006/main"/>
          <a:ln xmlns:a="http://schemas.openxmlformats.org/drawingml/2006/main" w="28575">
            <a:solidFill>
              <a:srgbClr val="7667F2"/>
            </a:solidFill>
            <a:prstDash val="solid"/>
          </a:ln>
        </p:spPr>
      </p:sp>
      <p:sp>
        <p:nvSpPr>
          <p:cNvPr id="13" name="">
            <a:extLst xmlns:a="http://schemas.openxmlformats.org/drawingml/2006/main">
              <a:ext uri="{FF2B5EF4-FFF2-40B4-BE49-F238E27FC236}">
                <a16:creationId xmlns:a16="http://schemas.microsoft.com/office/drawing/2014/main" id="{B6F4C2C4-8313-4F6B-8A79-A1877246659F}"/>
              </a:ext>
            </a:extLst>
          </p:cNvPr>
          <p:cNvSpPr>
            <a:spLocks xmlns:a="http://schemas.openxmlformats.org/drawingml/2006/main" noGrp="1"/>
          </p:cNvSpPr>
          <p:nvPr/>
        </p:nvSpPr>
        <p:spPr>
          <a:xfrm xmlns:a="http://schemas.openxmlformats.org/drawingml/2006/main">
            <a:off x="9105900" y="42862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Clipboard fallback</a:t>
            </a:r>
          </a:p>
          <a:p xmlns:a="http://schemas.openxmlformats.org/drawingml/2006/main">
            <a:pPr algn="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Accessibility insert</a:t>
            </a:r>
          </a:p>
        </p:txBody>
      </p:sp>
      <p:sp>
        <p:nvSpPr>
          <p:cNvPr id="14" name="">
            <a:extLst xmlns:a="http://schemas.openxmlformats.org/drawingml/2006/main">
              <a:ext uri="{FF2B5EF4-FFF2-40B4-BE49-F238E27FC236}">
                <a16:creationId xmlns:a16="http://schemas.microsoft.com/office/drawing/2014/main" id="{81BE5249-2B7E-47BA-BB27-BE9F33A78008}"/>
              </a:ext>
            </a:extLst>
          </p:cNvPr>
          <p:cNvSpPr>
            <a:spLocks xmlns:a="http://schemas.openxmlformats.org/drawingml/2006/main" noGrp="1"/>
          </p:cNvSpPr>
          <p:nvPr/>
        </p:nvSpPr>
        <p:spPr>
          <a:xfrm xmlns:a="http://schemas.openxmlformats.org/drawingml/2006/main">
            <a:off x="914400" y="56197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The signal stays local unless the user explicitly enables text-only cloud formatting.</a:t>
            </a:r>
          </a:p>
        </p:txBody>
      </p:sp>
      <p:sp>
        <p:nvSpPr>
          <p:cNvPr id="15" name="">
            <a:extLst xmlns:a="http://schemas.openxmlformats.org/drawingml/2006/main">
              <a:ext uri="{FF2B5EF4-FFF2-40B4-BE49-F238E27FC236}">
                <a16:creationId xmlns:a16="http://schemas.microsoft.com/office/drawing/2014/main" id="{49DE74B4-F869-4604-B061-281F9AFB0AE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C10FA362-355D-4FB2-9A69-717A3C69E63B}"/>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B8F44F05-F1D2-4B50-BA15-A9F199C51818}"/>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03</a:t>
            </a:r>
          </a:p>
        </p:txBody>
      </p:sp>
    </p:spTree>
    <p:extLst>
      <p:ext uri="{BB962C8B-B14F-4D97-AF65-F5344CB8AC3E}">
        <p14:creationId xmlns:p14="http://schemas.microsoft.com/office/powerpoint/2010/main" val="116553769"/>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bfc0d62b78f411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36ADB9-8C5C-41B2-B8ED-5AF1D8D1032B}"/>
              </a:ext>
            </a:extLst>
          </p:cNvPr>
          <p:cNvSpPr>
            <a:spLocks xmlns:a="http://schemas.openxmlformats.org/drawingml/2006/main" noGrp="1"/>
          </p:cNvSpPr>
          <p:nvPr/>
        </p:nvSpPr>
        <p:spPr>
          <a:xfrm xmlns:a="http://schemas.openxmlformats.org/drawingml/2006/main">
            <a:off x="5924550" y="0"/>
            <a:ext cx="6267450" cy="685800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3CD311-EA1A-46C4-ADF4-356F466B6359}"/>
              </a:ext>
            </a:extLst>
          </p:cNvPr>
          <p:cNvSpPr>
            <a:spLocks xmlns:a="http://schemas.openxmlformats.org/drawingml/2006/main" noGrp="1"/>
          </p:cNvSpPr>
          <p:nvPr/>
        </p:nvSpPr>
        <p:spPr>
          <a:xfrm xmlns:a="http://schemas.openxmlformats.org/drawingml/2006/main">
            <a:off x="609600" y="4381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04  /  HOW TO USE IT</a:t>
            </a:r>
          </a:p>
        </p:txBody>
      </p:sp>
      <p:sp>
        <p:nvSpPr>
          <p:cNvPr id="4" name="">
            <a:extLst xmlns:a="http://schemas.openxmlformats.org/drawingml/2006/main">
              <a:ext uri="{FF2B5EF4-FFF2-40B4-BE49-F238E27FC236}">
                <a16:creationId xmlns:a16="http://schemas.microsoft.com/office/drawing/2014/main" id="{5A830A86-0D75-4E4E-B2B8-970B587F7D26}"/>
              </a:ext>
            </a:extLst>
          </p:cNvPr>
          <p:cNvSpPr>
            <a:spLocks xmlns:a="http://schemas.openxmlformats.org/drawingml/2006/main" noGrp="1"/>
          </p:cNvSpPr>
          <p:nvPr/>
        </p:nvSpPr>
        <p:spPr>
          <a:xfrm xmlns:a="http://schemas.openxmlformats.org/drawingml/2006/main">
            <a:off x="609600" y="876300"/>
            <a:ext cx="5810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125" b="1" i="0">
                <a:solidFill>
                  <a:srgbClr val="F7F4EF"/>
                </a:solidFill>
                <a:latin typeface="Avenir Next"/>
                <a:ea typeface="Avenir Next"/>
                <a:cs typeface="Avenir Next"/>
              </a:defRPr>
            </a:pPr>
            <a:r>
              <a:rPr sz="4125" b="1" i="0">
                <a:solidFill>
                  <a:srgbClr val="F7F4EF"/>
                </a:solidFill>
                <a:latin typeface="Avenir Next"/>
                <a:ea typeface="Avenir Next"/>
                <a:cs typeface="Avenir Next"/>
              </a:rPr>
              <a:t>One shortcut.</a:t>
            </a:r>
          </a:p>
          <a:p xmlns:a="http://schemas.openxmlformats.org/drawingml/2006/main">
            <a:pPr algn="l">
              <a:buNone/>
              <a:defRPr sz="4125" b="1" i="0">
                <a:solidFill>
                  <a:srgbClr val="F7F4EF"/>
                </a:solidFill>
                <a:latin typeface="Avenir Next"/>
                <a:ea typeface="Avenir Next"/>
                <a:cs typeface="Avenir Next"/>
              </a:defRPr>
            </a:pPr>
            <a:r>
              <a:rPr sz="4125" b="1" i="0">
                <a:solidFill>
                  <a:srgbClr val="F7F4EF"/>
                </a:solidFill>
                <a:latin typeface="Avenir Next"/>
                <a:ea typeface="Avenir Next"/>
                <a:cs typeface="Avenir Next"/>
              </a:rPr>
              <a:t>Five moments.</a:t>
            </a:r>
          </a:p>
        </p:txBody>
      </p:sp>
      <p:sp>
        <p:nvSpPr>
          <p:cNvPr id="5" name="">
            <a:extLst xmlns:a="http://schemas.openxmlformats.org/drawingml/2006/main">
              <a:ext uri="{FF2B5EF4-FFF2-40B4-BE49-F238E27FC236}">
                <a16:creationId xmlns:a16="http://schemas.microsoft.com/office/drawing/2014/main" id="{0449F22D-6009-437E-A055-F8F1D9A295C8}"/>
              </a:ext>
            </a:extLst>
          </p:cNvPr>
          <p:cNvSpPr>
            <a:spLocks xmlns:a="http://schemas.openxmlformats.org/drawingml/2006/main" noGrp="1"/>
          </p:cNvSpPr>
          <p:nvPr/>
        </p:nvSpPr>
        <p:spPr>
          <a:xfrm xmlns:a="http://schemas.openxmlformats.org/drawingml/2006/main">
            <a:off x="6096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user never leaves the text field.</a:t>
            </a:r>
          </a:p>
        </p:txBody>
      </p:sp>
      <p:sp>
        <p:nvSpPr>
          <p:cNvPr id="6" name="">
            <a:extLst xmlns:a="http://schemas.openxmlformats.org/drawingml/2006/main">
              <a:ext uri="{FF2B5EF4-FFF2-40B4-BE49-F238E27FC236}">
                <a16:creationId xmlns:a16="http://schemas.microsoft.com/office/drawing/2014/main" id="{E17793CC-B2DC-4D68-9CA6-0A58CA1673C4}"/>
              </a:ext>
            </a:extLst>
          </p:cNvPr>
          <p:cNvSpPr>
            <a:spLocks xmlns:a="http://schemas.openxmlformats.org/drawingml/2006/main" noGrp="1"/>
          </p:cNvSpPr>
          <p:nvPr/>
        </p:nvSpPr>
        <p:spPr>
          <a:xfrm xmlns:a="http://schemas.openxmlformats.org/drawingml/2006/main">
            <a:off x="609600" y="2857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01</a:t>
            </a:r>
          </a:p>
        </p:txBody>
      </p:sp>
      <p:sp>
        <p:nvSpPr>
          <p:cNvPr id="7" name="anim-1-focus">
            <a:extLst xmlns:a="http://schemas.openxmlformats.org/drawingml/2006/main">
              <a:ext uri="{FF2B5EF4-FFF2-40B4-BE49-F238E27FC236}">
                <a16:creationId xmlns:a16="http://schemas.microsoft.com/office/drawing/2014/main" id="{09288358-C848-409A-AADC-C0F437875695}"/>
              </a:ext>
            </a:extLst>
          </p:cNvPr>
          <p:cNvSpPr>
            <a:spLocks xmlns:a="http://schemas.openxmlformats.org/drawingml/2006/main" noGrp="1"/>
          </p:cNvSpPr>
          <p:nvPr/>
        </p:nvSpPr>
        <p:spPr>
          <a:xfrm xmlns:a="http://schemas.openxmlformats.org/drawingml/2006/main">
            <a:off x="1200150" y="28384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Focus</a:t>
            </a:r>
          </a:p>
        </p:txBody>
      </p:sp>
      <p:sp>
        <p:nvSpPr>
          <p:cNvPr id="8" name="">
            <a:extLst xmlns:a="http://schemas.openxmlformats.org/drawingml/2006/main">
              <a:ext uri="{FF2B5EF4-FFF2-40B4-BE49-F238E27FC236}">
                <a16:creationId xmlns:a16="http://schemas.microsoft.com/office/drawing/2014/main" id="{6BE94D03-8350-44D2-820E-8137137854EF}"/>
              </a:ext>
            </a:extLst>
          </p:cNvPr>
          <p:cNvSpPr>
            <a:spLocks xmlns:a="http://schemas.openxmlformats.org/drawingml/2006/main" noGrp="1"/>
          </p:cNvSpPr>
          <p:nvPr/>
        </p:nvSpPr>
        <p:spPr>
          <a:xfrm xmlns:a="http://schemas.openxmlformats.org/drawingml/2006/main">
            <a:off x="2590800" y="2857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Put the cursor in any editable field.</a:t>
            </a:r>
          </a:p>
        </p:txBody>
      </p:sp>
      <p:sp>
        <p:nvSpPr>
          <p:cNvPr id="9" name="">
            <a:extLst xmlns:a="http://schemas.openxmlformats.org/drawingml/2006/main">
              <a:ext uri="{FF2B5EF4-FFF2-40B4-BE49-F238E27FC236}">
                <a16:creationId xmlns:a16="http://schemas.microsoft.com/office/drawing/2014/main" id="{795AD07F-6715-442B-94F6-E54D4078A7A4}"/>
              </a:ext>
            </a:extLst>
          </p:cNvPr>
          <p:cNvSpPr>
            <a:spLocks xmlns:a="http://schemas.openxmlformats.org/drawingml/2006/main" noGrp="1"/>
          </p:cNvSpPr>
          <p:nvPr/>
        </p:nvSpPr>
        <p:spPr>
          <a:xfrm xmlns:a="http://schemas.openxmlformats.org/drawingml/2006/main">
            <a:off x="609600" y="3295650"/>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0" name="">
            <a:extLst xmlns:a="http://schemas.openxmlformats.org/drawingml/2006/main">
              <a:ext uri="{FF2B5EF4-FFF2-40B4-BE49-F238E27FC236}">
                <a16:creationId xmlns:a16="http://schemas.microsoft.com/office/drawing/2014/main" id="{98842702-8BFB-4F9C-92AA-AB9A2D643C99}"/>
              </a:ext>
            </a:extLst>
          </p:cNvPr>
          <p:cNvSpPr>
            <a:spLocks xmlns:a="http://schemas.openxmlformats.org/drawingml/2006/main" noGrp="1"/>
          </p:cNvSpPr>
          <p:nvPr/>
        </p:nvSpPr>
        <p:spPr>
          <a:xfrm xmlns:a="http://schemas.openxmlformats.org/drawingml/2006/main">
            <a:off x="609600" y="34956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02</a:t>
            </a:r>
          </a:p>
        </p:txBody>
      </p:sp>
      <p:sp>
        <p:nvSpPr>
          <p:cNvPr id="11" name="anim-2-start">
            <a:extLst xmlns:a="http://schemas.openxmlformats.org/drawingml/2006/main">
              <a:ext uri="{FF2B5EF4-FFF2-40B4-BE49-F238E27FC236}">
                <a16:creationId xmlns:a16="http://schemas.microsoft.com/office/drawing/2014/main" id="{010CBA95-1545-47A9-B7DB-BDDF776199B4}"/>
              </a:ext>
            </a:extLst>
          </p:cNvPr>
          <p:cNvSpPr>
            <a:spLocks xmlns:a="http://schemas.openxmlformats.org/drawingml/2006/main" noGrp="1"/>
          </p:cNvSpPr>
          <p:nvPr/>
        </p:nvSpPr>
        <p:spPr>
          <a:xfrm xmlns:a="http://schemas.openxmlformats.org/drawingml/2006/main">
            <a:off x="1200150" y="347662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Start</a:t>
            </a:r>
          </a:p>
        </p:txBody>
      </p:sp>
      <p:sp>
        <p:nvSpPr>
          <p:cNvPr id="12" name="">
            <a:extLst xmlns:a="http://schemas.openxmlformats.org/drawingml/2006/main">
              <a:ext uri="{FF2B5EF4-FFF2-40B4-BE49-F238E27FC236}">
                <a16:creationId xmlns:a16="http://schemas.microsoft.com/office/drawing/2014/main" id="{A0E70325-58DC-478D-A873-EAEEEA6F53F6}"/>
              </a:ext>
            </a:extLst>
          </p:cNvPr>
          <p:cNvSpPr>
            <a:spLocks xmlns:a="http://schemas.openxmlformats.org/drawingml/2006/main" noGrp="1"/>
          </p:cNvSpPr>
          <p:nvPr/>
        </p:nvSpPr>
        <p:spPr>
          <a:xfrm xmlns:a="http://schemas.openxmlformats.org/drawingml/2006/main">
            <a:off x="2590800" y="34956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Press Ctrl + Option + Space.</a:t>
            </a:r>
          </a:p>
        </p:txBody>
      </p:sp>
      <p:sp>
        <p:nvSpPr>
          <p:cNvPr id="13" name="">
            <a:extLst xmlns:a="http://schemas.openxmlformats.org/drawingml/2006/main">
              <a:ext uri="{FF2B5EF4-FFF2-40B4-BE49-F238E27FC236}">
                <a16:creationId xmlns:a16="http://schemas.microsoft.com/office/drawing/2014/main" id="{F7AFD60E-6D88-469B-9040-420ACE9E2E1C}"/>
              </a:ext>
            </a:extLst>
          </p:cNvPr>
          <p:cNvSpPr>
            <a:spLocks xmlns:a="http://schemas.openxmlformats.org/drawingml/2006/main" noGrp="1"/>
          </p:cNvSpPr>
          <p:nvPr/>
        </p:nvSpPr>
        <p:spPr>
          <a:xfrm xmlns:a="http://schemas.openxmlformats.org/drawingml/2006/main">
            <a:off x="609600" y="3933825"/>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4" name="">
            <a:extLst xmlns:a="http://schemas.openxmlformats.org/drawingml/2006/main">
              <a:ext uri="{FF2B5EF4-FFF2-40B4-BE49-F238E27FC236}">
                <a16:creationId xmlns:a16="http://schemas.microsoft.com/office/drawing/2014/main" id="{E8BE9800-6C9F-41E3-95BD-FF496499657F}"/>
              </a:ext>
            </a:extLst>
          </p:cNvPr>
          <p:cNvSpPr>
            <a:spLocks xmlns:a="http://schemas.openxmlformats.org/drawingml/2006/main" noGrp="1"/>
          </p:cNvSpPr>
          <p:nvPr/>
        </p:nvSpPr>
        <p:spPr>
          <a:xfrm xmlns:a="http://schemas.openxmlformats.org/drawingml/2006/main">
            <a:off x="609600" y="4133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03</a:t>
            </a:r>
          </a:p>
        </p:txBody>
      </p:sp>
      <p:sp>
        <p:nvSpPr>
          <p:cNvPr id="15" name="anim-3-speak">
            <a:extLst xmlns:a="http://schemas.openxmlformats.org/drawingml/2006/main">
              <a:ext uri="{FF2B5EF4-FFF2-40B4-BE49-F238E27FC236}">
                <a16:creationId xmlns:a16="http://schemas.microsoft.com/office/drawing/2014/main" id="{3D48504A-0446-4798-A44C-BF14229B684E}"/>
              </a:ext>
            </a:extLst>
          </p:cNvPr>
          <p:cNvSpPr>
            <a:spLocks xmlns:a="http://schemas.openxmlformats.org/drawingml/2006/main" noGrp="1"/>
          </p:cNvSpPr>
          <p:nvPr/>
        </p:nvSpPr>
        <p:spPr>
          <a:xfrm xmlns:a="http://schemas.openxmlformats.org/drawingml/2006/main">
            <a:off x="1200150" y="41148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Speak</a:t>
            </a:r>
          </a:p>
        </p:txBody>
      </p:sp>
      <p:sp>
        <p:nvSpPr>
          <p:cNvPr id="16" name="">
            <a:extLst xmlns:a="http://schemas.openxmlformats.org/drawingml/2006/main">
              <a:ext uri="{FF2B5EF4-FFF2-40B4-BE49-F238E27FC236}">
                <a16:creationId xmlns:a16="http://schemas.microsoft.com/office/drawing/2014/main" id="{41A9C17E-FB4B-41A1-A2CF-299B8000C277}"/>
              </a:ext>
            </a:extLst>
          </p:cNvPr>
          <p:cNvSpPr>
            <a:spLocks xmlns:a="http://schemas.openxmlformats.org/drawingml/2006/main" noGrp="1"/>
          </p:cNvSpPr>
          <p:nvPr/>
        </p:nvSpPr>
        <p:spPr>
          <a:xfrm xmlns:a="http://schemas.openxmlformats.org/drawingml/2006/main">
            <a:off x="2590800" y="4133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ZenBar shows recording and preview.</a:t>
            </a:r>
          </a:p>
        </p:txBody>
      </p:sp>
      <p:sp>
        <p:nvSpPr>
          <p:cNvPr id="17" name="">
            <a:extLst xmlns:a="http://schemas.openxmlformats.org/drawingml/2006/main">
              <a:ext uri="{FF2B5EF4-FFF2-40B4-BE49-F238E27FC236}">
                <a16:creationId xmlns:a16="http://schemas.microsoft.com/office/drawing/2014/main" id="{261AFA89-7808-483B-A387-72DD0BB9CD9D}"/>
              </a:ext>
            </a:extLst>
          </p:cNvPr>
          <p:cNvSpPr>
            <a:spLocks xmlns:a="http://schemas.openxmlformats.org/drawingml/2006/main" noGrp="1"/>
          </p:cNvSpPr>
          <p:nvPr/>
        </p:nvSpPr>
        <p:spPr>
          <a:xfrm xmlns:a="http://schemas.openxmlformats.org/drawingml/2006/main">
            <a:off x="609600" y="4572000"/>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8" name="">
            <a:extLst xmlns:a="http://schemas.openxmlformats.org/drawingml/2006/main">
              <a:ext uri="{FF2B5EF4-FFF2-40B4-BE49-F238E27FC236}">
                <a16:creationId xmlns:a16="http://schemas.microsoft.com/office/drawing/2014/main" id="{B41E9BB1-6DFA-4886-9DC9-4687CFC24811}"/>
              </a:ext>
            </a:extLst>
          </p:cNvPr>
          <p:cNvSpPr>
            <a:spLocks xmlns:a="http://schemas.openxmlformats.org/drawingml/2006/main" noGrp="1"/>
          </p:cNvSpPr>
          <p:nvPr/>
        </p:nvSpPr>
        <p:spPr>
          <a:xfrm xmlns:a="http://schemas.openxmlformats.org/drawingml/2006/main">
            <a:off x="609600" y="47720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04</a:t>
            </a:r>
          </a:p>
        </p:txBody>
      </p:sp>
      <p:sp>
        <p:nvSpPr>
          <p:cNvPr id="19" name="anim-4-stop">
            <a:extLst xmlns:a="http://schemas.openxmlformats.org/drawingml/2006/main">
              <a:ext uri="{FF2B5EF4-FFF2-40B4-BE49-F238E27FC236}">
                <a16:creationId xmlns:a16="http://schemas.microsoft.com/office/drawing/2014/main" id="{94416F2B-B295-4E6D-A66B-F5C80A0C9E8E}"/>
              </a:ext>
            </a:extLst>
          </p:cNvPr>
          <p:cNvSpPr>
            <a:spLocks xmlns:a="http://schemas.openxmlformats.org/drawingml/2006/main" noGrp="1"/>
          </p:cNvSpPr>
          <p:nvPr/>
        </p:nvSpPr>
        <p:spPr>
          <a:xfrm xmlns:a="http://schemas.openxmlformats.org/drawingml/2006/main">
            <a:off x="1200150" y="475297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Stop</a:t>
            </a:r>
          </a:p>
        </p:txBody>
      </p:sp>
      <p:sp>
        <p:nvSpPr>
          <p:cNvPr id="20" name="">
            <a:extLst xmlns:a="http://schemas.openxmlformats.org/drawingml/2006/main">
              <a:ext uri="{FF2B5EF4-FFF2-40B4-BE49-F238E27FC236}">
                <a16:creationId xmlns:a16="http://schemas.microsoft.com/office/drawing/2014/main" id="{6E53D0C3-0C6F-4C29-B7D1-1AF65DFC76D8}"/>
              </a:ext>
            </a:extLst>
          </p:cNvPr>
          <p:cNvSpPr>
            <a:spLocks xmlns:a="http://schemas.openxmlformats.org/drawingml/2006/main" noGrp="1"/>
          </p:cNvSpPr>
          <p:nvPr/>
        </p:nvSpPr>
        <p:spPr>
          <a:xfrm xmlns:a="http://schemas.openxmlformats.org/drawingml/2006/main">
            <a:off x="2590800" y="47720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Press again or release hold-to-dictate.</a:t>
            </a:r>
          </a:p>
        </p:txBody>
      </p:sp>
      <p:sp>
        <p:nvSpPr>
          <p:cNvPr id="21" name="">
            <a:extLst xmlns:a="http://schemas.openxmlformats.org/drawingml/2006/main">
              <a:ext uri="{FF2B5EF4-FFF2-40B4-BE49-F238E27FC236}">
                <a16:creationId xmlns:a16="http://schemas.microsoft.com/office/drawing/2014/main" id="{8AC547D6-3C46-49F1-BA57-5606B9D4B0BD}"/>
              </a:ext>
            </a:extLst>
          </p:cNvPr>
          <p:cNvSpPr>
            <a:spLocks xmlns:a="http://schemas.openxmlformats.org/drawingml/2006/main" noGrp="1"/>
          </p:cNvSpPr>
          <p:nvPr/>
        </p:nvSpPr>
        <p:spPr>
          <a:xfrm xmlns:a="http://schemas.openxmlformats.org/drawingml/2006/main">
            <a:off x="609600" y="5210175"/>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2" name="">
            <a:extLst xmlns:a="http://schemas.openxmlformats.org/drawingml/2006/main">
              <a:ext uri="{FF2B5EF4-FFF2-40B4-BE49-F238E27FC236}">
                <a16:creationId xmlns:a16="http://schemas.microsoft.com/office/drawing/2014/main" id="{3184D7F1-EF55-44CE-AF7A-BFE76D32FA19}"/>
              </a:ext>
            </a:extLst>
          </p:cNvPr>
          <p:cNvSpPr>
            <a:spLocks xmlns:a="http://schemas.openxmlformats.org/drawingml/2006/main" noGrp="1"/>
          </p:cNvSpPr>
          <p:nvPr/>
        </p:nvSpPr>
        <p:spPr>
          <a:xfrm xmlns:a="http://schemas.openxmlformats.org/drawingml/2006/main">
            <a:off x="609600" y="54102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05</a:t>
            </a:r>
          </a:p>
        </p:txBody>
      </p:sp>
      <p:sp>
        <p:nvSpPr>
          <p:cNvPr id="23" name="anim-5-continue">
            <a:extLst xmlns:a="http://schemas.openxmlformats.org/drawingml/2006/main">
              <a:ext uri="{FF2B5EF4-FFF2-40B4-BE49-F238E27FC236}">
                <a16:creationId xmlns:a16="http://schemas.microsoft.com/office/drawing/2014/main" id="{65D07ECE-B7E7-4410-896E-09378E92544F}"/>
              </a:ext>
            </a:extLst>
          </p:cNvPr>
          <p:cNvSpPr>
            <a:spLocks xmlns:a="http://schemas.openxmlformats.org/drawingml/2006/main" noGrp="1"/>
          </p:cNvSpPr>
          <p:nvPr/>
        </p:nvSpPr>
        <p:spPr>
          <a:xfrm xmlns:a="http://schemas.openxmlformats.org/drawingml/2006/main">
            <a:off x="1200150" y="53911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Continue</a:t>
            </a:r>
          </a:p>
        </p:txBody>
      </p:sp>
      <p:sp>
        <p:nvSpPr>
          <p:cNvPr id="24" name="">
            <a:extLst xmlns:a="http://schemas.openxmlformats.org/drawingml/2006/main">
              <a:ext uri="{FF2B5EF4-FFF2-40B4-BE49-F238E27FC236}">
                <a16:creationId xmlns:a16="http://schemas.microsoft.com/office/drawing/2014/main" id="{44158D83-93F4-48E5-A4C0-388A77E5041D}"/>
              </a:ext>
            </a:extLst>
          </p:cNvPr>
          <p:cNvSpPr>
            <a:spLocks xmlns:a="http://schemas.openxmlformats.org/drawingml/2006/main" noGrp="1"/>
          </p:cNvSpPr>
          <p:nvPr/>
        </p:nvSpPr>
        <p:spPr>
          <a:xfrm xmlns:a="http://schemas.openxmlformats.org/drawingml/2006/main">
            <a:off x="2590800" y="54102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Text is inserted; History can reuse it.</a:t>
            </a:r>
          </a:p>
        </p:txBody>
      </p:sp>
      <p:sp>
        <p:nvSpPr>
          <p:cNvPr id="25" name="">
            <a:extLst xmlns:a="http://schemas.openxmlformats.org/drawingml/2006/main">
              <a:ext uri="{FF2B5EF4-FFF2-40B4-BE49-F238E27FC236}">
                <a16:creationId xmlns:a16="http://schemas.microsoft.com/office/drawing/2014/main" id="{6410CFB0-16ED-49CC-8FE7-8896163BCB2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6" name="">
            <a:extLst xmlns:a="http://schemas.openxmlformats.org/drawingml/2006/main">
              <a:ext uri="{FF2B5EF4-FFF2-40B4-BE49-F238E27FC236}">
                <a16:creationId xmlns:a16="http://schemas.microsoft.com/office/drawing/2014/main" id="{4D074C7C-107E-4FBD-B3AB-635892D82B81}"/>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7" name="">
            <a:extLst xmlns:a="http://schemas.openxmlformats.org/drawingml/2006/main">
              <a:ext uri="{FF2B5EF4-FFF2-40B4-BE49-F238E27FC236}">
                <a16:creationId xmlns:a16="http://schemas.microsoft.com/office/drawing/2014/main" id="{62911B79-4D50-4CEA-A62E-4884107F6E61}"/>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04</a:t>
            </a:r>
          </a:p>
        </p:txBody>
      </p:sp>
    </p:spTree>
    <p:extLst>
      <p:ext uri="{BB962C8B-B14F-4D97-AF65-F5344CB8AC3E}">
        <p14:creationId xmlns:p14="http://schemas.microsoft.com/office/powerpoint/2010/main" val="188638275"/>
      </p:ext>
    </p:extLst>
  </p:cSld>
  <p:transition spd="med"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450"/>
                                        <p:tgtEl>
                                          <p:spTgt spid="23"/>
                                        </p:tgtEl>
                                      </p:cBhvr>
                                    </p:animEffect>
                                  </p:childTnLst>
                                </p:cTn>
                              </p:par>
                            </p:childTnLst>
                          </p:cTn>
                        </p:par>
                      </p:childTnLst>
                    </p:cTn>
                  </p:par>
                </p:childTnLst>
              </p:cTn>
            </p:seq>
          </p:childTnLst>
        </p:cTn>
      </p:par>
    </p:tnLst>
  </p:timing>
</p:sld>
</file>

<file path=ppt/slides/slide5.xml><?xml version="1.0" encoding="utf-8"?>
<p:sld xmlns:p="http://schemas.openxmlformats.org/presentationml/2006/main">
  <p:cSld>
    <p:bg>
      <p:bgPr>
        <a:gradFill xmlns:a="http://schemas.openxmlformats.org/drawingml/2006/main">
          <a:gsLst>
            <a:gs pos="0">
              <a:srgbClr val="09090C"/>
            </a:gs>
            <a:gs pos="58000">
              <a:srgbClr val="111018"/>
            </a:gs>
            <a:gs pos="100000">
              <a:srgbClr val="09090C"/>
            </a:gs>
          </a:gsLst>
          <a:lin ang="8100000"/>
        </a:gra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828D3FF-2564-4DED-807E-457E087740C6}"/>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05  /  CORE FEATURES</a:t>
            </a:r>
          </a:p>
        </p:txBody>
      </p:sp>
      <p:sp>
        <p:nvSpPr>
          <p:cNvPr id="2" name="">
            <a:extLst xmlns:a="http://schemas.openxmlformats.org/drawingml/2006/main">
              <a:ext uri="{FF2B5EF4-FFF2-40B4-BE49-F238E27FC236}">
                <a16:creationId xmlns:a16="http://schemas.microsoft.com/office/drawing/2014/main" id="{FC2EB6C7-35C5-42AA-BC2F-D06C76F2AD9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ZenVoice feature mind map.</a:t>
            </a:r>
          </a:p>
        </p:txBody>
      </p:sp>
      <p:sp>
        <p:nvSpPr>
          <p:cNvPr id="3" name="">
            <a:extLst xmlns:a="http://schemas.openxmlformats.org/drawingml/2006/main">
              <a:ext uri="{FF2B5EF4-FFF2-40B4-BE49-F238E27FC236}">
                <a16:creationId xmlns:a16="http://schemas.microsoft.com/office/drawing/2014/main" id="{940C5636-16AD-4A54-BB16-A35A43CE90B1}"/>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ZenBar sits at the center; four branches explain feedback, diagnostics, app behavior, and recovery.</a:t>
            </a:r>
          </a:p>
        </p:txBody>
      </p:sp>
      <p:sp>
        <p:nvSpPr>
          <p:cNvPr id="4" name="">
            <a:extLst xmlns:a="http://schemas.openxmlformats.org/drawingml/2006/main">
              <a:ext uri="{FF2B5EF4-FFF2-40B4-BE49-F238E27FC236}">
                <a16:creationId xmlns:a16="http://schemas.microsoft.com/office/drawing/2014/main" id="{9CA804E1-415D-4C28-9A4F-3F7714E6B27D}"/>
              </a:ext>
            </a:extLst>
          </p:cNvPr>
          <p:cNvSpPr>
            <a:spLocks xmlns:a="http://schemas.openxmlformats.org/drawingml/2006/main" noGrp="1"/>
          </p:cNvSpPr>
          <p:nvPr/>
        </p:nvSpPr>
        <p:spPr>
          <a:xfrm xmlns:a="http://schemas.openxmlformats.org/drawingml/2006/main">
            <a:off x="7886700" y="5219700"/>
            <a:ext cx="819150" cy="0"/>
          </a:xfrm>
          <a:prstGeom xmlns:a="http://schemas.openxmlformats.org/drawingml/2006/main" prst="line">
            <a:avLst/>
          </a:prstGeom>
          <a:noFill xmlns:a="http://schemas.openxmlformats.org/drawingml/2006/main"/>
          <a:ln xmlns:a="http://schemas.openxmlformats.org/drawingml/2006/main" w="19050">
            <a:solidFill>
              <a:srgbClr val="52B788"/>
            </a:solidFill>
            <a:prstDash val="solid"/>
          </a:ln>
        </p:spPr>
      </p:sp>
      <p:sp>
        <p:nvSpPr>
          <p:cNvPr id="5" name="">
            <a:extLst xmlns:a="http://schemas.openxmlformats.org/drawingml/2006/main">
              <a:ext uri="{FF2B5EF4-FFF2-40B4-BE49-F238E27FC236}">
                <a16:creationId xmlns:a16="http://schemas.microsoft.com/office/drawing/2014/main" id="{E17D6F75-FE22-430F-B188-5F9617282178}"/>
              </a:ext>
            </a:extLst>
          </p:cNvPr>
          <p:cNvSpPr>
            <a:spLocks xmlns:a="http://schemas.openxmlformats.org/drawingml/2006/main" noGrp="1"/>
          </p:cNvSpPr>
          <p:nvPr/>
        </p:nvSpPr>
        <p:spPr>
          <a:xfrm xmlns:a="http://schemas.openxmlformats.org/drawingml/2006/main">
            <a:off x="3676650" y="3524250"/>
            <a:ext cx="628650" cy="0"/>
          </a:xfrm>
          <a:prstGeom xmlns:a="http://schemas.openxmlformats.org/drawingml/2006/main" prst="line">
            <a:avLst/>
          </a:prstGeom>
          <a:noFill xmlns:a="http://schemas.openxmlformats.org/drawingml/2006/main"/>
          <a:ln xmlns:a="http://schemas.openxmlformats.org/drawingml/2006/main" w="19050">
            <a:solidFill>
              <a:srgbClr val="7667F2"/>
            </a:solidFill>
            <a:prstDash val="solid"/>
          </a:ln>
        </p:spPr>
      </p:sp>
      <p:sp>
        <p:nvSpPr>
          <p:cNvPr id="6" name="">
            <a:extLst xmlns:a="http://schemas.openxmlformats.org/drawingml/2006/main">
              <a:ext uri="{FF2B5EF4-FFF2-40B4-BE49-F238E27FC236}">
                <a16:creationId xmlns:a16="http://schemas.microsoft.com/office/drawing/2014/main" id="{F01806B1-1A04-44CA-BBA3-4FCDD07E524F}"/>
              </a:ext>
            </a:extLst>
          </p:cNvPr>
          <p:cNvSpPr>
            <a:spLocks xmlns:a="http://schemas.openxmlformats.org/drawingml/2006/main" noGrp="1"/>
          </p:cNvSpPr>
          <p:nvPr/>
        </p:nvSpPr>
        <p:spPr>
          <a:xfrm xmlns:a="http://schemas.openxmlformats.org/drawingml/2006/main">
            <a:off x="7886700" y="3524250"/>
            <a:ext cx="819150" cy="0"/>
          </a:xfrm>
          <a:prstGeom xmlns:a="http://schemas.openxmlformats.org/drawingml/2006/main" prst="line">
            <a:avLst/>
          </a:prstGeom>
          <a:noFill xmlns:a="http://schemas.openxmlformats.org/drawingml/2006/main"/>
          <a:ln xmlns:a="http://schemas.openxmlformats.org/drawingml/2006/main" w="19050">
            <a:solidFill>
              <a:srgbClr val="D7A75E"/>
            </a:solidFill>
            <a:prstDash val="solid"/>
          </a:ln>
        </p:spPr>
      </p:sp>
      <p:sp>
        <p:nvSpPr>
          <p:cNvPr id="7" name="">
            <a:extLst xmlns:a="http://schemas.openxmlformats.org/drawingml/2006/main">
              <a:ext uri="{FF2B5EF4-FFF2-40B4-BE49-F238E27FC236}">
                <a16:creationId xmlns:a16="http://schemas.microsoft.com/office/drawing/2014/main" id="{8DE6FA49-1A93-41BE-A4D8-A264B942B127}"/>
              </a:ext>
            </a:extLst>
          </p:cNvPr>
          <p:cNvSpPr>
            <a:spLocks xmlns:a="http://schemas.openxmlformats.org/drawingml/2006/main" noGrp="1"/>
          </p:cNvSpPr>
          <p:nvPr/>
        </p:nvSpPr>
        <p:spPr>
          <a:xfrm xmlns:a="http://schemas.openxmlformats.org/drawingml/2006/main">
            <a:off x="3676650" y="5219700"/>
            <a:ext cx="628650" cy="0"/>
          </a:xfrm>
          <a:prstGeom xmlns:a="http://schemas.openxmlformats.org/drawingml/2006/main" prst="line">
            <a:avLst/>
          </a:prstGeom>
          <a:noFill xmlns:a="http://schemas.openxmlformats.org/drawingml/2006/main"/>
          <a:ln xmlns:a="http://schemas.openxmlformats.org/drawingml/2006/main" w="19050">
            <a:solidFill>
              <a:srgbClr val="4B9CF5"/>
            </a:solidFill>
            <a:prstDash val="solid"/>
          </a:ln>
        </p:spPr>
      </p:sp>
      <p:sp>
        <p:nvSpPr>
          <p:cNvPr id="8" name="">
            <a:extLst xmlns:a="http://schemas.openxmlformats.org/drawingml/2006/main">
              <a:ext uri="{FF2B5EF4-FFF2-40B4-BE49-F238E27FC236}">
                <a16:creationId xmlns:a16="http://schemas.microsoft.com/office/drawing/2014/main" id="{E8230AA9-3EC5-482F-9632-6E727F0826A6}"/>
              </a:ext>
            </a:extLst>
          </p:cNvPr>
          <p:cNvSpPr>
            <a:spLocks xmlns:a="http://schemas.openxmlformats.org/drawingml/2006/main" noGrp="1"/>
          </p:cNvSpPr>
          <p:nvPr/>
        </p:nvSpPr>
        <p:spPr>
          <a:xfrm xmlns:a="http://schemas.openxmlformats.org/drawingml/2006/main">
            <a:off x="4305300" y="3048000"/>
            <a:ext cx="3581400" cy="1543050"/>
          </a:xfrm>
          <a:prstGeom xmlns:a="http://schemas.openxmlformats.org/drawingml/2006/main" prst="roundRect">
            <a:avLst>
              <a:gd name="adj" fmla="val 25926"/>
            </a:avLst>
          </a:prstGeom>
          <a:solidFill xmlns:a="http://schemas.openxmlformats.org/drawingml/2006/main">
            <a:srgbClr val="191820"/>
          </a:solidFill>
          <a:ln xmlns:a="http://schemas.openxmlformats.org/drawingml/2006/main" w="19050">
            <a:solidFill>
              <a:srgbClr val="D7A75E"/>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67655F8-8CC9-4D81-9F6B-FCACAA6AAA7F}"/>
              </a:ext>
            </a:extLst>
          </p:cNvPr>
          <p:cNvSpPr>
            <a:spLocks xmlns:a="http://schemas.openxmlformats.org/drawingml/2006/main" noGrp="1"/>
          </p:cNvSpPr>
          <p:nvPr/>
        </p:nvSpPr>
        <p:spPr>
          <a:xfrm xmlns:a="http://schemas.openxmlformats.org/drawingml/2006/main">
            <a:off x="4762500" y="33718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0C47C"/>
                </a:solidFill>
                <a:latin typeface="Avenir Next"/>
                <a:ea typeface="Avenir Next"/>
                <a:cs typeface="Avenir Next"/>
              </a:defRPr>
            </a:pPr>
            <a:r>
              <a:rPr sz="1200" b="1" i="0">
                <a:solidFill>
                  <a:srgbClr val="F0C47C"/>
                </a:solidFill>
                <a:latin typeface="Avenir Next"/>
                <a:ea typeface="Avenir Next"/>
                <a:cs typeface="Avenir Next"/>
              </a:rPr>
              <a:t>ZENBAR</a:t>
            </a:r>
          </a:p>
        </p:txBody>
      </p:sp>
      <p:sp>
        <p:nvSpPr>
          <p:cNvPr id="10" name="">
            <a:extLst xmlns:a="http://schemas.openxmlformats.org/drawingml/2006/main">
              <a:ext uri="{FF2B5EF4-FFF2-40B4-BE49-F238E27FC236}">
                <a16:creationId xmlns:a16="http://schemas.microsoft.com/office/drawing/2014/main" id="{FADAFF01-2C48-4948-B80A-5BA502FFC427}"/>
              </a:ext>
            </a:extLst>
          </p:cNvPr>
          <p:cNvSpPr>
            <a:spLocks xmlns:a="http://schemas.openxmlformats.org/drawingml/2006/main" noGrp="1"/>
          </p:cNvSpPr>
          <p:nvPr/>
        </p:nvSpPr>
        <p:spPr>
          <a:xfrm xmlns:a="http://schemas.openxmlformats.org/drawingml/2006/main">
            <a:off x="4667250" y="37528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Listening…</a:t>
            </a:r>
          </a:p>
        </p:txBody>
      </p:sp>
      <p:sp>
        <p:nvSpPr>
          <p:cNvPr id="11" name="">
            <a:extLst xmlns:a="http://schemas.openxmlformats.org/drawingml/2006/main">
              <a:ext uri="{FF2B5EF4-FFF2-40B4-BE49-F238E27FC236}">
                <a16:creationId xmlns:a16="http://schemas.microsoft.com/office/drawing/2014/main" id="{728F1850-3025-4270-849C-EBBF3EEF3420}"/>
              </a:ext>
            </a:extLst>
          </p:cNvPr>
          <p:cNvSpPr>
            <a:spLocks xmlns:a="http://schemas.openxmlformats.org/drawingml/2006/main" noGrp="1"/>
          </p:cNvSpPr>
          <p:nvPr/>
        </p:nvSpPr>
        <p:spPr>
          <a:xfrm xmlns:a="http://schemas.openxmlformats.org/drawingml/2006/main">
            <a:off x="609600" y="3009900"/>
            <a:ext cx="76200" cy="99060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12" name="anim-1-feature">
            <a:extLst xmlns:a="http://schemas.openxmlformats.org/drawingml/2006/main">
              <a:ext uri="{FF2B5EF4-FFF2-40B4-BE49-F238E27FC236}">
                <a16:creationId xmlns:a16="http://schemas.microsoft.com/office/drawing/2014/main" id="{433DE229-11B8-482B-B46D-83B5A855E431}"/>
              </a:ext>
            </a:extLst>
          </p:cNvPr>
          <p:cNvSpPr>
            <a:spLocks xmlns:a="http://schemas.openxmlformats.org/drawingml/2006/main" noGrp="1"/>
          </p:cNvSpPr>
          <p:nvPr/>
        </p:nvSpPr>
        <p:spPr>
          <a:xfrm xmlns:a="http://schemas.openxmlformats.org/drawingml/2006/main">
            <a:off x="876300" y="30099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Live preview</a:t>
            </a:r>
          </a:p>
        </p:txBody>
      </p:sp>
      <p:sp>
        <p:nvSpPr>
          <p:cNvPr id="13" name="">
            <a:extLst xmlns:a="http://schemas.openxmlformats.org/drawingml/2006/main">
              <a:ext uri="{FF2B5EF4-FFF2-40B4-BE49-F238E27FC236}">
                <a16:creationId xmlns:a16="http://schemas.microsoft.com/office/drawing/2014/main" id="{AC704FC9-6E05-4306-86E2-91C55F812E1C}"/>
              </a:ext>
            </a:extLst>
          </p:cNvPr>
          <p:cNvSpPr>
            <a:spLocks xmlns:a="http://schemas.openxmlformats.org/drawingml/2006/main" noGrp="1"/>
          </p:cNvSpPr>
          <p:nvPr/>
        </p:nvSpPr>
        <p:spPr>
          <a:xfrm xmlns:a="http://schemas.openxmlformats.org/drawingml/2006/main">
            <a:off x="876300" y="34099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Stable on-device feedback while speaking.</a:t>
            </a:r>
          </a:p>
        </p:txBody>
      </p:sp>
      <p:sp>
        <p:nvSpPr>
          <p:cNvPr id="14" name="">
            <a:extLst xmlns:a="http://schemas.openxmlformats.org/drawingml/2006/main">
              <a:ext uri="{FF2B5EF4-FFF2-40B4-BE49-F238E27FC236}">
                <a16:creationId xmlns:a16="http://schemas.microsoft.com/office/drawing/2014/main" id="{66C2688B-3823-4547-8991-89EFC792AB3B}"/>
              </a:ext>
            </a:extLst>
          </p:cNvPr>
          <p:cNvSpPr>
            <a:spLocks xmlns:a="http://schemas.openxmlformats.org/drawingml/2006/main" noGrp="1"/>
          </p:cNvSpPr>
          <p:nvPr/>
        </p:nvSpPr>
        <p:spPr>
          <a:xfrm xmlns:a="http://schemas.openxmlformats.org/drawingml/2006/main">
            <a:off x="609600" y="4705350"/>
            <a:ext cx="76200" cy="99060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5" name="anim-2-feature">
            <a:extLst xmlns:a="http://schemas.openxmlformats.org/drawingml/2006/main">
              <a:ext uri="{FF2B5EF4-FFF2-40B4-BE49-F238E27FC236}">
                <a16:creationId xmlns:a16="http://schemas.microsoft.com/office/drawing/2014/main" id="{71351474-4328-4867-B865-60750F245E84}"/>
              </a:ext>
            </a:extLst>
          </p:cNvPr>
          <p:cNvSpPr>
            <a:spLocks xmlns:a="http://schemas.openxmlformats.org/drawingml/2006/main" noGrp="1"/>
          </p:cNvSpPr>
          <p:nvPr/>
        </p:nvSpPr>
        <p:spPr>
          <a:xfrm xmlns:a="http://schemas.openxmlformats.org/drawingml/2006/main">
            <a:off x="876300" y="47053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Audio Doctor</a:t>
            </a:r>
          </a:p>
        </p:txBody>
      </p:sp>
      <p:sp>
        <p:nvSpPr>
          <p:cNvPr id="16" name="">
            <a:extLst xmlns:a="http://schemas.openxmlformats.org/drawingml/2006/main">
              <a:ext uri="{FF2B5EF4-FFF2-40B4-BE49-F238E27FC236}">
                <a16:creationId xmlns:a16="http://schemas.microsoft.com/office/drawing/2014/main" id="{87A9DD5C-1071-4144-8B1E-3B0D7BAC1CD9}"/>
              </a:ext>
            </a:extLst>
          </p:cNvPr>
          <p:cNvSpPr>
            <a:spLocks xmlns:a="http://schemas.openxmlformats.org/drawingml/2006/main" noGrp="1"/>
          </p:cNvSpPr>
          <p:nvPr/>
        </p:nvSpPr>
        <p:spPr>
          <a:xfrm xmlns:a="http://schemas.openxmlformats.org/drawingml/2006/main">
            <a:off x="876300" y="510540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A three-second local microphone check.</a:t>
            </a:r>
          </a:p>
        </p:txBody>
      </p:sp>
      <p:sp>
        <p:nvSpPr>
          <p:cNvPr id="17" name="">
            <a:extLst xmlns:a="http://schemas.openxmlformats.org/drawingml/2006/main">
              <a:ext uri="{FF2B5EF4-FFF2-40B4-BE49-F238E27FC236}">
                <a16:creationId xmlns:a16="http://schemas.microsoft.com/office/drawing/2014/main" id="{81245128-FA3F-4568-A009-B623C29E302F}"/>
              </a:ext>
            </a:extLst>
          </p:cNvPr>
          <p:cNvSpPr>
            <a:spLocks xmlns:a="http://schemas.openxmlformats.org/drawingml/2006/main" noGrp="1"/>
          </p:cNvSpPr>
          <p:nvPr/>
        </p:nvSpPr>
        <p:spPr>
          <a:xfrm xmlns:a="http://schemas.openxmlformats.org/drawingml/2006/main">
            <a:off x="8705850" y="3009900"/>
            <a:ext cx="76200" cy="99060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18" name="anim-3-feature">
            <a:extLst xmlns:a="http://schemas.openxmlformats.org/drawingml/2006/main">
              <a:ext uri="{FF2B5EF4-FFF2-40B4-BE49-F238E27FC236}">
                <a16:creationId xmlns:a16="http://schemas.microsoft.com/office/drawing/2014/main" id="{C6EEEAB4-092B-41C4-A5B3-4498776E8A19}"/>
              </a:ext>
            </a:extLst>
          </p:cNvPr>
          <p:cNvSpPr>
            <a:spLocks xmlns:a="http://schemas.openxmlformats.org/drawingml/2006/main" noGrp="1"/>
          </p:cNvSpPr>
          <p:nvPr/>
        </p:nvSpPr>
        <p:spPr>
          <a:xfrm xmlns:a="http://schemas.openxmlformats.org/drawingml/2006/main">
            <a:off x="8972550" y="30099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Per-app rules</a:t>
            </a:r>
          </a:p>
        </p:txBody>
      </p:sp>
      <p:sp>
        <p:nvSpPr>
          <p:cNvPr id="19" name="">
            <a:extLst xmlns:a="http://schemas.openxmlformats.org/drawingml/2006/main">
              <a:ext uri="{FF2B5EF4-FFF2-40B4-BE49-F238E27FC236}">
                <a16:creationId xmlns:a16="http://schemas.microsoft.com/office/drawing/2014/main" id="{CBF933DE-563A-46FE-BF2B-D2749F91B0F6}"/>
              </a:ext>
            </a:extLst>
          </p:cNvPr>
          <p:cNvSpPr>
            <a:spLocks xmlns:a="http://schemas.openxmlformats.org/drawingml/2006/main" noGrp="1"/>
          </p:cNvSpPr>
          <p:nvPr/>
        </p:nvSpPr>
        <p:spPr>
          <a:xfrm xmlns:a="http://schemas.openxmlformats.org/drawingml/2006/main">
            <a:off x="8972550" y="34099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Language and refinement follow the target app.</a:t>
            </a:r>
          </a:p>
        </p:txBody>
      </p:sp>
      <p:sp>
        <p:nvSpPr>
          <p:cNvPr id="20" name="">
            <a:extLst xmlns:a="http://schemas.openxmlformats.org/drawingml/2006/main">
              <a:ext uri="{FF2B5EF4-FFF2-40B4-BE49-F238E27FC236}">
                <a16:creationId xmlns:a16="http://schemas.microsoft.com/office/drawing/2014/main" id="{5A48CE10-F359-46D0-BA21-738302FC02E9}"/>
              </a:ext>
            </a:extLst>
          </p:cNvPr>
          <p:cNvSpPr>
            <a:spLocks xmlns:a="http://schemas.openxmlformats.org/drawingml/2006/main" noGrp="1"/>
          </p:cNvSpPr>
          <p:nvPr/>
        </p:nvSpPr>
        <p:spPr>
          <a:xfrm xmlns:a="http://schemas.openxmlformats.org/drawingml/2006/main">
            <a:off x="8705850" y="4705350"/>
            <a:ext cx="76200" cy="990600"/>
          </a:xfrm>
          <a:prstGeom xmlns:a="http://schemas.openxmlformats.org/drawingml/2006/main" prst="rect">
            <a:avLst/>
          </a:prstGeom>
          <a:solidFill xmlns:a="http://schemas.openxmlformats.org/drawingml/2006/main">
            <a:srgbClr val="52B788"/>
          </a:solidFill>
          <a:ln xmlns:a="http://schemas.openxmlformats.org/drawingml/2006/main" w="0">
            <a:solidFill>
              <a:srgbClr val="52B788"/>
            </a:solidFill>
            <a:prstDash val="solid"/>
          </a:ln>
        </p:spPr>
      </p:sp>
      <p:sp>
        <p:nvSpPr>
          <p:cNvPr id="21" name="anim-4-feature">
            <a:extLst xmlns:a="http://schemas.openxmlformats.org/drawingml/2006/main">
              <a:ext uri="{FF2B5EF4-FFF2-40B4-BE49-F238E27FC236}">
                <a16:creationId xmlns:a16="http://schemas.microsoft.com/office/drawing/2014/main" id="{9D585947-8CF2-456A-84C8-2AB5FA861F84}"/>
              </a:ext>
            </a:extLst>
          </p:cNvPr>
          <p:cNvSpPr>
            <a:spLocks xmlns:a="http://schemas.openxmlformats.org/drawingml/2006/main" noGrp="1"/>
          </p:cNvSpPr>
          <p:nvPr/>
        </p:nvSpPr>
        <p:spPr>
          <a:xfrm xmlns:a="http://schemas.openxmlformats.org/drawingml/2006/main">
            <a:off x="8972550" y="47053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Recovery</a:t>
            </a:r>
          </a:p>
        </p:txBody>
      </p:sp>
      <p:sp>
        <p:nvSpPr>
          <p:cNvPr id="22" name="">
            <a:extLst xmlns:a="http://schemas.openxmlformats.org/drawingml/2006/main">
              <a:ext uri="{FF2B5EF4-FFF2-40B4-BE49-F238E27FC236}">
                <a16:creationId xmlns:a16="http://schemas.microsoft.com/office/drawing/2014/main" id="{896A4763-E671-48FD-A542-A309AE8ED72F}"/>
              </a:ext>
            </a:extLst>
          </p:cNvPr>
          <p:cNvSpPr>
            <a:spLocks xmlns:a="http://schemas.openxmlformats.org/drawingml/2006/main" noGrp="1"/>
          </p:cNvSpPr>
          <p:nvPr/>
        </p:nvSpPr>
        <p:spPr>
          <a:xfrm xmlns:a="http://schemas.openxmlformats.org/drawingml/2006/main">
            <a:off x="8972550" y="510540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Retry, copy, delete, and recover interrupted work.</a:t>
            </a:r>
          </a:p>
        </p:txBody>
      </p:sp>
      <p:sp>
        <p:nvSpPr>
          <p:cNvPr id="23" name="">
            <a:extLst xmlns:a="http://schemas.openxmlformats.org/drawingml/2006/main">
              <a:ext uri="{FF2B5EF4-FFF2-40B4-BE49-F238E27FC236}">
                <a16:creationId xmlns:a16="http://schemas.microsoft.com/office/drawing/2014/main" id="{2D76BB08-A2E9-4815-ACA8-AAB119AD1CD7}"/>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4" name="">
            <a:extLst xmlns:a="http://schemas.openxmlformats.org/drawingml/2006/main">
              <a:ext uri="{FF2B5EF4-FFF2-40B4-BE49-F238E27FC236}">
                <a16:creationId xmlns:a16="http://schemas.microsoft.com/office/drawing/2014/main" id="{EB09FD93-9202-4A9F-B9EB-A98D3EA69DDD}"/>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5" name="">
            <a:extLst xmlns:a="http://schemas.openxmlformats.org/drawingml/2006/main">
              <a:ext uri="{FF2B5EF4-FFF2-40B4-BE49-F238E27FC236}">
                <a16:creationId xmlns:a16="http://schemas.microsoft.com/office/drawing/2014/main" id="{3390D3E8-0A72-4942-95FF-86421081F2AF}"/>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05</a:t>
            </a:r>
          </a:p>
        </p:txBody>
      </p:sp>
    </p:spTree>
    <p:extLst>
      <p:ext uri="{BB962C8B-B14F-4D97-AF65-F5344CB8AC3E}">
        <p14:creationId xmlns:p14="http://schemas.microsoft.com/office/powerpoint/2010/main" val="544209755"/>
      </p:ext>
    </p:extLst>
  </p:cSld>
  <p:transition spd="med" advClick="1">
    <p:wipe dir="d"/>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21"/>
                                        </p:tgtEl>
                                      </p:cBhvr>
                                    </p:animEffect>
                                  </p:childTnLst>
                                </p:cTn>
                              </p:par>
                            </p:childTnLst>
                          </p:cTn>
                        </p:par>
                      </p:childTnLst>
                    </p:cTn>
                  </p:par>
                </p:childTnLst>
              </p:cTn>
            </p:seq>
          </p:childTnLst>
        </p:cTn>
      </p:par>
    </p:tnLst>
  </p:timing>
</p:sld>
</file>

<file path=ppt/slides/slide6.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66978f4bf8f42d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D6F0E9-106D-4F13-A705-CD25D73E04AB}"/>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sp>
        <p:nvSpPr>
          <p:cNvPr id="3" name="">
            <a:extLst xmlns:a="http://schemas.openxmlformats.org/drawingml/2006/main">
              <a:ext uri="{FF2B5EF4-FFF2-40B4-BE49-F238E27FC236}">
                <a16:creationId xmlns:a16="http://schemas.microsoft.com/office/drawing/2014/main" id="{476F6A0F-1238-41E2-91F4-020CE234CA2A}"/>
              </a:ext>
            </a:extLst>
          </p:cNvPr>
          <p:cNvSpPr>
            <a:spLocks xmlns:a="http://schemas.openxmlformats.org/drawingml/2006/main" noGrp="1"/>
          </p:cNvSpPr>
          <p:nvPr/>
        </p:nvSpPr>
        <p:spPr>
          <a:xfrm xmlns:a="http://schemas.openxmlformats.org/drawingml/2006/main">
            <a:off x="609600" y="4381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06  /  PRIVACY BY DESIGN</a:t>
            </a:r>
          </a:p>
        </p:txBody>
      </p:sp>
      <p:sp>
        <p:nvSpPr>
          <p:cNvPr id="4" name="">
            <a:extLst xmlns:a="http://schemas.openxmlformats.org/drawingml/2006/main">
              <a:ext uri="{FF2B5EF4-FFF2-40B4-BE49-F238E27FC236}">
                <a16:creationId xmlns:a16="http://schemas.microsoft.com/office/drawing/2014/main" id="{101F5345-FE2C-43CA-909F-AA9A8F618F26}"/>
              </a:ext>
            </a:extLst>
          </p:cNvPr>
          <p:cNvSpPr>
            <a:spLocks xmlns:a="http://schemas.openxmlformats.org/drawingml/2006/main" noGrp="1"/>
          </p:cNvSpPr>
          <p:nvPr/>
        </p:nvSpPr>
        <p:spPr>
          <a:xfrm xmlns:a="http://schemas.openxmlformats.org/drawingml/2006/main">
            <a:off x="609600" y="857250"/>
            <a:ext cx="5905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050" b="1" i="0">
                <a:solidFill>
                  <a:srgbClr val="F7F4EF"/>
                </a:solidFill>
                <a:latin typeface="Avenir Next"/>
                <a:ea typeface="Avenir Next"/>
                <a:cs typeface="Avenir Next"/>
              </a:defRPr>
            </a:pPr>
            <a:r>
              <a:rPr sz="4050" b="1" i="0">
                <a:solidFill>
                  <a:srgbClr val="F7F4EF"/>
                </a:solidFill>
                <a:latin typeface="Avenir Next"/>
                <a:ea typeface="Avenir Next"/>
                <a:cs typeface="Avenir Next"/>
              </a:rPr>
              <a:t>Local by default.</a:t>
            </a:r>
          </a:p>
          <a:p xmlns:a="http://schemas.openxmlformats.org/drawingml/2006/main">
            <a:pPr algn="l">
              <a:buNone/>
              <a:defRPr sz="4050" b="1" i="0">
                <a:solidFill>
                  <a:srgbClr val="F7F4EF"/>
                </a:solidFill>
                <a:latin typeface="Avenir Next"/>
                <a:ea typeface="Avenir Next"/>
                <a:cs typeface="Avenir Next"/>
              </a:defRPr>
            </a:pPr>
            <a:r>
              <a:rPr sz="4050" b="1" i="0">
                <a:solidFill>
                  <a:srgbClr val="F7F4EF"/>
                </a:solidFill>
                <a:latin typeface="Avenir Next"/>
                <a:ea typeface="Avenir Next"/>
                <a:cs typeface="Avenir Next"/>
              </a:rPr>
              <a:t>Cloud only by choice.</a:t>
            </a:r>
          </a:p>
        </p:txBody>
      </p:sp>
      <p:sp>
        <p:nvSpPr>
          <p:cNvPr id="5" name="">
            <a:extLst xmlns:a="http://schemas.openxmlformats.org/drawingml/2006/main">
              <a:ext uri="{FF2B5EF4-FFF2-40B4-BE49-F238E27FC236}">
                <a16:creationId xmlns:a16="http://schemas.microsoft.com/office/drawing/2014/main" id="{91BCBC26-9981-4F3B-94DD-3CD79FD3D109}"/>
              </a:ext>
            </a:extLst>
          </p:cNvPr>
          <p:cNvSpPr>
            <a:spLocks xmlns:a="http://schemas.openxmlformats.org/drawingml/2006/main" noGrp="1"/>
          </p:cNvSpPr>
          <p:nvPr/>
        </p:nvSpPr>
        <p:spPr>
          <a:xfrm xmlns:a="http://schemas.openxmlformats.org/drawingml/2006/main">
            <a:off x="609600" y="23050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privacy boundary is visible in the product, not buried in a policy page.</a:t>
            </a:r>
          </a:p>
        </p:txBody>
      </p:sp>
      <p:sp>
        <p:nvSpPr>
          <p:cNvPr id="6" name="anim-1-privacy">
            <a:extLst xmlns:a="http://schemas.openxmlformats.org/drawingml/2006/main">
              <a:ext uri="{FF2B5EF4-FFF2-40B4-BE49-F238E27FC236}">
                <a16:creationId xmlns:a16="http://schemas.microsoft.com/office/drawing/2014/main" id="{8F9332BA-EDA3-44B3-84EC-E93B654A7297}"/>
              </a:ext>
            </a:extLst>
          </p:cNvPr>
          <p:cNvSpPr>
            <a:spLocks xmlns:a="http://schemas.openxmlformats.org/drawingml/2006/main" noGrp="1"/>
          </p:cNvSpPr>
          <p:nvPr/>
        </p:nvSpPr>
        <p:spPr>
          <a:xfrm xmlns:a="http://schemas.openxmlformats.org/drawingml/2006/main">
            <a:off x="609600" y="3200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No account</a:t>
            </a:r>
          </a:p>
        </p:txBody>
      </p:sp>
      <p:sp>
        <p:nvSpPr>
          <p:cNvPr id="7" name="">
            <a:extLst xmlns:a="http://schemas.openxmlformats.org/drawingml/2006/main">
              <a:ext uri="{FF2B5EF4-FFF2-40B4-BE49-F238E27FC236}">
                <a16:creationId xmlns:a16="http://schemas.microsoft.com/office/drawing/2014/main" id="{C8D71AAF-3529-454A-996C-E8261D28C7DA}"/>
              </a:ext>
            </a:extLst>
          </p:cNvPr>
          <p:cNvSpPr>
            <a:spLocks xmlns:a="http://schemas.openxmlformats.org/drawingml/2006/main" noGrp="1"/>
          </p:cNvSpPr>
          <p:nvPr/>
        </p:nvSpPr>
        <p:spPr>
          <a:xfrm xmlns:a="http://schemas.openxmlformats.org/drawingml/2006/main">
            <a:off x="2705100" y="32004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Core dictation needs no account, subscription, or analytics.</a:t>
            </a:r>
          </a:p>
        </p:txBody>
      </p:sp>
      <p:sp>
        <p:nvSpPr>
          <p:cNvPr id="8" name="anim-2-privacy">
            <a:extLst xmlns:a="http://schemas.openxmlformats.org/drawingml/2006/main">
              <a:ext uri="{FF2B5EF4-FFF2-40B4-BE49-F238E27FC236}">
                <a16:creationId xmlns:a16="http://schemas.microsoft.com/office/drawing/2014/main" id="{C533C31C-2FF6-4424-99DC-C069E999ACE5}"/>
              </a:ext>
            </a:extLst>
          </p:cNvPr>
          <p:cNvSpPr>
            <a:spLocks xmlns:a="http://schemas.openxmlformats.org/drawingml/2006/main" noGrp="1"/>
          </p:cNvSpPr>
          <p:nvPr/>
        </p:nvSpPr>
        <p:spPr>
          <a:xfrm xmlns:a="http://schemas.openxmlformats.org/drawingml/2006/main">
            <a:off x="609600" y="3886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Encrypted history</a:t>
            </a:r>
          </a:p>
        </p:txBody>
      </p:sp>
      <p:sp>
        <p:nvSpPr>
          <p:cNvPr id="9" name="">
            <a:extLst xmlns:a="http://schemas.openxmlformats.org/drawingml/2006/main">
              <a:ext uri="{FF2B5EF4-FFF2-40B4-BE49-F238E27FC236}">
                <a16:creationId xmlns:a16="http://schemas.microsoft.com/office/drawing/2014/main" id="{F7FDC270-B825-43D7-9D38-CB195B656919}"/>
              </a:ext>
            </a:extLst>
          </p:cNvPr>
          <p:cNvSpPr>
            <a:spLocks xmlns:a="http://schemas.openxmlformats.org/drawingml/2006/main" noGrp="1"/>
          </p:cNvSpPr>
          <p:nvPr/>
        </p:nvSpPr>
        <p:spPr>
          <a:xfrm xmlns:a="http://schemas.openxmlformats.org/drawingml/2006/main">
            <a:off x="2705100" y="38862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AES-GCM transcripts; the 256-bit key stays in macOS Keychain.</a:t>
            </a:r>
          </a:p>
        </p:txBody>
      </p:sp>
      <p:sp>
        <p:nvSpPr>
          <p:cNvPr id="10" name="anim-3-privacy">
            <a:extLst xmlns:a="http://schemas.openxmlformats.org/drawingml/2006/main">
              <a:ext uri="{FF2B5EF4-FFF2-40B4-BE49-F238E27FC236}">
                <a16:creationId xmlns:a16="http://schemas.microsoft.com/office/drawing/2014/main" id="{C59FCFD4-52E0-4201-950E-9C14FB9BB60C}"/>
              </a:ext>
            </a:extLst>
          </p:cNvPr>
          <p:cNvSpPr>
            <a:spLocks xmlns:a="http://schemas.openxmlformats.org/drawingml/2006/main" noGrp="1"/>
          </p:cNvSpPr>
          <p:nvPr/>
        </p:nvSpPr>
        <p:spPr>
          <a:xfrm xmlns:a="http://schemas.openxmlformats.org/drawingml/2006/main">
            <a:off x="609600" y="4572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Private Dictation</a:t>
            </a:r>
          </a:p>
        </p:txBody>
      </p:sp>
      <p:sp>
        <p:nvSpPr>
          <p:cNvPr id="11" name="">
            <a:extLst xmlns:a="http://schemas.openxmlformats.org/drawingml/2006/main">
              <a:ext uri="{FF2B5EF4-FFF2-40B4-BE49-F238E27FC236}">
                <a16:creationId xmlns:a16="http://schemas.microsoft.com/office/drawing/2014/main" id="{C63F83D5-C9A1-4492-81E6-06BF016AA510}"/>
              </a:ext>
            </a:extLst>
          </p:cNvPr>
          <p:cNvSpPr>
            <a:spLocks xmlns:a="http://schemas.openxmlformats.org/drawingml/2006/main" noGrp="1"/>
          </p:cNvSpPr>
          <p:nvPr/>
        </p:nvSpPr>
        <p:spPr>
          <a:xfrm xmlns:a="http://schemas.openxmlformats.org/drawingml/2006/main">
            <a:off x="2705100" y="45720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No transcript or recovery audio is retained.</a:t>
            </a:r>
          </a:p>
        </p:txBody>
      </p:sp>
      <p:sp>
        <p:nvSpPr>
          <p:cNvPr id="12" name="anim-4-privacy">
            <a:extLst xmlns:a="http://schemas.openxmlformats.org/drawingml/2006/main">
              <a:ext uri="{FF2B5EF4-FFF2-40B4-BE49-F238E27FC236}">
                <a16:creationId xmlns:a16="http://schemas.microsoft.com/office/drawing/2014/main" id="{A3A1F295-5016-468A-A6C3-0052C6C73D22}"/>
              </a:ext>
            </a:extLst>
          </p:cNvPr>
          <p:cNvSpPr>
            <a:spLocks xmlns:a="http://schemas.openxmlformats.org/drawingml/2006/main" noGrp="1"/>
          </p:cNvSpPr>
          <p:nvPr/>
        </p:nvSpPr>
        <p:spPr>
          <a:xfrm xmlns:a="http://schemas.openxmlformats.org/drawingml/2006/main">
            <a:off x="609600" y="5257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7667F2"/>
                </a:solidFill>
                <a:latin typeface="Avenir Next"/>
                <a:ea typeface="Avenir Next"/>
                <a:cs typeface="Avenir Next"/>
              </a:defRPr>
            </a:pPr>
            <a:r>
              <a:rPr sz="1575" b="1" i="0">
                <a:solidFill>
                  <a:srgbClr val="7667F2"/>
                </a:solidFill>
                <a:latin typeface="Avenir Next"/>
                <a:ea typeface="Avenir Next"/>
                <a:cs typeface="Avenir Next"/>
              </a:rPr>
              <a:t>Optional cloud</a:t>
            </a:r>
          </a:p>
        </p:txBody>
      </p:sp>
      <p:sp>
        <p:nvSpPr>
          <p:cNvPr id="13" name="">
            <a:extLst xmlns:a="http://schemas.openxmlformats.org/drawingml/2006/main">
              <a:ext uri="{FF2B5EF4-FFF2-40B4-BE49-F238E27FC236}">
                <a16:creationId xmlns:a16="http://schemas.microsoft.com/office/drawing/2014/main" id="{E01B2DCA-D534-4F1F-A09A-B396BD25BE68}"/>
              </a:ext>
            </a:extLst>
          </p:cNvPr>
          <p:cNvSpPr>
            <a:spLocks xmlns:a="http://schemas.openxmlformats.org/drawingml/2006/main" noGrp="1"/>
          </p:cNvSpPr>
          <p:nvPr/>
        </p:nvSpPr>
        <p:spPr>
          <a:xfrm xmlns:a="http://schemas.openxmlformats.org/drawingml/2006/main">
            <a:off x="2705100" y="52578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Only finished text + prompt is sent; never audio.</a:t>
            </a:r>
          </a:p>
        </p:txBody>
      </p:sp>
      <p:sp>
        <p:nvSpPr>
          <p:cNvPr id="14" name="">
            <a:extLst xmlns:a="http://schemas.openxmlformats.org/drawingml/2006/main">
              <a:ext uri="{FF2B5EF4-FFF2-40B4-BE49-F238E27FC236}">
                <a16:creationId xmlns:a16="http://schemas.microsoft.com/office/drawing/2014/main" id="{BB8EA94B-D05C-4FB1-B887-F34979E2511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5" name="">
            <a:extLst xmlns:a="http://schemas.openxmlformats.org/drawingml/2006/main">
              <a:ext uri="{FF2B5EF4-FFF2-40B4-BE49-F238E27FC236}">
                <a16:creationId xmlns:a16="http://schemas.microsoft.com/office/drawing/2014/main" id="{35AD77FD-4492-4A19-9E03-88CA6E92BAA9}"/>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6" name="">
            <a:extLst xmlns:a="http://schemas.openxmlformats.org/drawingml/2006/main">
              <a:ext uri="{FF2B5EF4-FFF2-40B4-BE49-F238E27FC236}">
                <a16:creationId xmlns:a16="http://schemas.microsoft.com/office/drawing/2014/main" id="{89E4F13A-5380-490A-A703-4BE846374F57}"/>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06</a:t>
            </a:r>
          </a:p>
        </p:txBody>
      </p:sp>
    </p:spTree>
    <p:extLst>
      <p:ext uri="{BB962C8B-B14F-4D97-AF65-F5344CB8AC3E}">
        <p14:creationId xmlns:p14="http://schemas.microsoft.com/office/powerpoint/2010/main" val="775030026"/>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12"/>
                                        </p:tgtEl>
                                      </p:cBhvr>
                                    </p:animEffect>
                                  </p:childTnLst>
                                </p:cTn>
                              </p:par>
                            </p:childTnLst>
                          </p:cTn>
                        </p:par>
                      </p:childTnLst>
                    </p:cTn>
                  </p:par>
                </p:childTnLst>
              </p:cTn>
            </p:seq>
          </p:childTnLst>
        </p:cTn>
      </p:par>
    </p:tnLst>
  </p:timing>
</p:sld>
</file>

<file path=ppt/slides/slide7.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5658E2-68DE-4DB9-88E8-D6FCF0B1F775}"/>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07  /  PERSONALIZATION</a:t>
            </a:r>
          </a:p>
        </p:txBody>
      </p:sp>
      <p:sp>
        <p:nvSpPr>
          <p:cNvPr id="2" name="">
            <a:extLst xmlns:a="http://schemas.openxmlformats.org/drawingml/2006/main">
              <a:ext uri="{FF2B5EF4-FFF2-40B4-BE49-F238E27FC236}">
                <a16:creationId xmlns:a16="http://schemas.microsoft.com/office/drawing/2014/main" id="{3A8FC99B-A8CB-4E54-8B29-3C90593A157F}"/>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Voice becomes usable text in three stages.</a:t>
            </a:r>
          </a:p>
        </p:txBody>
      </p:sp>
      <p:sp>
        <p:nvSpPr>
          <p:cNvPr id="3" name="">
            <a:extLst xmlns:a="http://schemas.openxmlformats.org/drawingml/2006/main">
              <a:ext uri="{FF2B5EF4-FFF2-40B4-BE49-F238E27FC236}">
                <a16:creationId xmlns:a16="http://schemas.microsoft.com/office/drawing/2014/main" id="{D0050A3C-CEDE-47BC-8A9F-E9A390A4FB8E}"/>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Raw speech enters. Local rules improve it. Ready text returns to the focused app.</a:t>
            </a:r>
          </a:p>
        </p:txBody>
      </p:sp>
      <p:sp>
        <p:nvSpPr>
          <p:cNvPr id="4" name="">
            <a:extLst xmlns:a="http://schemas.openxmlformats.org/drawingml/2006/main">
              <a:ext uri="{FF2B5EF4-FFF2-40B4-BE49-F238E27FC236}">
                <a16:creationId xmlns:a16="http://schemas.microsoft.com/office/drawing/2014/main" id="{7FEA07F0-FA45-4321-BB51-D20808DE5BD5}"/>
              </a:ext>
            </a:extLst>
          </p:cNvPr>
          <p:cNvSpPr>
            <a:spLocks xmlns:a="http://schemas.openxmlformats.org/drawingml/2006/main" noGrp="1"/>
          </p:cNvSpPr>
          <p:nvPr/>
        </p:nvSpPr>
        <p:spPr>
          <a:xfrm xmlns:a="http://schemas.openxmlformats.org/drawingml/2006/main">
            <a:off x="7867650" y="4114800"/>
            <a:ext cx="57150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5" name="">
            <a:extLst xmlns:a="http://schemas.openxmlformats.org/drawingml/2006/main">
              <a:ext uri="{FF2B5EF4-FFF2-40B4-BE49-F238E27FC236}">
                <a16:creationId xmlns:a16="http://schemas.microsoft.com/office/drawing/2014/main" id="{E497E3A5-25C7-4BAF-AB29-E7B60C5CDAF6}"/>
              </a:ext>
            </a:extLst>
          </p:cNvPr>
          <p:cNvSpPr>
            <a:spLocks xmlns:a="http://schemas.openxmlformats.org/drawingml/2006/main" noGrp="1"/>
          </p:cNvSpPr>
          <p:nvPr/>
        </p:nvSpPr>
        <p:spPr>
          <a:xfrm xmlns:a="http://schemas.openxmlformats.org/drawingml/2006/main">
            <a:off x="609600" y="33528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96909A"/>
                </a:solidFill>
                <a:latin typeface="Avenir Next"/>
                <a:ea typeface="Avenir Next"/>
                <a:cs typeface="Avenir Next"/>
              </a:defRPr>
            </a:pPr>
            <a:r>
              <a:rPr sz="1050" b="1" i="0">
                <a:solidFill>
                  <a:srgbClr val="96909A"/>
                </a:solidFill>
                <a:latin typeface="Avenir Next"/>
                <a:ea typeface="Avenir Next"/>
                <a:cs typeface="Avenir Next"/>
              </a:rPr>
              <a:t>RAW VOICE</a:t>
            </a:r>
          </a:p>
        </p:txBody>
      </p:sp>
      <p:sp>
        <p:nvSpPr>
          <p:cNvPr id="6" name="anim-1-before">
            <a:extLst xmlns:a="http://schemas.openxmlformats.org/drawingml/2006/main">
              <a:ext uri="{FF2B5EF4-FFF2-40B4-BE49-F238E27FC236}">
                <a16:creationId xmlns:a16="http://schemas.microsoft.com/office/drawing/2014/main" id="{01198A5D-3B5E-443F-B025-EED5E9F9292E}"/>
              </a:ext>
            </a:extLst>
          </p:cNvPr>
          <p:cNvSpPr>
            <a:spLocks xmlns:a="http://schemas.openxmlformats.org/drawingml/2006/main" noGrp="1"/>
          </p:cNvSpPr>
          <p:nvPr/>
        </p:nvSpPr>
        <p:spPr>
          <a:xfrm xmlns:a="http://schemas.openxmlformats.org/drawingml/2006/main">
            <a:off x="609600" y="377190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i="1">
                <a:solidFill>
                  <a:srgbClr val="96909A"/>
                </a:solidFill>
                <a:latin typeface="Avenir Next"/>
                <a:ea typeface="Avenir Next"/>
                <a:cs typeface="Avenir Next"/>
              </a:defRPr>
            </a:pPr>
            <a:r>
              <a:rPr sz="2100" b="0" i="1">
                <a:solidFill>
                  <a:srgbClr val="96909A"/>
                </a:solidFill>
                <a:latin typeface="Avenir Next"/>
                <a:ea typeface="Avenir Next"/>
                <a:cs typeface="Avenir Next"/>
              </a:rPr>
              <a:t>send the report to yash after lunch</a:t>
            </a:r>
          </a:p>
        </p:txBody>
      </p:sp>
      <p:sp>
        <p:nvSpPr>
          <p:cNvPr id="7" name="">
            <a:extLst xmlns:a="http://schemas.openxmlformats.org/drawingml/2006/main">
              <a:ext uri="{FF2B5EF4-FFF2-40B4-BE49-F238E27FC236}">
                <a16:creationId xmlns:a16="http://schemas.microsoft.com/office/drawing/2014/main" id="{6978390E-F61D-4F3E-AE18-B8C489FE0CC2}"/>
              </a:ext>
            </a:extLst>
          </p:cNvPr>
          <p:cNvSpPr>
            <a:spLocks xmlns:a="http://schemas.openxmlformats.org/drawingml/2006/main" noGrp="1"/>
          </p:cNvSpPr>
          <p:nvPr/>
        </p:nvSpPr>
        <p:spPr>
          <a:xfrm xmlns:a="http://schemas.openxmlformats.org/drawingml/2006/main">
            <a:off x="3714750" y="4114800"/>
            <a:ext cx="60960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8" name="">
            <a:extLst xmlns:a="http://schemas.openxmlformats.org/drawingml/2006/main">
              <a:ext uri="{FF2B5EF4-FFF2-40B4-BE49-F238E27FC236}">
                <a16:creationId xmlns:a16="http://schemas.microsoft.com/office/drawing/2014/main" id="{1FAF99E8-C374-4E79-8B96-923F77A2260C}"/>
              </a:ext>
            </a:extLst>
          </p:cNvPr>
          <p:cNvSpPr>
            <a:spLocks xmlns:a="http://schemas.openxmlformats.org/drawingml/2006/main" noGrp="1"/>
          </p:cNvSpPr>
          <p:nvPr/>
        </p:nvSpPr>
        <p:spPr>
          <a:xfrm xmlns:a="http://schemas.openxmlformats.org/drawingml/2006/main">
            <a:off x="8572500" y="3352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READY TEXT</a:t>
            </a:r>
          </a:p>
        </p:txBody>
      </p:sp>
      <p:sp>
        <p:nvSpPr>
          <p:cNvPr id="9" name="anim-2-after">
            <a:extLst xmlns:a="http://schemas.openxmlformats.org/drawingml/2006/main">
              <a:ext uri="{FF2B5EF4-FFF2-40B4-BE49-F238E27FC236}">
                <a16:creationId xmlns:a16="http://schemas.microsoft.com/office/drawing/2014/main" id="{53D3EBCA-029D-47E5-9814-1945F4AF04D8}"/>
              </a:ext>
            </a:extLst>
          </p:cNvPr>
          <p:cNvSpPr>
            <a:spLocks xmlns:a="http://schemas.openxmlformats.org/drawingml/2006/main" noGrp="1"/>
          </p:cNvSpPr>
          <p:nvPr/>
        </p:nvSpPr>
        <p:spPr>
          <a:xfrm xmlns:a="http://schemas.openxmlformats.org/drawingml/2006/main">
            <a:off x="8324850" y="3771900"/>
            <a:ext cx="3105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2100" b="1" i="0">
                <a:solidFill>
                  <a:srgbClr val="F7F4EF"/>
                </a:solidFill>
                <a:latin typeface="Avenir Next"/>
                <a:ea typeface="Avenir Next"/>
                <a:cs typeface="Avenir Next"/>
              </a:defRPr>
            </a:pPr>
            <a:r>
              <a:rPr sz="2100" b="1" i="0">
                <a:solidFill>
                  <a:srgbClr val="F7F4EF"/>
                </a:solidFill>
                <a:latin typeface="Avenir Next"/>
                <a:ea typeface="Avenir Next"/>
                <a:cs typeface="Avenir Next"/>
              </a:rPr>
              <a:t>Send the report to Yash after lunch.</a:t>
            </a:r>
          </a:p>
        </p:txBody>
      </p:sp>
      <p:sp>
        <p:nvSpPr>
          <p:cNvPr id="10" name="">
            <a:extLst xmlns:a="http://schemas.openxmlformats.org/drawingml/2006/main">
              <a:ext uri="{FF2B5EF4-FFF2-40B4-BE49-F238E27FC236}">
                <a16:creationId xmlns:a16="http://schemas.microsoft.com/office/drawing/2014/main" id="{6F0E7874-3A64-4B7B-8D22-D778DFE3AF47}"/>
              </a:ext>
            </a:extLst>
          </p:cNvPr>
          <p:cNvSpPr>
            <a:spLocks xmlns:a="http://schemas.openxmlformats.org/drawingml/2006/main" noGrp="1"/>
          </p:cNvSpPr>
          <p:nvPr/>
        </p:nvSpPr>
        <p:spPr>
          <a:xfrm xmlns:a="http://schemas.openxmlformats.org/drawingml/2006/main">
            <a:off x="4324350" y="3105150"/>
            <a:ext cx="3543300" cy="2190750"/>
          </a:xfrm>
          <a:prstGeom xmlns:a="http://schemas.openxmlformats.org/drawingml/2006/main" prst="roundRect">
            <a:avLst>
              <a:gd name="adj" fmla="val 10084"/>
            </a:avLst>
          </a:prstGeom>
          <a:solidFill xmlns:a="http://schemas.openxmlformats.org/drawingml/2006/main">
            <a:srgbClr val="17171E"/>
          </a:solidFill>
          <a:ln xmlns:a="http://schemas.openxmlformats.org/drawingml/2006/main" w="9525">
            <a:solidFill>
              <a:srgbClr val="36333E"/>
            </a:solidFill>
            <a:prstDash val="solid"/>
          </a:ln>
        </p:spPr>
      </p:sp>
      <p:sp>
        <p:nvSpPr>
          <p:cNvPr id="11" name="anim-3-intelligence">
            <a:extLst xmlns:a="http://schemas.openxmlformats.org/drawingml/2006/main">
              <a:ext uri="{FF2B5EF4-FFF2-40B4-BE49-F238E27FC236}">
                <a16:creationId xmlns:a16="http://schemas.microsoft.com/office/drawing/2014/main" id="{BC103B18-67E2-4DC3-8F67-C17252A75D5C}"/>
              </a:ext>
            </a:extLst>
          </p:cNvPr>
          <p:cNvSpPr>
            <a:spLocks xmlns:a="http://schemas.openxmlformats.org/drawingml/2006/main" noGrp="1"/>
          </p:cNvSpPr>
          <p:nvPr/>
        </p:nvSpPr>
        <p:spPr>
          <a:xfrm xmlns:a="http://schemas.openxmlformats.org/drawingml/2006/main">
            <a:off x="4667250" y="3467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7667F2"/>
                </a:solidFill>
                <a:latin typeface="Avenir Next"/>
                <a:ea typeface="Avenir Next"/>
                <a:cs typeface="Avenir Next"/>
              </a:defRPr>
            </a:pPr>
            <a:r>
              <a:rPr sz="1725" b="1" i="0">
                <a:solidFill>
                  <a:srgbClr val="7667F2"/>
                </a:solidFill>
                <a:latin typeface="Avenir Next"/>
                <a:ea typeface="Avenir Next"/>
                <a:cs typeface="Avenir Next"/>
              </a:rPr>
              <a:t>LOCAL INTELLIGENCE</a:t>
            </a:r>
          </a:p>
        </p:txBody>
      </p:sp>
      <p:sp>
        <p:nvSpPr>
          <p:cNvPr id="12" name="">
            <a:extLst xmlns:a="http://schemas.openxmlformats.org/drawingml/2006/main">
              <a:ext uri="{FF2B5EF4-FFF2-40B4-BE49-F238E27FC236}">
                <a16:creationId xmlns:a16="http://schemas.microsoft.com/office/drawing/2014/main" id="{5762A269-9C26-4476-A03E-D078D6219667}"/>
              </a:ext>
            </a:extLst>
          </p:cNvPr>
          <p:cNvSpPr>
            <a:spLocks xmlns:a="http://schemas.openxmlformats.org/drawingml/2006/main" noGrp="1"/>
          </p:cNvSpPr>
          <p:nvPr/>
        </p:nvSpPr>
        <p:spPr>
          <a:xfrm xmlns:a="http://schemas.openxmlformats.org/drawingml/2006/main">
            <a:off x="4667250" y="39814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Clean formatting</a:t>
            </a:r>
          </a:p>
          <a:p xmlns:a="http://schemas.openxmlformats.org/drawingml/2006/main">
            <a:pPr algn="ct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Encrypted correction rules</a:t>
            </a:r>
          </a:p>
          <a:p xmlns:a="http://schemas.openxmlformats.org/drawingml/2006/main">
            <a:pPr algn="ct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Memory-only context</a:t>
            </a:r>
          </a:p>
        </p:txBody>
      </p:sp>
      <p:sp>
        <p:nvSpPr>
          <p:cNvPr id="13" name="">
            <a:extLst xmlns:a="http://schemas.openxmlformats.org/drawingml/2006/main">
              <a:ext uri="{FF2B5EF4-FFF2-40B4-BE49-F238E27FC236}">
                <a16:creationId xmlns:a16="http://schemas.microsoft.com/office/drawing/2014/main" id="{B3D5B361-DF72-4913-AB75-8DE36F93BE07}"/>
              </a:ext>
            </a:extLst>
          </p:cNvPr>
          <p:cNvSpPr>
            <a:spLocks xmlns:a="http://schemas.openxmlformats.org/drawingml/2006/main" noGrp="1"/>
          </p:cNvSpPr>
          <p:nvPr/>
        </p:nvSpPr>
        <p:spPr>
          <a:xfrm xmlns:a="http://schemas.openxmlformats.org/drawingml/2006/main">
            <a:off x="800100" y="58102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0C47C"/>
                </a:solidFill>
                <a:latin typeface="Avenir Next"/>
                <a:ea typeface="Avenir Next"/>
                <a:cs typeface="Avenir Next"/>
              </a:defRPr>
            </a:pPr>
            <a:r>
              <a:rPr sz="1650" b="1" i="0">
                <a:solidFill>
                  <a:srgbClr val="F0C47C"/>
                </a:solidFill>
                <a:latin typeface="Avenir Next"/>
                <a:ea typeface="Avenir Next"/>
                <a:cs typeface="Avenir Next"/>
              </a:rPr>
              <a:t>Language patterns improve the result. The user remains in control of what is stored.</a:t>
            </a:r>
          </a:p>
        </p:txBody>
      </p:sp>
      <p:sp>
        <p:nvSpPr>
          <p:cNvPr id="14" name="">
            <a:extLst xmlns:a="http://schemas.openxmlformats.org/drawingml/2006/main">
              <a:ext uri="{FF2B5EF4-FFF2-40B4-BE49-F238E27FC236}">
                <a16:creationId xmlns:a16="http://schemas.microsoft.com/office/drawing/2014/main" id="{D2C91B5B-B3BB-4230-9A59-364CCF969D70}"/>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5" name="">
            <a:extLst xmlns:a="http://schemas.openxmlformats.org/drawingml/2006/main">
              <a:ext uri="{FF2B5EF4-FFF2-40B4-BE49-F238E27FC236}">
                <a16:creationId xmlns:a16="http://schemas.microsoft.com/office/drawing/2014/main" id="{5CA036C0-DABB-4C73-AAE3-5459BD82095C}"/>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6" name="">
            <a:extLst xmlns:a="http://schemas.openxmlformats.org/drawingml/2006/main">
              <a:ext uri="{FF2B5EF4-FFF2-40B4-BE49-F238E27FC236}">
                <a16:creationId xmlns:a16="http://schemas.microsoft.com/office/drawing/2014/main" id="{C8C2F59E-23E4-4F38-9AE8-04A47FD32C82}"/>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07</a:t>
            </a:r>
          </a:p>
        </p:txBody>
      </p:sp>
    </p:spTree>
    <p:extLst>
      <p:ext uri="{BB962C8B-B14F-4D97-AF65-F5344CB8AC3E}">
        <p14:creationId xmlns:p14="http://schemas.microsoft.com/office/powerpoint/2010/main" val="1230875277"/>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8.xml><?xml version="1.0" encoding="utf-8"?>
<p:sld xmlns:p="http://schemas.openxmlformats.org/presentationml/2006/main">
  <p:cSld>
    <p:bg>
      <p:bgPr>
        <a:gradFill xmlns:a="http://schemas.openxmlformats.org/drawingml/2006/main">
          <a:gsLst>
            <a:gs pos="0">
              <a:srgbClr val="08080A"/>
            </a:gs>
            <a:gs pos="52000">
              <a:srgbClr val="15121B"/>
            </a:gs>
            <a:gs pos="100000">
              <a:srgbClr val="08080A"/>
            </a:gs>
          </a:gsLst>
          <a:lin ang="8100000"/>
        </a:gra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0EA5BC2-812C-4DAB-986E-755E7A8A916F}"/>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08  /  ARCHITECTURE</a:t>
            </a:r>
          </a:p>
        </p:txBody>
      </p:sp>
      <p:sp>
        <p:nvSpPr>
          <p:cNvPr id="2" name="">
            <a:extLst xmlns:a="http://schemas.openxmlformats.org/drawingml/2006/main">
              <a:ext uri="{FF2B5EF4-FFF2-40B4-BE49-F238E27FC236}">
                <a16:creationId xmlns:a16="http://schemas.microsoft.com/office/drawing/2014/main" id="{BC1833BD-5C7B-401A-A199-0C2E403FA15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Architecture: everything orbits a local core.</a:t>
            </a:r>
          </a:p>
        </p:txBody>
      </p:sp>
      <p:sp>
        <p:nvSpPr>
          <p:cNvPr id="3" name="">
            <a:extLst xmlns:a="http://schemas.openxmlformats.org/drawingml/2006/main">
              <a:ext uri="{FF2B5EF4-FFF2-40B4-BE49-F238E27FC236}">
                <a16:creationId xmlns:a16="http://schemas.microsoft.com/office/drawing/2014/main" id="{41E70BBD-96F4-4264-A624-10094629051E}"/>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engine is central; input, cleanup, insertion, and storage remain controlled by the app.</a:t>
            </a:r>
          </a:p>
        </p:txBody>
      </p:sp>
      <p:sp>
        <p:nvSpPr>
          <p:cNvPr id="4" name="">
            <a:extLst xmlns:a="http://schemas.openxmlformats.org/drawingml/2006/main">
              <a:ext uri="{FF2B5EF4-FFF2-40B4-BE49-F238E27FC236}">
                <a16:creationId xmlns:a16="http://schemas.microsoft.com/office/drawing/2014/main" id="{DA4DB4DD-7429-4787-A70E-1370AAE79D67}"/>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CFB90C4B-0BBD-43C5-B51F-6F16E049DA5A}"/>
              </a:ext>
            </a:extLst>
          </p:cNvPr>
          <p:cNvSpPr>
            <a:spLocks xmlns:a="http://schemas.openxmlformats.org/drawingml/2006/main" noGrp="1"/>
          </p:cNvSpPr>
          <p:nvPr/>
        </p:nvSpPr>
        <p:spPr>
          <a:xfrm xmlns:a="http://schemas.openxmlformats.org/drawingml/2006/main" rot="0">
            <a:off x="2324100" y="3981450"/>
            <a:ext cx="23812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6" name="">
            <a:extLst xmlns:a="http://schemas.openxmlformats.org/drawingml/2006/main">
              <a:ext uri="{FF2B5EF4-FFF2-40B4-BE49-F238E27FC236}">
                <a16:creationId xmlns:a16="http://schemas.microsoft.com/office/drawing/2014/main" id="{878F1799-8F24-4130-A515-862CA54FA784}"/>
              </a:ext>
            </a:extLst>
          </p:cNvPr>
          <p:cNvSpPr>
            <a:spLocks xmlns:a="http://schemas.openxmlformats.org/drawingml/2006/main" noGrp="1"/>
          </p:cNvSpPr>
          <p:nvPr/>
        </p:nvSpPr>
        <p:spPr>
          <a:xfrm xmlns:a="http://schemas.openxmlformats.org/drawingml/2006/main" rot="2700000">
            <a:off x="4248150" y="3638550"/>
            <a:ext cx="68580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7" name="">
            <a:extLst xmlns:a="http://schemas.openxmlformats.org/drawingml/2006/main">
              <a:ext uri="{FF2B5EF4-FFF2-40B4-BE49-F238E27FC236}">
                <a16:creationId xmlns:a16="http://schemas.microsoft.com/office/drawing/2014/main" id="{BB2202B0-3D08-41D7-8032-B229EF9F0B5E}"/>
              </a:ext>
            </a:extLst>
          </p:cNvPr>
          <p:cNvSpPr>
            <a:spLocks xmlns:a="http://schemas.openxmlformats.org/drawingml/2006/main" noGrp="1"/>
          </p:cNvSpPr>
          <p:nvPr/>
        </p:nvSpPr>
        <p:spPr>
          <a:xfrm xmlns:a="http://schemas.openxmlformats.org/drawingml/2006/main" rot="8100000">
            <a:off x="7258050" y="3638550"/>
            <a:ext cx="68580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8" name="">
            <a:extLst xmlns:a="http://schemas.openxmlformats.org/drawingml/2006/main">
              <a:ext uri="{FF2B5EF4-FFF2-40B4-BE49-F238E27FC236}">
                <a16:creationId xmlns:a16="http://schemas.microsoft.com/office/drawing/2014/main" id="{F414F40D-E124-4F82-A298-F41CB9BFE9C9}"/>
              </a:ext>
            </a:extLst>
          </p:cNvPr>
          <p:cNvSpPr>
            <a:spLocks xmlns:a="http://schemas.openxmlformats.org/drawingml/2006/main" noGrp="1"/>
          </p:cNvSpPr>
          <p:nvPr/>
        </p:nvSpPr>
        <p:spPr>
          <a:xfrm xmlns:a="http://schemas.openxmlformats.org/drawingml/2006/main" rot="0">
            <a:off x="7334250" y="3981450"/>
            <a:ext cx="25336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9" name="">
            <a:extLst xmlns:a="http://schemas.openxmlformats.org/drawingml/2006/main">
              <a:ext uri="{FF2B5EF4-FFF2-40B4-BE49-F238E27FC236}">
                <a16:creationId xmlns:a16="http://schemas.microsoft.com/office/drawing/2014/main" id="{CADE0F7E-ADA6-4CE5-A7D9-1850DA3D9EEB}"/>
              </a:ext>
            </a:extLst>
          </p:cNvPr>
          <p:cNvSpPr>
            <a:spLocks xmlns:a="http://schemas.openxmlformats.org/drawingml/2006/main" noGrp="1"/>
          </p:cNvSpPr>
          <p:nvPr/>
        </p:nvSpPr>
        <p:spPr>
          <a:xfrm xmlns:a="http://schemas.openxmlformats.org/drawingml/2006/main">
            <a:off x="609600" y="3371850"/>
            <a:ext cx="1714500" cy="1524000"/>
          </a:xfrm>
          <a:prstGeom xmlns:a="http://schemas.openxmlformats.org/drawingml/2006/main" prst="roundRect">
            <a:avLst>
              <a:gd name="adj" fmla="val 12644"/>
            </a:avLst>
          </a:prstGeom>
          <a:noFill xmlns:a="http://schemas.openxmlformats.org/drawingml/2006/main"/>
          <a:ln xmlns:a="http://schemas.openxmlformats.org/drawingml/2006/main" w="9525">
            <a:solidFill>
              <a:srgbClr val="D7A75E"/>
            </a:solidFill>
            <a:prstDash val="solid"/>
          </a:ln>
        </p:spPr>
      </p:sp>
      <p:sp>
        <p:nvSpPr>
          <p:cNvPr id="10" name="">
            <a:extLst xmlns:a="http://schemas.openxmlformats.org/drawingml/2006/main">
              <a:ext uri="{FF2B5EF4-FFF2-40B4-BE49-F238E27FC236}">
                <a16:creationId xmlns:a16="http://schemas.microsoft.com/office/drawing/2014/main" id="{1B1E08E1-9C7C-4441-8AF2-6792F278CF20}"/>
              </a:ext>
            </a:extLst>
          </p:cNvPr>
          <p:cNvSpPr>
            <a:spLocks xmlns:a="http://schemas.openxmlformats.org/drawingml/2006/main" noGrp="1"/>
          </p:cNvSpPr>
          <p:nvPr/>
        </p:nvSpPr>
        <p:spPr>
          <a:xfrm xmlns:a="http://schemas.openxmlformats.org/drawingml/2006/main">
            <a:off x="781050" y="3543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01</a:t>
            </a:r>
          </a:p>
        </p:txBody>
      </p:sp>
      <p:sp>
        <p:nvSpPr>
          <p:cNvPr id="11" name="anim-1-stage">
            <a:extLst xmlns:a="http://schemas.openxmlformats.org/drawingml/2006/main">
              <a:ext uri="{FF2B5EF4-FFF2-40B4-BE49-F238E27FC236}">
                <a16:creationId xmlns:a16="http://schemas.microsoft.com/office/drawing/2014/main" id="{E6559327-CD66-46C3-A1EB-996DC47BB6B7}"/>
              </a:ext>
            </a:extLst>
          </p:cNvPr>
          <p:cNvSpPr>
            <a:spLocks xmlns:a="http://schemas.openxmlformats.org/drawingml/2006/main" noGrp="1"/>
          </p:cNvSpPr>
          <p:nvPr/>
        </p:nvSpPr>
        <p:spPr>
          <a:xfrm xmlns:a="http://schemas.openxmlformats.org/drawingml/2006/main">
            <a:off x="781050" y="38100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Shortcut</a:t>
            </a:r>
          </a:p>
        </p:txBody>
      </p:sp>
      <p:sp>
        <p:nvSpPr>
          <p:cNvPr id="12" name="">
            <a:extLst xmlns:a="http://schemas.openxmlformats.org/drawingml/2006/main">
              <a:ext uri="{FF2B5EF4-FFF2-40B4-BE49-F238E27FC236}">
                <a16:creationId xmlns:a16="http://schemas.microsoft.com/office/drawing/2014/main" id="{AA57D6F9-6542-4DE3-BE94-3FDF38975F64}"/>
              </a:ext>
            </a:extLst>
          </p:cNvPr>
          <p:cNvSpPr>
            <a:spLocks xmlns:a="http://schemas.openxmlformats.org/drawingml/2006/main" noGrp="1"/>
          </p:cNvSpPr>
          <p:nvPr/>
        </p:nvSpPr>
        <p:spPr>
          <a:xfrm xmlns:a="http://schemas.openxmlformats.org/drawingml/2006/main">
            <a:off x="781050" y="42672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Global hotkey</a:t>
            </a:r>
          </a:p>
        </p:txBody>
      </p:sp>
      <p:sp>
        <p:nvSpPr>
          <p:cNvPr id="13" name="">
            <a:extLst xmlns:a="http://schemas.openxmlformats.org/drawingml/2006/main">
              <a:ext uri="{FF2B5EF4-FFF2-40B4-BE49-F238E27FC236}">
                <a16:creationId xmlns:a16="http://schemas.microsoft.com/office/drawing/2014/main" id="{C9332D6D-EEDE-40AF-AAD8-5CECC0EAFFDB}"/>
              </a:ext>
            </a:extLst>
          </p:cNvPr>
          <p:cNvSpPr>
            <a:spLocks xmlns:a="http://schemas.openxmlformats.org/drawingml/2006/main" noGrp="1"/>
          </p:cNvSpPr>
          <p:nvPr/>
        </p:nvSpPr>
        <p:spPr>
          <a:xfrm xmlns:a="http://schemas.openxmlformats.org/drawingml/2006/main">
            <a:off x="2857500" y="2762250"/>
            <a:ext cx="1714500" cy="1524000"/>
          </a:xfrm>
          <a:prstGeom xmlns:a="http://schemas.openxmlformats.org/drawingml/2006/main" prst="roundRect">
            <a:avLst>
              <a:gd name="adj" fmla="val 12644"/>
            </a:avLst>
          </a:prstGeom>
          <a:noFill xmlns:a="http://schemas.openxmlformats.org/drawingml/2006/main"/>
          <a:ln xmlns:a="http://schemas.openxmlformats.org/drawingml/2006/main" w="9525">
            <a:solidFill>
              <a:srgbClr val="4B9CF5"/>
            </a:solidFill>
            <a:prstDash val="solid"/>
          </a:ln>
        </p:spPr>
      </p:sp>
      <p:sp>
        <p:nvSpPr>
          <p:cNvPr id="14" name="">
            <a:extLst xmlns:a="http://schemas.openxmlformats.org/drawingml/2006/main">
              <a:ext uri="{FF2B5EF4-FFF2-40B4-BE49-F238E27FC236}">
                <a16:creationId xmlns:a16="http://schemas.microsoft.com/office/drawing/2014/main" id="{26DB71B9-5821-4D74-AF78-4EE7A1581EFE}"/>
              </a:ext>
            </a:extLst>
          </p:cNvPr>
          <p:cNvSpPr>
            <a:spLocks xmlns:a="http://schemas.openxmlformats.org/drawingml/2006/main" noGrp="1"/>
          </p:cNvSpPr>
          <p:nvPr/>
        </p:nvSpPr>
        <p:spPr>
          <a:xfrm xmlns:a="http://schemas.openxmlformats.org/drawingml/2006/main">
            <a:off x="3028950" y="29337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4B9CF5"/>
                </a:solidFill>
                <a:latin typeface="Avenir Next"/>
                <a:ea typeface="Avenir Next"/>
                <a:cs typeface="Avenir Next"/>
              </a:defRPr>
            </a:pPr>
            <a:r>
              <a:rPr sz="975" b="1" i="0">
                <a:solidFill>
                  <a:srgbClr val="4B9CF5"/>
                </a:solidFill>
                <a:latin typeface="Avenir Next"/>
                <a:ea typeface="Avenir Next"/>
                <a:cs typeface="Avenir Next"/>
              </a:rPr>
              <a:t>02</a:t>
            </a:r>
          </a:p>
        </p:txBody>
      </p:sp>
      <p:sp>
        <p:nvSpPr>
          <p:cNvPr id="15" name="anim-2-stage">
            <a:extLst xmlns:a="http://schemas.openxmlformats.org/drawingml/2006/main">
              <a:ext uri="{FF2B5EF4-FFF2-40B4-BE49-F238E27FC236}">
                <a16:creationId xmlns:a16="http://schemas.microsoft.com/office/drawing/2014/main" id="{462F8321-0ACD-471A-A10A-2C99E9FB0A67}"/>
              </a:ext>
            </a:extLst>
          </p:cNvPr>
          <p:cNvSpPr>
            <a:spLocks xmlns:a="http://schemas.openxmlformats.org/drawingml/2006/main" noGrp="1"/>
          </p:cNvSpPr>
          <p:nvPr/>
        </p:nvSpPr>
        <p:spPr>
          <a:xfrm xmlns:a="http://schemas.openxmlformats.org/drawingml/2006/main">
            <a:off x="3028950" y="32004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Mic</a:t>
            </a:r>
          </a:p>
        </p:txBody>
      </p:sp>
      <p:sp>
        <p:nvSpPr>
          <p:cNvPr id="16" name="">
            <a:extLst xmlns:a="http://schemas.openxmlformats.org/drawingml/2006/main">
              <a:ext uri="{FF2B5EF4-FFF2-40B4-BE49-F238E27FC236}">
                <a16:creationId xmlns:a16="http://schemas.microsoft.com/office/drawing/2014/main" id="{101F83E4-226B-4C76-8D58-FA8629BC6981}"/>
              </a:ext>
            </a:extLst>
          </p:cNvPr>
          <p:cNvSpPr>
            <a:spLocks xmlns:a="http://schemas.openxmlformats.org/drawingml/2006/main" noGrp="1"/>
          </p:cNvSpPr>
          <p:nvPr/>
        </p:nvSpPr>
        <p:spPr>
          <a:xfrm xmlns:a="http://schemas.openxmlformats.org/drawingml/2006/main">
            <a:off x="3028950" y="36576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16 kHz mono</a:t>
            </a:r>
          </a:p>
        </p:txBody>
      </p:sp>
      <p:sp>
        <p:nvSpPr>
          <p:cNvPr id="17" name="">
            <a:extLst xmlns:a="http://schemas.openxmlformats.org/drawingml/2006/main">
              <a:ext uri="{FF2B5EF4-FFF2-40B4-BE49-F238E27FC236}">
                <a16:creationId xmlns:a16="http://schemas.microsoft.com/office/drawing/2014/main" id="{007CA856-7C36-4E24-9876-C9D855D1802B}"/>
              </a:ext>
            </a:extLst>
          </p:cNvPr>
          <p:cNvSpPr>
            <a:spLocks xmlns:a="http://schemas.openxmlformats.org/drawingml/2006/main" noGrp="1"/>
          </p:cNvSpPr>
          <p:nvPr/>
        </p:nvSpPr>
        <p:spPr>
          <a:xfrm xmlns:a="http://schemas.openxmlformats.org/drawingml/2006/main">
            <a:off x="4857750" y="3295650"/>
            <a:ext cx="2476500" cy="1905000"/>
          </a:xfrm>
          <a:prstGeom xmlns:a="http://schemas.openxmlformats.org/drawingml/2006/main" prst="roundRect">
            <a:avLst>
              <a:gd name="adj" fmla="val 12644"/>
            </a:avLst>
          </a:prstGeom>
          <a:noFill xmlns:a="http://schemas.openxmlformats.org/drawingml/2006/main"/>
          <a:ln xmlns:a="http://schemas.openxmlformats.org/drawingml/2006/main" w="9525">
            <a:solidFill>
              <a:srgbClr val="7667F2"/>
            </a:solidFill>
            <a:prstDash val="solid"/>
          </a:ln>
        </p:spPr>
      </p:sp>
      <p:sp>
        <p:nvSpPr>
          <p:cNvPr id="18" name="">
            <a:extLst xmlns:a="http://schemas.openxmlformats.org/drawingml/2006/main">
              <a:ext uri="{FF2B5EF4-FFF2-40B4-BE49-F238E27FC236}">
                <a16:creationId xmlns:a16="http://schemas.microsoft.com/office/drawing/2014/main" id="{E64AAABB-C685-4864-A316-185D44E603CA}"/>
              </a:ext>
            </a:extLst>
          </p:cNvPr>
          <p:cNvSpPr>
            <a:spLocks xmlns:a="http://schemas.openxmlformats.org/drawingml/2006/main" noGrp="1"/>
          </p:cNvSpPr>
          <p:nvPr/>
        </p:nvSpPr>
        <p:spPr>
          <a:xfrm xmlns:a="http://schemas.openxmlformats.org/drawingml/2006/main">
            <a:off x="5029200" y="34671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7667F2"/>
                </a:solidFill>
                <a:latin typeface="Avenir Next"/>
                <a:ea typeface="Avenir Next"/>
                <a:cs typeface="Avenir Next"/>
              </a:defRPr>
            </a:pPr>
            <a:r>
              <a:rPr sz="975" b="1" i="0">
                <a:solidFill>
                  <a:srgbClr val="7667F2"/>
                </a:solidFill>
                <a:latin typeface="Avenir Next"/>
                <a:ea typeface="Avenir Next"/>
                <a:cs typeface="Avenir Next"/>
              </a:rPr>
              <a:t>03</a:t>
            </a:r>
          </a:p>
        </p:txBody>
      </p:sp>
      <p:sp>
        <p:nvSpPr>
          <p:cNvPr id="19" name="anim-3-stage">
            <a:extLst xmlns:a="http://schemas.openxmlformats.org/drawingml/2006/main">
              <a:ext uri="{FF2B5EF4-FFF2-40B4-BE49-F238E27FC236}">
                <a16:creationId xmlns:a16="http://schemas.microsoft.com/office/drawing/2014/main" id="{D134F5A3-5B78-480A-A7EE-204FCF98E997}"/>
              </a:ext>
            </a:extLst>
          </p:cNvPr>
          <p:cNvSpPr>
            <a:spLocks xmlns:a="http://schemas.openxmlformats.org/drawingml/2006/main" noGrp="1"/>
          </p:cNvSpPr>
          <p:nvPr/>
        </p:nvSpPr>
        <p:spPr>
          <a:xfrm xmlns:a="http://schemas.openxmlformats.org/drawingml/2006/main">
            <a:off x="5086350" y="37909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LOCAL AI CORE</a:t>
            </a:r>
          </a:p>
        </p:txBody>
      </p:sp>
      <p:sp>
        <p:nvSpPr>
          <p:cNvPr id="20" name="">
            <a:extLst xmlns:a="http://schemas.openxmlformats.org/drawingml/2006/main">
              <a:ext uri="{FF2B5EF4-FFF2-40B4-BE49-F238E27FC236}">
                <a16:creationId xmlns:a16="http://schemas.microsoft.com/office/drawing/2014/main" id="{E6EC36E9-417D-48D0-AA29-9B84BC82B178}"/>
              </a:ext>
            </a:extLst>
          </p:cNvPr>
          <p:cNvSpPr>
            <a:spLocks xmlns:a="http://schemas.openxmlformats.org/drawingml/2006/main" noGrp="1"/>
          </p:cNvSpPr>
          <p:nvPr/>
        </p:nvSpPr>
        <p:spPr>
          <a:xfrm xmlns:a="http://schemas.openxmlformats.org/drawingml/2006/main">
            <a:off x="5086350" y="430530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Whisper / Parakeet / Apple</a:t>
            </a:r>
          </a:p>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 model selection</a:t>
            </a:r>
          </a:p>
        </p:txBody>
      </p:sp>
      <p:sp>
        <p:nvSpPr>
          <p:cNvPr id="21" name="">
            <a:extLst xmlns:a="http://schemas.openxmlformats.org/drawingml/2006/main">
              <a:ext uri="{FF2B5EF4-FFF2-40B4-BE49-F238E27FC236}">
                <a16:creationId xmlns:a16="http://schemas.microsoft.com/office/drawing/2014/main" id="{32F7229D-B737-46FA-BC82-FE35FB25E44F}"/>
              </a:ext>
            </a:extLst>
          </p:cNvPr>
          <p:cNvSpPr>
            <a:spLocks xmlns:a="http://schemas.openxmlformats.org/drawingml/2006/main" noGrp="1"/>
          </p:cNvSpPr>
          <p:nvPr/>
        </p:nvSpPr>
        <p:spPr>
          <a:xfrm xmlns:a="http://schemas.openxmlformats.org/drawingml/2006/main">
            <a:off x="7620000" y="2762250"/>
            <a:ext cx="1714500" cy="1524000"/>
          </a:xfrm>
          <a:prstGeom xmlns:a="http://schemas.openxmlformats.org/drawingml/2006/main" prst="roundRect">
            <a:avLst>
              <a:gd name="adj" fmla="val 12644"/>
            </a:avLst>
          </a:prstGeom>
          <a:noFill xmlns:a="http://schemas.openxmlformats.org/drawingml/2006/main"/>
          <a:ln xmlns:a="http://schemas.openxmlformats.org/drawingml/2006/main" w="9525">
            <a:solidFill>
              <a:srgbClr val="52B788"/>
            </a:solidFill>
            <a:prstDash val="solid"/>
          </a:ln>
        </p:spPr>
      </p:sp>
      <p:sp>
        <p:nvSpPr>
          <p:cNvPr id="22" name="">
            <a:extLst xmlns:a="http://schemas.openxmlformats.org/drawingml/2006/main">
              <a:ext uri="{FF2B5EF4-FFF2-40B4-BE49-F238E27FC236}">
                <a16:creationId xmlns:a16="http://schemas.microsoft.com/office/drawing/2014/main" id="{7A5F0652-4C52-4577-9E47-01F28C6FB2C1}"/>
              </a:ext>
            </a:extLst>
          </p:cNvPr>
          <p:cNvSpPr>
            <a:spLocks xmlns:a="http://schemas.openxmlformats.org/drawingml/2006/main" noGrp="1"/>
          </p:cNvSpPr>
          <p:nvPr/>
        </p:nvSpPr>
        <p:spPr>
          <a:xfrm xmlns:a="http://schemas.openxmlformats.org/drawingml/2006/main">
            <a:off x="7791450" y="29337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52B788"/>
                </a:solidFill>
                <a:latin typeface="Avenir Next"/>
                <a:ea typeface="Avenir Next"/>
                <a:cs typeface="Avenir Next"/>
              </a:defRPr>
            </a:pPr>
            <a:r>
              <a:rPr sz="975" b="1" i="0">
                <a:solidFill>
                  <a:srgbClr val="52B788"/>
                </a:solidFill>
                <a:latin typeface="Avenir Next"/>
                <a:ea typeface="Avenir Next"/>
                <a:cs typeface="Avenir Next"/>
              </a:rPr>
              <a:t>04</a:t>
            </a:r>
          </a:p>
        </p:txBody>
      </p:sp>
      <p:sp>
        <p:nvSpPr>
          <p:cNvPr id="23" name="anim-4-stage">
            <a:extLst xmlns:a="http://schemas.openxmlformats.org/drawingml/2006/main">
              <a:ext uri="{FF2B5EF4-FFF2-40B4-BE49-F238E27FC236}">
                <a16:creationId xmlns:a16="http://schemas.microsoft.com/office/drawing/2014/main" id="{8E14403B-0335-4FEF-8532-DDEC94C8BB95}"/>
              </a:ext>
            </a:extLst>
          </p:cNvPr>
          <p:cNvSpPr>
            <a:spLocks xmlns:a="http://schemas.openxmlformats.org/drawingml/2006/main" noGrp="1"/>
          </p:cNvSpPr>
          <p:nvPr/>
        </p:nvSpPr>
        <p:spPr>
          <a:xfrm xmlns:a="http://schemas.openxmlformats.org/drawingml/2006/main">
            <a:off x="7791450" y="32004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Cleanup</a:t>
            </a:r>
          </a:p>
        </p:txBody>
      </p:sp>
      <p:sp>
        <p:nvSpPr>
          <p:cNvPr id="24" name="">
            <a:extLst xmlns:a="http://schemas.openxmlformats.org/drawingml/2006/main">
              <a:ext uri="{FF2B5EF4-FFF2-40B4-BE49-F238E27FC236}">
                <a16:creationId xmlns:a16="http://schemas.microsoft.com/office/drawing/2014/main" id="{F05CDB09-C77B-4143-8653-F3720C686A3F}"/>
              </a:ext>
            </a:extLst>
          </p:cNvPr>
          <p:cNvSpPr>
            <a:spLocks xmlns:a="http://schemas.openxmlformats.org/drawingml/2006/main" noGrp="1"/>
          </p:cNvSpPr>
          <p:nvPr/>
        </p:nvSpPr>
        <p:spPr>
          <a:xfrm xmlns:a="http://schemas.openxmlformats.org/drawingml/2006/main">
            <a:off x="7791450" y="36576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Formatting + corrections</a:t>
            </a:r>
          </a:p>
        </p:txBody>
      </p:sp>
      <p:sp>
        <p:nvSpPr>
          <p:cNvPr id="25" name="">
            <a:extLst xmlns:a="http://schemas.openxmlformats.org/drawingml/2006/main">
              <a:ext uri="{FF2B5EF4-FFF2-40B4-BE49-F238E27FC236}">
                <a16:creationId xmlns:a16="http://schemas.microsoft.com/office/drawing/2014/main" id="{1AAF9C2B-8CC4-4691-8B7F-19BDA7EEE687}"/>
              </a:ext>
            </a:extLst>
          </p:cNvPr>
          <p:cNvSpPr>
            <a:spLocks xmlns:a="http://schemas.openxmlformats.org/drawingml/2006/main" noGrp="1"/>
          </p:cNvSpPr>
          <p:nvPr/>
        </p:nvSpPr>
        <p:spPr>
          <a:xfrm xmlns:a="http://schemas.openxmlformats.org/drawingml/2006/main">
            <a:off x="9867900" y="3371850"/>
            <a:ext cx="1714500" cy="1524000"/>
          </a:xfrm>
          <a:prstGeom xmlns:a="http://schemas.openxmlformats.org/drawingml/2006/main" prst="roundRect">
            <a:avLst>
              <a:gd name="adj" fmla="val 12644"/>
            </a:avLst>
          </a:prstGeom>
          <a:noFill xmlns:a="http://schemas.openxmlformats.org/drawingml/2006/main"/>
          <a:ln xmlns:a="http://schemas.openxmlformats.org/drawingml/2006/main" w="9525">
            <a:solidFill>
              <a:srgbClr val="D7A75E"/>
            </a:solidFill>
            <a:prstDash val="solid"/>
          </a:ln>
        </p:spPr>
      </p:sp>
      <p:sp>
        <p:nvSpPr>
          <p:cNvPr id="26" name="">
            <a:extLst xmlns:a="http://schemas.openxmlformats.org/drawingml/2006/main">
              <a:ext uri="{FF2B5EF4-FFF2-40B4-BE49-F238E27FC236}">
                <a16:creationId xmlns:a16="http://schemas.microsoft.com/office/drawing/2014/main" id="{5F4AA8E6-C3FD-460F-A942-C73371366A0B}"/>
              </a:ext>
            </a:extLst>
          </p:cNvPr>
          <p:cNvSpPr>
            <a:spLocks xmlns:a="http://schemas.openxmlformats.org/drawingml/2006/main" noGrp="1"/>
          </p:cNvSpPr>
          <p:nvPr/>
        </p:nvSpPr>
        <p:spPr>
          <a:xfrm xmlns:a="http://schemas.openxmlformats.org/drawingml/2006/main">
            <a:off x="10039350" y="3543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05</a:t>
            </a:r>
          </a:p>
        </p:txBody>
      </p:sp>
      <p:sp>
        <p:nvSpPr>
          <p:cNvPr id="27" name="anim-5-stage">
            <a:extLst xmlns:a="http://schemas.openxmlformats.org/drawingml/2006/main">
              <a:ext uri="{FF2B5EF4-FFF2-40B4-BE49-F238E27FC236}">
                <a16:creationId xmlns:a16="http://schemas.microsoft.com/office/drawing/2014/main" id="{D5E76B7F-35A1-4D10-9AB6-81827A738657}"/>
              </a:ext>
            </a:extLst>
          </p:cNvPr>
          <p:cNvSpPr>
            <a:spLocks xmlns:a="http://schemas.openxmlformats.org/drawingml/2006/main" noGrp="1"/>
          </p:cNvSpPr>
          <p:nvPr/>
        </p:nvSpPr>
        <p:spPr>
          <a:xfrm xmlns:a="http://schemas.openxmlformats.org/drawingml/2006/main">
            <a:off x="10039350" y="38100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Insert</a:t>
            </a:r>
          </a:p>
        </p:txBody>
      </p:sp>
      <p:sp>
        <p:nvSpPr>
          <p:cNvPr id="28" name="">
            <a:extLst xmlns:a="http://schemas.openxmlformats.org/drawingml/2006/main">
              <a:ext uri="{FF2B5EF4-FFF2-40B4-BE49-F238E27FC236}">
                <a16:creationId xmlns:a16="http://schemas.microsoft.com/office/drawing/2014/main" id="{BF7EF51F-359E-4AD5-A919-A43319978D75}"/>
              </a:ext>
            </a:extLst>
          </p:cNvPr>
          <p:cNvSpPr>
            <a:spLocks xmlns:a="http://schemas.openxmlformats.org/drawingml/2006/main" noGrp="1"/>
          </p:cNvSpPr>
          <p:nvPr/>
        </p:nvSpPr>
        <p:spPr>
          <a:xfrm xmlns:a="http://schemas.openxmlformats.org/drawingml/2006/main">
            <a:off x="10039350" y="42672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Clipboard + Accessibility</a:t>
            </a:r>
          </a:p>
        </p:txBody>
      </p:sp>
      <p:sp>
        <p:nvSpPr>
          <p:cNvPr id="29" name="">
            <a:extLst xmlns:a="http://schemas.openxmlformats.org/drawingml/2006/main">
              <a:ext uri="{FF2B5EF4-FFF2-40B4-BE49-F238E27FC236}">
                <a16:creationId xmlns:a16="http://schemas.microsoft.com/office/drawing/2014/main" id="{7BE00560-0CF8-4D05-AB86-6AE9986E4E59}"/>
              </a:ext>
            </a:extLst>
          </p:cNvPr>
          <p:cNvSpPr>
            <a:spLocks xmlns:a="http://schemas.openxmlformats.org/drawingml/2006/main" noGrp="1"/>
          </p:cNvSpPr>
          <p:nvPr/>
        </p:nvSpPr>
        <p:spPr>
          <a:xfrm xmlns:a="http://schemas.openxmlformats.org/drawingml/2006/main">
            <a:off x="914400" y="5715000"/>
            <a:ext cx="10363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Private Dictation and encrypted History are storage choices around the same local core.</a:t>
            </a:r>
          </a:p>
        </p:txBody>
      </p:sp>
      <p:sp>
        <p:nvSpPr>
          <p:cNvPr id="30" name="">
            <a:extLst xmlns:a="http://schemas.openxmlformats.org/drawingml/2006/main">
              <a:ext uri="{FF2B5EF4-FFF2-40B4-BE49-F238E27FC236}">
                <a16:creationId xmlns:a16="http://schemas.microsoft.com/office/drawing/2014/main" id="{DB4A1602-584C-4F2C-9337-84BEBC9319D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31" name="">
            <a:extLst xmlns:a="http://schemas.openxmlformats.org/drawingml/2006/main">
              <a:ext uri="{FF2B5EF4-FFF2-40B4-BE49-F238E27FC236}">
                <a16:creationId xmlns:a16="http://schemas.microsoft.com/office/drawing/2014/main" id="{49E3BCCF-1AAC-4ED2-8125-536CBD196BDE}"/>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32" name="">
            <a:extLst xmlns:a="http://schemas.openxmlformats.org/drawingml/2006/main">
              <a:ext uri="{FF2B5EF4-FFF2-40B4-BE49-F238E27FC236}">
                <a16:creationId xmlns:a16="http://schemas.microsoft.com/office/drawing/2014/main" id="{58DC4EEC-1BC6-493A-84AB-0BDDB3D5582F}"/>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08</a:t>
            </a:r>
          </a:p>
        </p:txBody>
      </p:sp>
    </p:spTree>
    <p:extLst>
      <p:ext uri="{BB962C8B-B14F-4D97-AF65-F5344CB8AC3E}">
        <p14:creationId xmlns:p14="http://schemas.microsoft.com/office/powerpoint/2010/main" val="1357200750"/>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450"/>
                                        <p:tgtEl>
                                          <p:spTgt spid="27"/>
                                        </p:tgtEl>
                                      </p:cBhvr>
                                    </p:animEffect>
                                  </p:childTnLst>
                                </p:cTn>
                              </p:par>
                            </p:childTnLst>
                          </p:cTn>
                        </p:par>
                      </p:childTnLst>
                    </p:cTn>
                  </p:par>
                </p:childTnLst>
              </p:cTn>
            </p:seq>
          </p:childTnLst>
        </p:cTn>
      </p:par>
    </p:tnLst>
  </p:timing>
</p:sld>
</file>

<file path=ppt/slides/slide9.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01AEC32-CED1-400E-8491-12598499D296}"/>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09  /  LOCAL AI STRATEGY</a:t>
            </a:r>
          </a:p>
        </p:txBody>
      </p:sp>
      <p:sp>
        <p:nvSpPr>
          <p:cNvPr id="2" name="">
            <a:extLst xmlns:a="http://schemas.openxmlformats.org/drawingml/2006/main">
              <a:ext uri="{FF2B5EF4-FFF2-40B4-BE49-F238E27FC236}">
                <a16:creationId xmlns:a16="http://schemas.microsoft.com/office/drawing/2014/main" id="{D0D61358-59B7-4859-BEA0-8D8571CA611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A model router—not a model list.</a:t>
            </a:r>
          </a:p>
        </p:txBody>
      </p:sp>
      <p:sp>
        <p:nvSpPr>
          <p:cNvPr id="3" name="">
            <a:extLst xmlns:a="http://schemas.openxmlformats.org/drawingml/2006/main">
              <a:ext uri="{FF2B5EF4-FFF2-40B4-BE49-F238E27FC236}">
                <a16:creationId xmlns:a16="http://schemas.microsoft.com/office/drawing/2014/main" id="{314BD1A4-3DA7-4AD8-B9FA-2772FCFF08D2}"/>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recommended path gets primary visual weight; fallbacks stay available for different languages and hardware.</a:t>
            </a:r>
          </a:p>
        </p:txBody>
      </p:sp>
      <p:sp>
        <p:nvSpPr>
          <p:cNvPr id="4" name="">
            <a:extLst xmlns:a="http://schemas.openxmlformats.org/drawingml/2006/main">
              <a:ext uri="{FF2B5EF4-FFF2-40B4-BE49-F238E27FC236}">
                <a16:creationId xmlns:a16="http://schemas.microsoft.com/office/drawing/2014/main" id="{9B202F2B-97CC-476D-86C4-52990B31C41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68ED42C-7109-4446-B1E7-BEAC27A1F5CE}"/>
              </a:ext>
            </a:extLst>
          </p:cNvPr>
          <p:cNvSpPr>
            <a:spLocks xmlns:a="http://schemas.openxmlformats.org/drawingml/2006/main" noGrp="1"/>
          </p:cNvSpPr>
          <p:nvPr/>
        </p:nvSpPr>
        <p:spPr>
          <a:xfrm xmlns:a="http://schemas.openxmlformats.org/drawingml/2006/main">
            <a:off x="609600" y="2914650"/>
            <a:ext cx="5334000" cy="2800350"/>
          </a:xfrm>
          <a:prstGeom xmlns:a="http://schemas.openxmlformats.org/drawingml/2006/main" prst="rect">
            <a:avLst/>
          </a:prstGeom>
          <a:noFill xmlns:a="http://schemas.openxmlformats.org/drawingml/2006/main"/>
          <a:ln xmlns:a="http://schemas.openxmlformats.org/drawingml/2006/main" w="9525">
            <a:solidFill>
              <a:srgbClr val="36333E"/>
            </a:solidFill>
            <a:prstDash val="solid"/>
          </a:ln>
        </p:spPr>
      </p:sp>
      <p:sp>
        <p:nvSpPr>
          <p:cNvPr id="6" name="">
            <a:extLst xmlns:a="http://schemas.openxmlformats.org/drawingml/2006/main">
              <a:ext uri="{FF2B5EF4-FFF2-40B4-BE49-F238E27FC236}">
                <a16:creationId xmlns:a16="http://schemas.microsoft.com/office/drawing/2014/main" id="{C818C4B7-2D78-4E63-B2A0-8C2AA9528E79}"/>
              </a:ext>
            </a:extLst>
          </p:cNvPr>
          <p:cNvSpPr>
            <a:spLocks xmlns:a="http://schemas.openxmlformats.org/drawingml/2006/main" noGrp="1"/>
          </p:cNvSpPr>
          <p:nvPr/>
        </p:nvSpPr>
        <p:spPr>
          <a:xfrm xmlns:a="http://schemas.openxmlformats.org/drawingml/2006/main">
            <a:off x="609600" y="2914650"/>
            <a:ext cx="5334000" cy="9525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7" name="anim-1-model">
            <a:extLst xmlns:a="http://schemas.openxmlformats.org/drawingml/2006/main">
              <a:ext uri="{FF2B5EF4-FFF2-40B4-BE49-F238E27FC236}">
                <a16:creationId xmlns:a16="http://schemas.microsoft.com/office/drawing/2014/main" id="{BB54DCD5-9CC2-434A-8BA7-8612089432C6}"/>
              </a:ext>
            </a:extLst>
          </p:cNvPr>
          <p:cNvSpPr>
            <a:spLocks xmlns:a="http://schemas.openxmlformats.org/drawingml/2006/main" noGrp="1"/>
          </p:cNvSpPr>
          <p:nvPr/>
        </p:nvSpPr>
        <p:spPr>
          <a:xfrm xmlns:a="http://schemas.openxmlformats.org/drawingml/2006/main">
            <a:off x="914400" y="3333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i="0">
                <a:solidFill>
                  <a:srgbClr val="F7F4EF"/>
                </a:solidFill>
                <a:latin typeface="Avenir Next"/>
                <a:ea typeface="Avenir Next"/>
                <a:cs typeface="Avenir Next"/>
              </a:defRPr>
            </a:pPr>
            <a:r>
              <a:rPr sz="3150" b="1" i="0">
                <a:solidFill>
                  <a:srgbClr val="F7F4EF"/>
                </a:solidFill>
                <a:latin typeface="Avenir Next"/>
                <a:ea typeface="Avenir Next"/>
                <a:cs typeface="Avenir Next"/>
              </a:rPr>
              <a:t>PARAKEET TDT v3</a:t>
            </a:r>
          </a:p>
        </p:txBody>
      </p:sp>
      <p:sp>
        <p:nvSpPr>
          <p:cNvPr id="8" name="">
            <a:extLst xmlns:a="http://schemas.openxmlformats.org/drawingml/2006/main">
              <a:ext uri="{FF2B5EF4-FFF2-40B4-BE49-F238E27FC236}">
                <a16:creationId xmlns:a16="http://schemas.microsoft.com/office/drawing/2014/main" id="{8B9E0638-CBDE-4305-BEBD-D4E50A0D4494}"/>
              </a:ext>
            </a:extLst>
          </p:cNvPr>
          <p:cNvSpPr>
            <a:spLocks xmlns:a="http://schemas.openxmlformats.org/drawingml/2006/main" noGrp="1"/>
          </p:cNvSpPr>
          <p:nvPr/>
        </p:nvSpPr>
        <p:spPr>
          <a:xfrm xmlns:a="http://schemas.openxmlformats.org/drawingml/2006/main">
            <a:off x="914400" y="43815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D7A75E"/>
                </a:solidFill>
                <a:latin typeface="Avenir Next"/>
                <a:ea typeface="Avenir Next"/>
                <a:cs typeface="Avenir Next"/>
              </a:defRPr>
            </a:pPr>
            <a:r>
              <a:rPr sz="1350" b="1" i="0">
                <a:solidFill>
                  <a:srgbClr val="D7A75E"/>
                </a:solidFill>
                <a:latin typeface="Avenir Next"/>
                <a:ea typeface="Avenir Next"/>
                <a:cs typeface="Avenir Next"/>
              </a:rPr>
              <a:t>RECOMMENDED FINAL INSERT</a:t>
            </a:r>
          </a:p>
        </p:txBody>
      </p:sp>
      <p:sp>
        <p:nvSpPr>
          <p:cNvPr id="9" name="">
            <a:extLst xmlns:a="http://schemas.openxmlformats.org/drawingml/2006/main">
              <a:ext uri="{FF2B5EF4-FFF2-40B4-BE49-F238E27FC236}">
                <a16:creationId xmlns:a16="http://schemas.microsoft.com/office/drawing/2014/main" id="{81A9A64A-B06A-4B36-A636-509E50991AE8}"/>
              </a:ext>
            </a:extLst>
          </p:cNvPr>
          <p:cNvSpPr>
            <a:spLocks xmlns:a="http://schemas.openxmlformats.org/drawingml/2006/main" noGrp="1"/>
          </p:cNvSpPr>
          <p:nvPr/>
        </p:nvSpPr>
        <p:spPr>
          <a:xfrm xmlns:a="http://schemas.openxmlformats.org/drawingml/2006/main">
            <a:off x="914400" y="4876800"/>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25 languages</a:t>
            </a:r>
          </a:p>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Apple Silicon</a:t>
            </a:r>
          </a:p>
          <a:p xmlns:a="http://schemas.openxmlformats.org/drawingml/2006/main">
            <a:pPr algn="l">
              <a:buNone/>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6.9% WER • 73× real time</a:t>
            </a:r>
          </a:p>
        </p:txBody>
      </p:sp>
      <p:sp>
        <p:nvSpPr>
          <p:cNvPr id="10" name="">
            <a:extLst xmlns:a="http://schemas.openxmlformats.org/drawingml/2006/main">
              <a:ext uri="{FF2B5EF4-FFF2-40B4-BE49-F238E27FC236}">
                <a16:creationId xmlns:a16="http://schemas.microsoft.com/office/drawing/2014/main" id="{DCFDBB37-3D06-4D14-91A6-872C1BEEB613}"/>
              </a:ext>
            </a:extLst>
          </p:cNvPr>
          <p:cNvSpPr>
            <a:spLocks xmlns:a="http://schemas.openxmlformats.org/drawingml/2006/main" noGrp="1"/>
          </p:cNvSpPr>
          <p:nvPr/>
        </p:nvSpPr>
        <p:spPr>
          <a:xfrm xmlns:a="http://schemas.openxmlformats.org/drawingml/2006/main">
            <a:off x="6381750" y="2914650"/>
            <a:ext cx="5048250" cy="1276350"/>
          </a:xfrm>
          <a:prstGeom xmlns:a="http://schemas.openxmlformats.org/drawingml/2006/main" prst="rect">
            <a:avLst/>
          </a:prstGeom>
          <a:noFill xmlns:a="http://schemas.openxmlformats.org/drawingml/2006/main"/>
          <a:ln xmlns:a="http://schemas.openxmlformats.org/drawingml/2006/main" w="9525">
            <a:solidFill>
              <a:srgbClr val="36333E"/>
            </a:solidFill>
            <a:prstDash val="solid"/>
          </a:ln>
        </p:spPr>
      </p:sp>
      <p:sp>
        <p:nvSpPr>
          <p:cNvPr id="11" name="">
            <a:extLst xmlns:a="http://schemas.openxmlformats.org/drawingml/2006/main">
              <a:ext uri="{FF2B5EF4-FFF2-40B4-BE49-F238E27FC236}">
                <a16:creationId xmlns:a16="http://schemas.microsoft.com/office/drawing/2014/main" id="{2C7FA676-A573-43F4-BD3F-334AD36EC986}"/>
              </a:ext>
            </a:extLst>
          </p:cNvPr>
          <p:cNvSpPr>
            <a:spLocks xmlns:a="http://schemas.openxmlformats.org/drawingml/2006/main" noGrp="1"/>
          </p:cNvSpPr>
          <p:nvPr/>
        </p:nvSpPr>
        <p:spPr>
          <a:xfrm xmlns:a="http://schemas.openxmlformats.org/drawingml/2006/main">
            <a:off x="6381750" y="2914650"/>
            <a:ext cx="5048250" cy="7620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12" name="anim-2-model">
            <a:extLst xmlns:a="http://schemas.openxmlformats.org/drawingml/2006/main">
              <a:ext uri="{FF2B5EF4-FFF2-40B4-BE49-F238E27FC236}">
                <a16:creationId xmlns:a16="http://schemas.microsoft.com/office/drawing/2014/main" id="{08D23635-9DDC-47C8-8B56-BCFECFF7124C}"/>
              </a:ext>
            </a:extLst>
          </p:cNvPr>
          <p:cNvSpPr>
            <a:spLocks xmlns:a="http://schemas.openxmlformats.org/drawingml/2006/main" noGrp="1"/>
          </p:cNvSpPr>
          <p:nvPr/>
        </p:nvSpPr>
        <p:spPr>
          <a:xfrm xmlns:a="http://schemas.openxmlformats.org/drawingml/2006/main">
            <a:off x="6667500" y="31813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F7F4EF"/>
                </a:solidFill>
                <a:latin typeface="Avenir Next"/>
                <a:ea typeface="Avenir Next"/>
                <a:cs typeface="Avenir Next"/>
              </a:defRPr>
            </a:pPr>
            <a:r>
              <a:rPr sz="2100" b="1" i="0">
                <a:solidFill>
                  <a:srgbClr val="F7F4EF"/>
                </a:solidFill>
                <a:latin typeface="Avenir Next"/>
                <a:ea typeface="Avenir Next"/>
                <a:cs typeface="Avenir Next"/>
              </a:rPr>
              <a:t>WHISPER TURBO</a:t>
            </a:r>
          </a:p>
        </p:txBody>
      </p:sp>
      <p:sp>
        <p:nvSpPr>
          <p:cNvPr id="13" name="">
            <a:extLst xmlns:a="http://schemas.openxmlformats.org/drawingml/2006/main">
              <a:ext uri="{FF2B5EF4-FFF2-40B4-BE49-F238E27FC236}">
                <a16:creationId xmlns:a16="http://schemas.microsoft.com/office/drawing/2014/main" id="{59F11CE1-5FD3-4A57-B9BC-4F6182546373}"/>
              </a:ext>
            </a:extLst>
          </p:cNvPr>
          <p:cNvSpPr>
            <a:spLocks xmlns:a="http://schemas.openxmlformats.org/drawingml/2006/main" noGrp="1"/>
          </p:cNvSpPr>
          <p:nvPr/>
        </p:nvSpPr>
        <p:spPr>
          <a:xfrm xmlns:a="http://schemas.openxmlformats.org/drawingml/2006/main">
            <a:off x="9105900" y="3181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i="0">
                <a:solidFill>
                  <a:srgbClr val="7667F2"/>
                </a:solidFill>
                <a:latin typeface="Avenir Next"/>
                <a:ea typeface="Avenir Next"/>
                <a:cs typeface="Avenir Next"/>
              </a:defRPr>
            </a:pPr>
            <a:r>
              <a:rPr sz="1275" b="1" i="0">
                <a:solidFill>
                  <a:srgbClr val="7667F2"/>
                </a:solidFill>
                <a:latin typeface="Avenir Next"/>
                <a:ea typeface="Avenir Next"/>
                <a:cs typeface="Avenir Next"/>
              </a:rPr>
              <a:t>Multilingual + auto-detect</a:t>
            </a:r>
          </a:p>
        </p:txBody>
      </p:sp>
      <p:sp>
        <p:nvSpPr>
          <p:cNvPr id="14" name="">
            <a:extLst xmlns:a="http://schemas.openxmlformats.org/drawingml/2006/main">
              <a:ext uri="{FF2B5EF4-FFF2-40B4-BE49-F238E27FC236}">
                <a16:creationId xmlns:a16="http://schemas.microsoft.com/office/drawing/2014/main" id="{C0BB82BC-4ED7-4BD3-BB2D-6A1BE5F454B5}"/>
              </a:ext>
            </a:extLst>
          </p:cNvPr>
          <p:cNvSpPr>
            <a:spLocks xmlns:a="http://schemas.openxmlformats.org/drawingml/2006/main" noGrp="1"/>
          </p:cNvSpPr>
          <p:nvPr/>
        </p:nvSpPr>
        <p:spPr>
          <a:xfrm xmlns:a="http://schemas.openxmlformats.org/drawingml/2006/main">
            <a:off x="8286750" y="36195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Up to 99 languages • Apple Silicon</a:t>
            </a:r>
          </a:p>
        </p:txBody>
      </p:sp>
      <p:sp>
        <p:nvSpPr>
          <p:cNvPr id="15" name="">
            <a:extLst xmlns:a="http://schemas.openxmlformats.org/drawingml/2006/main">
              <a:ext uri="{FF2B5EF4-FFF2-40B4-BE49-F238E27FC236}">
                <a16:creationId xmlns:a16="http://schemas.microsoft.com/office/drawing/2014/main" id="{44DC70A2-A595-4570-9468-361E94863BE8}"/>
              </a:ext>
            </a:extLst>
          </p:cNvPr>
          <p:cNvSpPr>
            <a:spLocks xmlns:a="http://schemas.openxmlformats.org/drawingml/2006/main" noGrp="1"/>
          </p:cNvSpPr>
          <p:nvPr/>
        </p:nvSpPr>
        <p:spPr>
          <a:xfrm xmlns:a="http://schemas.openxmlformats.org/drawingml/2006/main">
            <a:off x="6381750" y="4438650"/>
            <a:ext cx="5048250" cy="1276350"/>
          </a:xfrm>
          <a:prstGeom xmlns:a="http://schemas.openxmlformats.org/drawingml/2006/main" prst="rect">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8759D7AF-95F3-4FEC-96B5-04EDD4A15988}"/>
              </a:ext>
            </a:extLst>
          </p:cNvPr>
          <p:cNvSpPr>
            <a:spLocks xmlns:a="http://schemas.openxmlformats.org/drawingml/2006/main" noGrp="1"/>
          </p:cNvSpPr>
          <p:nvPr/>
        </p:nvSpPr>
        <p:spPr>
          <a:xfrm xmlns:a="http://schemas.openxmlformats.org/drawingml/2006/main">
            <a:off x="6381750" y="4438650"/>
            <a:ext cx="5048250" cy="7620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7" name="anim-3-model">
            <a:extLst xmlns:a="http://schemas.openxmlformats.org/drawingml/2006/main">
              <a:ext uri="{FF2B5EF4-FFF2-40B4-BE49-F238E27FC236}">
                <a16:creationId xmlns:a16="http://schemas.microsoft.com/office/drawing/2014/main" id="{C35CFD77-91C3-48C3-BDFB-D20A8F9E085D}"/>
              </a:ext>
            </a:extLst>
          </p:cNvPr>
          <p:cNvSpPr>
            <a:spLocks xmlns:a="http://schemas.openxmlformats.org/drawingml/2006/main" noGrp="1"/>
          </p:cNvSpPr>
          <p:nvPr/>
        </p:nvSpPr>
        <p:spPr>
          <a:xfrm xmlns:a="http://schemas.openxmlformats.org/drawingml/2006/main">
            <a:off x="6667500" y="47053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F7F4EF"/>
                </a:solidFill>
                <a:latin typeface="Avenir Next"/>
                <a:ea typeface="Avenir Next"/>
                <a:cs typeface="Avenir Next"/>
              </a:defRPr>
            </a:pPr>
            <a:r>
              <a:rPr sz="2100" b="1" i="0">
                <a:solidFill>
                  <a:srgbClr val="F7F4EF"/>
                </a:solidFill>
                <a:latin typeface="Avenir Next"/>
                <a:ea typeface="Avenir Next"/>
                <a:cs typeface="Avenir Next"/>
              </a:rPr>
              <a:t>APPLE SPEECH</a:t>
            </a:r>
          </a:p>
        </p:txBody>
      </p:sp>
      <p:sp>
        <p:nvSpPr>
          <p:cNvPr id="18" name="">
            <a:extLst xmlns:a="http://schemas.openxmlformats.org/drawingml/2006/main">
              <a:ext uri="{FF2B5EF4-FFF2-40B4-BE49-F238E27FC236}">
                <a16:creationId xmlns:a16="http://schemas.microsoft.com/office/drawing/2014/main" id="{E740C5DA-8394-4218-B2DD-9218719BE4EC}"/>
              </a:ext>
            </a:extLst>
          </p:cNvPr>
          <p:cNvSpPr>
            <a:spLocks xmlns:a="http://schemas.openxmlformats.org/drawingml/2006/main" noGrp="1"/>
          </p:cNvSpPr>
          <p:nvPr/>
        </p:nvSpPr>
        <p:spPr>
          <a:xfrm xmlns:a="http://schemas.openxmlformats.org/drawingml/2006/main">
            <a:off x="9105900" y="4705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i="0">
                <a:solidFill>
                  <a:srgbClr val="4B9CF5"/>
                </a:solidFill>
                <a:latin typeface="Avenir Next"/>
                <a:ea typeface="Avenir Next"/>
                <a:cs typeface="Avenir Next"/>
              </a:defRPr>
            </a:pPr>
            <a:r>
              <a:rPr sz="1275" b="1" i="0">
                <a:solidFill>
                  <a:srgbClr val="4B9CF5"/>
                </a:solidFill>
                <a:latin typeface="Avenir Next"/>
                <a:ea typeface="Avenir Next"/>
                <a:cs typeface="Avenir Next"/>
              </a:rPr>
              <a:t>Zero-download fallback</a:t>
            </a:r>
          </a:p>
        </p:txBody>
      </p:sp>
      <p:sp>
        <p:nvSpPr>
          <p:cNvPr id="19" name="">
            <a:extLst xmlns:a="http://schemas.openxmlformats.org/drawingml/2006/main">
              <a:ext uri="{FF2B5EF4-FFF2-40B4-BE49-F238E27FC236}">
                <a16:creationId xmlns:a16="http://schemas.microsoft.com/office/drawing/2014/main" id="{CFC849BD-0DB5-4692-B562-27FE07D8A120}"/>
              </a:ext>
            </a:extLst>
          </p:cNvPr>
          <p:cNvSpPr>
            <a:spLocks xmlns:a="http://schemas.openxmlformats.org/drawingml/2006/main" noGrp="1"/>
          </p:cNvSpPr>
          <p:nvPr/>
        </p:nvSpPr>
        <p:spPr>
          <a:xfrm xmlns:a="http://schemas.openxmlformats.org/drawingml/2006/main">
            <a:off x="8096250" y="5143500"/>
            <a:ext cx="3105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System languages • Apple Silicon + Intel</a:t>
            </a:r>
          </a:p>
        </p:txBody>
      </p:sp>
      <p:sp>
        <p:nvSpPr>
          <p:cNvPr id="20" name="">
            <a:extLst xmlns:a="http://schemas.openxmlformats.org/drawingml/2006/main">
              <a:ext uri="{FF2B5EF4-FFF2-40B4-BE49-F238E27FC236}">
                <a16:creationId xmlns:a16="http://schemas.microsoft.com/office/drawing/2014/main" id="{05288E00-BDEB-4CDE-AAF4-8D29DA206A54}"/>
              </a:ext>
            </a:extLst>
          </p:cNvPr>
          <p:cNvSpPr>
            <a:spLocks xmlns:a="http://schemas.openxmlformats.org/drawingml/2006/main" noGrp="1"/>
          </p:cNvSpPr>
          <p:nvPr/>
        </p:nvSpPr>
        <p:spPr>
          <a:xfrm xmlns:a="http://schemas.openxmlformats.org/drawingml/2006/main">
            <a:off x="609600" y="59817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96909A"/>
                </a:solidFill>
                <a:latin typeface="Avenir Next"/>
                <a:ea typeface="Avenir Next"/>
                <a:cs typeface="Avenir Next"/>
              </a:defRPr>
            </a:pPr>
            <a:r>
              <a:rPr sz="1425" b="0" i="0">
                <a:solidFill>
                  <a:srgbClr val="96909A"/>
                </a:solidFill>
                <a:latin typeface="Avenir Next"/>
                <a:ea typeface="Avenir Next"/>
                <a:cs typeface="Avenir Next"/>
              </a:rPr>
              <a:t>The catalogue selects a compatible engine + model pair; the user can still change it.</a:t>
            </a:r>
          </a:p>
        </p:txBody>
      </p:sp>
      <p:sp>
        <p:nvSpPr>
          <p:cNvPr id="21" name="">
            <a:extLst xmlns:a="http://schemas.openxmlformats.org/drawingml/2006/main">
              <a:ext uri="{FF2B5EF4-FFF2-40B4-BE49-F238E27FC236}">
                <a16:creationId xmlns:a16="http://schemas.microsoft.com/office/drawing/2014/main" id="{039F7A3B-280D-47C3-9990-889FD1CB382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2" name="">
            <a:extLst xmlns:a="http://schemas.openxmlformats.org/drawingml/2006/main">
              <a:ext uri="{FF2B5EF4-FFF2-40B4-BE49-F238E27FC236}">
                <a16:creationId xmlns:a16="http://schemas.microsoft.com/office/drawing/2014/main" id="{FEA8FB44-BDAB-4A39-A8A3-9DCF6E31CFA7}"/>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3" name="">
            <a:extLst xmlns:a="http://schemas.openxmlformats.org/drawingml/2006/main">
              <a:ext uri="{FF2B5EF4-FFF2-40B4-BE49-F238E27FC236}">
                <a16:creationId xmlns:a16="http://schemas.microsoft.com/office/drawing/2014/main" id="{62446C59-7374-4E1D-A518-C2A0BDE8CE8E}"/>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09</a:t>
            </a:r>
          </a:p>
        </p:txBody>
      </p:sp>
    </p:spTree>
    <p:extLst>
      <p:ext uri="{BB962C8B-B14F-4D97-AF65-F5344CB8AC3E}">
        <p14:creationId xmlns:p14="http://schemas.microsoft.com/office/powerpoint/2010/main" val="763585640"/>
      </p:ext>
    </p:extLst>
  </p:cSld>
  <p:transition spd="med"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7"/>
                                        </p:tgtEl>
                                      </p:cBhvr>
                                    </p:animEffect>
                                  </p:childTnLst>
                                </p:cTn>
                              </p:par>
                            </p:childTnLst>
                          </p:cTn>
                        </p:par>
                      </p:childTnLst>
                    </p:cTn>
                  </p:par>
                </p:childTnLst>
              </p:cTn>
            </p:seq>
          </p:childTnLst>
        </p:cTn>
      </p:par>
    </p:tnLst>
  </p:timing>
</p:sld>
</file>

<file path=ppt/slides/slide10.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214947-196B-4D5E-8280-5B809A35BD50}"/>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10  /  EVIDENCE</a:t>
            </a:r>
          </a:p>
        </p:txBody>
      </p:sp>
      <p:sp>
        <p:nvSpPr>
          <p:cNvPr id="2" name="">
            <a:extLst xmlns:a="http://schemas.openxmlformats.org/drawingml/2006/main">
              <a:ext uri="{FF2B5EF4-FFF2-40B4-BE49-F238E27FC236}">
                <a16:creationId xmlns:a16="http://schemas.microsoft.com/office/drawing/2014/main" id="{9CA52B20-0921-4D53-9313-8D8D678BF4A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Parakeet leads on accuracy and speed.</a:t>
            </a:r>
          </a:p>
        </p:txBody>
      </p:sp>
      <p:sp>
        <p:nvSpPr>
          <p:cNvPr id="3" name="">
            <a:extLst xmlns:a="http://schemas.openxmlformats.org/drawingml/2006/main">
              <a:ext uri="{FF2B5EF4-FFF2-40B4-BE49-F238E27FC236}">
                <a16:creationId xmlns:a16="http://schemas.microsoft.com/office/drawing/2014/main" id="{233A084A-46BF-4342-8758-C65A19EEAED0}"/>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Frozen spontaneous-speech benchmarks guide the recommendation; they do not replace representative user data.</a:t>
            </a:r>
          </a:p>
        </p:txBody>
      </p:sp>
      <p:sp>
        <p:nvSpPr>
          <p:cNvPr id="4" name="">
            <a:extLst xmlns:a="http://schemas.openxmlformats.org/drawingml/2006/main">
              <a:ext uri="{FF2B5EF4-FFF2-40B4-BE49-F238E27FC236}">
                <a16:creationId xmlns:a16="http://schemas.microsoft.com/office/drawing/2014/main" id="{B79174DB-8546-4EC5-8385-EE6D848A93CD}"/>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wer">
            <a:extLst xmlns:a="http://schemas.openxmlformats.org/drawingml/2006/main">
              <a:ext uri="{FF2B5EF4-FFF2-40B4-BE49-F238E27FC236}">
                <a16:creationId xmlns:a16="http://schemas.microsoft.com/office/drawing/2014/main" id="{D6425DFE-669D-4B4D-80C3-6818125CB7FB}"/>
              </a:ext>
            </a:extLst>
          </p:cNvPr>
          <p:cNvSpPr>
            <a:spLocks xmlns:a="http://schemas.openxmlformats.org/drawingml/2006/main" noGrp="1"/>
          </p:cNvSpPr>
          <p:nvPr/>
        </p:nvSpPr>
        <p:spPr>
          <a:xfrm xmlns:a="http://schemas.openxmlformats.org/drawingml/2006/main">
            <a:off x="609600" y="2857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F0C47C"/>
                </a:solidFill>
                <a:latin typeface="Avenir Next"/>
                <a:ea typeface="Avenir Next"/>
                <a:cs typeface="Avenir Next"/>
              </a:defRPr>
            </a:pPr>
            <a:r>
              <a:rPr sz="1200" b="1" i="0">
                <a:solidFill>
                  <a:srgbClr val="F0C47C"/>
                </a:solidFill>
                <a:latin typeface="Avenir Next"/>
                <a:ea typeface="Avenir Next"/>
                <a:cs typeface="Avenir Next"/>
              </a:rPr>
              <a:t>WORD ERROR RATE  /  LOWER IS BETTER</a:t>
            </a:r>
          </a:p>
        </p:txBody>
      </p:sp>
      <p:sp>
        <p:nvSpPr>
          <p:cNvPr id="6" name="anim-2-speed">
            <a:extLst xmlns:a="http://schemas.openxmlformats.org/drawingml/2006/main">
              <a:ext uri="{FF2B5EF4-FFF2-40B4-BE49-F238E27FC236}">
                <a16:creationId xmlns:a16="http://schemas.microsoft.com/office/drawing/2014/main" id="{B4DF977A-4679-469C-A665-8F4D3E0688EE}"/>
              </a:ext>
            </a:extLst>
          </p:cNvPr>
          <p:cNvSpPr>
            <a:spLocks xmlns:a="http://schemas.openxmlformats.org/drawingml/2006/main" noGrp="1"/>
          </p:cNvSpPr>
          <p:nvPr/>
        </p:nvSpPr>
        <p:spPr>
          <a:xfrm xmlns:a="http://schemas.openxmlformats.org/drawingml/2006/main">
            <a:off x="6324600" y="2857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7667F2"/>
                </a:solidFill>
                <a:latin typeface="Avenir Next"/>
                <a:ea typeface="Avenir Next"/>
                <a:cs typeface="Avenir Next"/>
              </a:defRPr>
            </a:pPr>
            <a:r>
              <a:rPr sz="1200" b="1" i="0">
                <a:solidFill>
                  <a:srgbClr val="7667F2"/>
                </a:solidFill>
                <a:latin typeface="Avenir Next"/>
                <a:ea typeface="Avenir Next"/>
                <a:cs typeface="Avenir Next"/>
              </a:rPr>
              <a:t>REAL-TIME MULTIPLE  /  HIGHER IS BETTER</a:t>
            </a:r>
          </a:p>
        </p:txBody>
      </p:sp>
      <p:graphicFrame>
        <p:nvGraphicFramePr>
          <p:cNvPr id="22" name="Chart"/>
          <p:cNvGraphicFramePr/>
          <p:nvPr/>
        </p:nvGraphicFramePr>
        <p:xfrm>
          <a:off xmlns:a="http://schemas.openxmlformats.org/drawingml/2006/main" x="609600" y="3276600"/>
          <a:ext xmlns:a="http://schemas.openxmlformats.org/drawingml/2006/main" cx="4762500" cy="2190750"/>
        </p:xfrm>
        <a:graphic xmlns:a="http://schemas.openxmlformats.org/drawingml/2006/main">
          <a:graphicData uri="http://schemas.openxmlformats.org/drawingml/2006/chart">
            <c:chart xmlns:r="http://schemas.openxmlformats.org/officeDocument/2006/relationships" xmlns:c="http://schemas.openxmlformats.org/drawingml/2006/chart" r:id="R2d93739993f54cff"/>
          </a:graphicData>
        </a:graphic>
      </p:graphicFrame>
      <p:graphicFrame>
        <p:nvGraphicFramePr>
          <p:cNvPr id="23" name="Chart"/>
          <p:cNvGraphicFramePr/>
          <p:nvPr/>
        </p:nvGraphicFramePr>
        <p:xfrm>
          <a:off xmlns:a="http://schemas.openxmlformats.org/drawingml/2006/main" x="6324600" y="3276600"/>
          <a:ext xmlns:a="http://schemas.openxmlformats.org/drawingml/2006/main" cx="4762500" cy="2190750"/>
        </p:xfrm>
        <a:graphic xmlns:a="http://schemas.openxmlformats.org/drawingml/2006/main">
          <a:graphicData uri="http://schemas.openxmlformats.org/drawingml/2006/chart">
            <c:chart xmlns:r="http://schemas.openxmlformats.org/officeDocument/2006/relationships" xmlns:c="http://schemas.openxmlformats.org/drawingml/2006/chart" r:id="R0407cdf89dfc4110"/>
          </a:graphicData>
        </a:graphic>
      </p:graphicFrame>
      <p:sp>
        <p:nvSpPr>
          <p:cNvPr id="9" name="">
            <a:extLst xmlns:a="http://schemas.openxmlformats.org/drawingml/2006/main">
              <a:ext uri="{FF2B5EF4-FFF2-40B4-BE49-F238E27FC236}">
                <a16:creationId xmlns:a16="http://schemas.microsoft.com/office/drawing/2014/main" id="{EA96890C-2A19-46E0-BFF0-B4FCF7194F50}"/>
              </a:ext>
            </a:extLst>
          </p:cNvPr>
          <p:cNvSpPr>
            <a:spLocks xmlns:a="http://schemas.openxmlformats.org/drawingml/2006/main" noGrp="1"/>
          </p:cNvSpPr>
          <p:nvPr/>
        </p:nvSpPr>
        <p:spPr>
          <a:xfrm xmlns:a="http://schemas.openxmlformats.org/drawingml/2006/main">
            <a:off x="609600" y="57912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96909A"/>
                </a:solidFill>
                <a:latin typeface="Avenir Next"/>
                <a:ea typeface="Avenir Next"/>
                <a:cs typeface="Avenir Next"/>
              </a:defRPr>
            </a:pPr>
            <a:r>
              <a:rPr sz="1275" b="0" i="0">
                <a:solidFill>
                  <a:srgbClr val="96909A"/>
                </a:solidFill>
                <a:latin typeface="Avenir Next"/>
                <a:ea typeface="Avenir Next"/>
                <a:cs typeface="Avenir Next"/>
              </a:rPr>
              <a:t>262 frozen Common Voice Spontaneous English clips • 3,084 s • MacBook Pro M5 • measured 2026-08-18</a:t>
            </a:r>
          </a:p>
        </p:txBody>
      </p:sp>
      <p:sp>
        <p:nvSpPr>
          <p:cNvPr id="10" name="">
            <a:extLst xmlns:a="http://schemas.openxmlformats.org/drawingml/2006/main">
              <a:ext uri="{FF2B5EF4-FFF2-40B4-BE49-F238E27FC236}">
                <a16:creationId xmlns:a16="http://schemas.microsoft.com/office/drawing/2014/main" id="{A399015B-62FF-40B0-BB3A-7165755B86D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1" name="">
            <a:extLst xmlns:a="http://schemas.openxmlformats.org/drawingml/2006/main">
              <a:ext uri="{FF2B5EF4-FFF2-40B4-BE49-F238E27FC236}">
                <a16:creationId xmlns:a16="http://schemas.microsoft.com/office/drawing/2014/main" id="{DE5DF3E3-FEFC-4A20-8256-D7CC8C1F6391}"/>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2" name="">
            <a:extLst xmlns:a="http://schemas.openxmlformats.org/drawingml/2006/main">
              <a:ext uri="{FF2B5EF4-FFF2-40B4-BE49-F238E27FC236}">
                <a16:creationId xmlns:a16="http://schemas.microsoft.com/office/drawing/2014/main" id="{A577227F-D37D-4E05-9E5C-22A467DA921C}"/>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10</a:t>
            </a:r>
          </a:p>
        </p:txBody>
      </p:sp>
    </p:spTree>
    <p:extLst>
      <p:ext uri="{BB962C8B-B14F-4D97-AF65-F5344CB8AC3E}">
        <p14:creationId xmlns:p14="http://schemas.microsoft.com/office/powerpoint/2010/main" val="98581233"/>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6"/>
                                        </p:tgtEl>
                                      </p:cBhvr>
                                    </p:animEffect>
                                  </p:childTnLst>
                                </p:cTn>
                              </p:par>
                            </p:childTnLst>
                          </p:cTn>
                        </p:par>
                      </p:childTnLst>
                    </p:cTn>
                  </p:par>
                </p:childTnLst>
              </p:cTn>
            </p:seq>
          </p:childTnLst>
        </p:cTn>
      </p:par>
    </p:tnLst>
  </p:timing>
</p:sld>
</file>

<file path=ppt/slides/slide11.xml><?xml version="1.0" encoding="utf-8"?>
<p:sld xmlns:p="http://schemas.openxmlformats.org/presentationml/2006/main">
  <p:cSld>
    <p:bg>
      <p:bgPr>
        <a:gradFill xmlns:a="http://schemas.openxmlformats.org/drawingml/2006/main">
          <a:gsLst>
            <a:gs pos="0">
              <a:srgbClr val="08080A"/>
            </a:gs>
            <a:gs pos="65000">
              <a:srgbClr val="131019"/>
            </a:gs>
            <a:gs pos="100000">
              <a:srgbClr val="08080A"/>
            </a:gs>
          </a:gsLst>
          <a:lin ang="72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B4DC1C7-B79F-44A4-BFBB-1D2B4165644E}"/>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11  /  COLLEGE PROJECT MAP</a:t>
            </a:r>
          </a:p>
        </p:txBody>
      </p:sp>
      <p:sp>
        <p:nvSpPr>
          <p:cNvPr id="2" name="">
            <a:extLst xmlns:a="http://schemas.openxmlformats.org/drawingml/2006/main">
              <a:ext uri="{FF2B5EF4-FFF2-40B4-BE49-F238E27FC236}">
                <a16:creationId xmlns:a16="http://schemas.microsoft.com/office/drawing/2014/main" id="{14C067B4-BF29-4436-A539-B192D02B1001}"/>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What this college project teaches.</a:t>
            </a:r>
          </a:p>
        </p:txBody>
      </p:sp>
      <p:sp>
        <p:nvSpPr>
          <p:cNvPr id="3" name="">
            <a:extLst xmlns:a="http://schemas.openxmlformats.org/drawingml/2006/main">
              <a:ext uri="{FF2B5EF4-FFF2-40B4-BE49-F238E27FC236}">
                <a16:creationId xmlns:a16="http://schemas.microsoft.com/office/drawing/2014/main" id="{A11235D4-E54D-4747-A173-1D79FD85AF41}"/>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ZenVoice connects three learning areas through one working macOS application.</a:t>
            </a:r>
          </a:p>
        </p:txBody>
      </p:sp>
      <p:sp>
        <p:nvSpPr>
          <p:cNvPr id="4" name="">
            <a:extLst xmlns:a="http://schemas.openxmlformats.org/drawingml/2006/main">
              <a:ext uri="{FF2B5EF4-FFF2-40B4-BE49-F238E27FC236}">
                <a16:creationId xmlns:a16="http://schemas.microsoft.com/office/drawing/2014/main" id="{F61132D9-2357-491C-9305-BC77B7EA8BC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value">
            <a:extLst xmlns:a="http://schemas.openxmlformats.org/drawingml/2006/main">
              <a:ext uri="{FF2B5EF4-FFF2-40B4-BE49-F238E27FC236}">
                <a16:creationId xmlns:a16="http://schemas.microsoft.com/office/drawing/2014/main" id="{F8C7C5EE-7CA7-4C94-97A7-17663BC15693}"/>
              </a:ext>
            </a:extLst>
          </p:cNvPr>
          <p:cNvSpPr>
            <a:spLocks xmlns:a="http://schemas.openxmlformats.org/drawingml/2006/main" noGrp="1"/>
          </p:cNvSpPr>
          <p:nvPr/>
        </p:nvSpPr>
        <p:spPr>
          <a:xfrm xmlns:a="http://schemas.openxmlformats.org/drawingml/2006/main">
            <a:off x="781050" y="3295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i="0">
                <a:solidFill>
                  <a:srgbClr val="D7A75E"/>
                </a:solidFill>
                <a:latin typeface="Avenir Next"/>
                <a:ea typeface="Avenir Next"/>
                <a:cs typeface="Avenir Next"/>
              </a:defRPr>
            </a:pPr>
            <a:r>
              <a:rPr sz="2550" b="1" i="0">
                <a:solidFill>
                  <a:srgbClr val="D7A75E"/>
                </a:solidFill>
                <a:latin typeface="Avenir Next"/>
                <a:ea typeface="Avenir Next"/>
                <a:cs typeface="Avenir Next"/>
              </a:rPr>
              <a:t>AI / ML</a:t>
            </a:r>
          </a:p>
        </p:txBody>
      </p:sp>
      <p:sp>
        <p:nvSpPr>
          <p:cNvPr id="6" name="">
            <a:extLst xmlns:a="http://schemas.openxmlformats.org/drawingml/2006/main">
              <a:ext uri="{FF2B5EF4-FFF2-40B4-BE49-F238E27FC236}">
                <a16:creationId xmlns:a16="http://schemas.microsoft.com/office/drawing/2014/main" id="{8C706B05-3FF4-4704-BC89-06C802E08319}"/>
              </a:ext>
            </a:extLst>
          </p:cNvPr>
          <p:cNvSpPr>
            <a:spLocks xmlns:a="http://schemas.openxmlformats.org/drawingml/2006/main" noGrp="1"/>
          </p:cNvSpPr>
          <p:nvPr/>
        </p:nvSpPr>
        <p:spPr>
          <a:xfrm xmlns:a="http://schemas.openxmlformats.org/drawingml/2006/main">
            <a:off x="3448050" y="4171950"/>
            <a:ext cx="102870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7" name="">
            <a:extLst xmlns:a="http://schemas.openxmlformats.org/drawingml/2006/main">
              <a:ext uri="{FF2B5EF4-FFF2-40B4-BE49-F238E27FC236}">
                <a16:creationId xmlns:a16="http://schemas.microsoft.com/office/drawing/2014/main" id="{E1CBF7FD-510B-4A62-9B1A-C1BB43088C57}"/>
              </a:ext>
            </a:extLst>
          </p:cNvPr>
          <p:cNvSpPr>
            <a:spLocks xmlns:a="http://schemas.openxmlformats.org/drawingml/2006/main" noGrp="1"/>
          </p:cNvSpPr>
          <p:nvPr/>
        </p:nvSpPr>
        <p:spPr>
          <a:xfrm xmlns:a="http://schemas.openxmlformats.org/drawingml/2006/main">
            <a:off x="781050" y="38862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Speech engines</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WER + speed</a:t>
            </a:r>
          </a:p>
          <a:p xmlns:a="http://schemas.openxmlformats.org/drawingml/2006/main">
            <a:pPr algn="l">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Language evaluation</a:t>
            </a:r>
          </a:p>
        </p:txBody>
      </p:sp>
      <p:sp>
        <p:nvSpPr>
          <p:cNvPr id="8" name="anim-2-value">
            <a:extLst xmlns:a="http://schemas.openxmlformats.org/drawingml/2006/main">
              <a:ext uri="{FF2B5EF4-FFF2-40B4-BE49-F238E27FC236}">
                <a16:creationId xmlns:a16="http://schemas.microsoft.com/office/drawing/2014/main" id="{C4A63236-2ADA-4609-BCED-6F39C1F403F4}"/>
              </a:ext>
            </a:extLst>
          </p:cNvPr>
          <p:cNvSpPr>
            <a:spLocks xmlns:a="http://schemas.openxmlformats.org/drawingml/2006/main" noGrp="1"/>
          </p:cNvSpPr>
          <p:nvPr/>
        </p:nvSpPr>
        <p:spPr>
          <a:xfrm xmlns:a="http://schemas.openxmlformats.org/drawingml/2006/main">
            <a:off x="4438650" y="2571750"/>
            <a:ext cx="3314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400" b="1" i="0">
                <a:solidFill>
                  <a:srgbClr val="7667F2"/>
                </a:solidFill>
                <a:latin typeface="Avenir Next"/>
                <a:ea typeface="Avenir Next"/>
                <a:cs typeface="Avenir Next"/>
              </a:defRPr>
            </a:pPr>
            <a:r>
              <a:rPr sz="2400" b="1" i="0">
                <a:solidFill>
                  <a:srgbClr val="7667F2"/>
                </a:solidFill>
                <a:latin typeface="Avenir Next"/>
                <a:ea typeface="Avenir Next"/>
                <a:cs typeface="Avenir Next"/>
              </a:rPr>
              <a:t>NATIVE macOS</a:t>
            </a:r>
          </a:p>
        </p:txBody>
      </p:sp>
      <p:sp>
        <p:nvSpPr>
          <p:cNvPr id="9" name="">
            <a:extLst xmlns:a="http://schemas.openxmlformats.org/drawingml/2006/main">
              <a:ext uri="{FF2B5EF4-FFF2-40B4-BE49-F238E27FC236}">
                <a16:creationId xmlns:a16="http://schemas.microsoft.com/office/drawing/2014/main" id="{3B6D61DD-86A0-4986-9CC4-A27A7C0FFECA}"/>
              </a:ext>
            </a:extLst>
          </p:cNvPr>
          <p:cNvSpPr>
            <a:spLocks xmlns:a="http://schemas.openxmlformats.org/drawingml/2006/main" noGrp="1"/>
          </p:cNvSpPr>
          <p:nvPr/>
        </p:nvSpPr>
        <p:spPr>
          <a:xfrm xmlns:a="http://schemas.openxmlformats.org/drawingml/2006/main">
            <a:off x="6076950" y="3714750"/>
            <a:ext cx="0" cy="400050"/>
          </a:xfrm>
          <a:prstGeom xmlns:a="http://schemas.openxmlformats.org/drawingml/2006/main" prst="line">
            <a:avLst/>
          </a:prstGeom>
          <a:noFill xmlns:a="http://schemas.openxmlformats.org/drawingml/2006/main"/>
          <a:ln xmlns:a="http://schemas.openxmlformats.org/drawingml/2006/main" w="28575">
            <a:solidFill>
              <a:srgbClr val="7667F2"/>
            </a:solidFill>
            <a:prstDash val="solid"/>
          </a:ln>
        </p:spPr>
      </p:sp>
      <p:sp>
        <p:nvSpPr>
          <p:cNvPr id="10" name="">
            <a:extLst xmlns:a="http://schemas.openxmlformats.org/drawingml/2006/main">
              <a:ext uri="{FF2B5EF4-FFF2-40B4-BE49-F238E27FC236}">
                <a16:creationId xmlns:a16="http://schemas.microsoft.com/office/drawing/2014/main" id="{2F45D675-F17D-4E76-8A84-1FE0F7BE68AF}"/>
              </a:ext>
            </a:extLst>
          </p:cNvPr>
          <p:cNvSpPr>
            <a:spLocks xmlns:a="http://schemas.openxmlformats.org/drawingml/2006/main" noGrp="1"/>
          </p:cNvSpPr>
          <p:nvPr/>
        </p:nvSpPr>
        <p:spPr>
          <a:xfrm xmlns:a="http://schemas.openxmlformats.org/drawingml/2006/main">
            <a:off x="4438650" y="3048000"/>
            <a:ext cx="331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SwiftUI + AppKit</a:t>
            </a:r>
          </a:p>
          <a:p xmlns:a="http://schemas.openxmlformats.org/drawingml/2006/main">
            <a:pPr algn="ctr">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Hotkeys • Menu bar • Accessibility</a:t>
            </a:r>
          </a:p>
        </p:txBody>
      </p:sp>
      <p:sp>
        <p:nvSpPr>
          <p:cNvPr id="11" name="anim-3-value">
            <a:extLst xmlns:a="http://schemas.openxmlformats.org/drawingml/2006/main">
              <a:ext uri="{FF2B5EF4-FFF2-40B4-BE49-F238E27FC236}">
                <a16:creationId xmlns:a16="http://schemas.microsoft.com/office/drawing/2014/main" id="{063CEB6A-0370-4F49-95B0-F9517597EC34}"/>
              </a:ext>
            </a:extLst>
          </p:cNvPr>
          <p:cNvSpPr>
            <a:spLocks xmlns:a="http://schemas.openxmlformats.org/drawingml/2006/main" noGrp="1"/>
          </p:cNvSpPr>
          <p:nvPr/>
        </p:nvSpPr>
        <p:spPr>
          <a:xfrm xmlns:a="http://schemas.openxmlformats.org/drawingml/2006/main">
            <a:off x="8496300" y="32956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2400" b="1" i="0">
                <a:solidFill>
                  <a:srgbClr val="4B9CF5"/>
                </a:solidFill>
                <a:latin typeface="Avenir Next"/>
                <a:ea typeface="Avenir Next"/>
                <a:cs typeface="Avenir Next"/>
              </a:defRPr>
            </a:pPr>
            <a:r>
              <a:rPr sz="2400" b="1" i="0">
                <a:solidFill>
                  <a:srgbClr val="4B9CF5"/>
                </a:solidFill>
                <a:latin typeface="Avenir Next"/>
                <a:ea typeface="Avenir Next"/>
                <a:cs typeface="Avenir Next"/>
              </a:rPr>
              <a:t>PRIVACY + QA</a:t>
            </a:r>
          </a:p>
        </p:txBody>
      </p:sp>
      <p:sp>
        <p:nvSpPr>
          <p:cNvPr id="12" name="">
            <a:extLst xmlns:a="http://schemas.openxmlformats.org/drawingml/2006/main">
              <a:ext uri="{FF2B5EF4-FFF2-40B4-BE49-F238E27FC236}">
                <a16:creationId xmlns:a16="http://schemas.microsoft.com/office/drawing/2014/main" id="{3B076D8C-36CB-41A7-8FE8-982884326C5A}"/>
              </a:ext>
            </a:extLst>
          </p:cNvPr>
          <p:cNvSpPr>
            <a:spLocks xmlns:a="http://schemas.openxmlformats.org/drawingml/2006/main" noGrp="1"/>
          </p:cNvSpPr>
          <p:nvPr/>
        </p:nvSpPr>
        <p:spPr>
          <a:xfrm xmlns:a="http://schemas.openxmlformats.org/drawingml/2006/main">
            <a:off x="7715250" y="4171950"/>
            <a:ext cx="78105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13" name="">
            <a:extLst xmlns:a="http://schemas.openxmlformats.org/drawingml/2006/main">
              <a:ext uri="{FF2B5EF4-FFF2-40B4-BE49-F238E27FC236}">
                <a16:creationId xmlns:a16="http://schemas.microsoft.com/office/drawing/2014/main" id="{48D33E77-B50C-4A50-9BFF-7C61E117AD95}"/>
              </a:ext>
            </a:extLst>
          </p:cNvPr>
          <p:cNvSpPr>
            <a:spLocks xmlns:a="http://schemas.openxmlformats.org/drawingml/2006/main" noGrp="1"/>
          </p:cNvSpPr>
          <p:nvPr/>
        </p:nvSpPr>
        <p:spPr>
          <a:xfrm xmlns:a="http://schemas.openxmlformats.org/drawingml/2006/main">
            <a:off x="8496300" y="3886200"/>
            <a:ext cx="2895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AES-GCM + Keychain</a:t>
            </a:r>
          </a:p>
          <a:p xmlns:a="http://schemas.openxmlformats.org/drawingml/2006/main">
            <a:pPr algn="r">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Private Dictation</a:t>
            </a:r>
          </a:p>
          <a:p xmlns:a="http://schemas.openxmlformats.org/drawingml/2006/main">
            <a:pPr algn="r">
              <a:buNone/>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Benchmark + release gates</a:t>
            </a:r>
          </a:p>
        </p:txBody>
      </p:sp>
      <p:sp>
        <p:nvSpPr>
          <p:cNvPr id="14" name="">
            <a:extLst xmlns:a="http://schemas.openxmlformats.org/drawingml/2006/main">
              <a:ext uri="{FF2B5EF4-FFF2-40B4-BE49-F238E27FC236}">
                <a16:creationId xmlns:a16="http://schemas.microsoft.com/office/drawing/2014/main" id="{335C01BF-4BE9-4512-8AFE-7822391BA290}"/>
              </a:ext>
            </a:extLst>
          </p:cNvPr>
          <p:cNvSpPr>
            <a:spLocks xmlns:a="http://schemas.openxmlformats.org/drawingml/2006/main" noGrp="1"/>
          </p:cNvSpPr>
          <p:nvPr/>
        </p:nvSpPr>
        <p:spPr>
          <a:xfrm xmlns:a="http://schemas.openxmlformats.org/drawingml/2006/main">
            <a:off x="4476750" y="3905250"/>
            <a:ext cx="3238500" cy="1066800"/>
          </a:xfrm>
          <a:prstGeom xmlns:a="http://schemas.openxmlformats.org/drawingml/2006/main" prst="roundRect">
            <a:avLst>
              <a:gd name="adj" fmla="val 23214"/>
            </a:avLst>
          </a:prstGeom>
          <a:solidFill xmlns:a="http://schemas.openxmlformats.org/drawingml/2006/main">
            <a:srgbClr val="17171E"/>
          </a:solidFill>
          <a:ln xmlns:a="http://schemas.openxmlformats.org/drawingml/2006/main" w="19050">
            <a:solidFill>
              <a:srgbClr val="D7A75E"/>
            </a:solidFill>
            <a:prstDash val="solid"/>
          </a:ln>
        </p:spPr>
        <p:txBody>
          <a:bodyPr xmlns:a="http://schemas.openxmlformats.org/drawingml/2006/main" anchor="t"/>
          <a:lstStyle xmlns:a="http://schemas.openxmlformats.org/drawingml/2006/main"/>
          <a:p xmlns:a="http://schemas.openxmlformats.org/drawingml/2006/main">
            <a:pPr algn="ctr">
              <a:buNone/>
              <a:defRPr sz="1950" b="1" i="0">
                <a:solidFill>
                  <a:srgbClr val="F0C47C"/>
                </a:solidFill>
                <a:latin typeface="Avenir Next"/>
                <a:ea typeface="Avenir Next"/>
                <a:cs typeface="Avenir Next"/>
              </a:defRPr>
            </a:pPr>
            <a:r>
              <a:rPr sz="1950" b="1" i="0">
                <a:solidFill>
                  <a:srgbClr val="F0C47C"/>
                </a:solidFill>
                <a:latin typeface="Avenir Next"/>
                <a:ea typeface="Avenir Next"/>
                <a:cs typeface="Avenir Next"/>
              </a:rPr>
              <a:t>ZENVOICE</a:t>
            </a:r>
          </a:p>
          <a:p xmlns:a="http://schemas.openxmlformats.org/drawingml/2006/main">
            <a:pPr algn="ctr">
              <a:buNone/>
              <a:defRPr sz="1950" b="1" i="0">
                <a:solidFill>
                  <a:srgbClr val="F0C47C"/>
                </a:solidFill>
                <a:latin typeface="Avenir Next"/>
                <a:ea typeface="Avenir Next"/>
                <a:cs typeface="Avenir Next"/>
              </a:defRPr>
            </a:pPr>
            <a:r>
              <a:rPr sz="1950" b="1" i="0">
                <a:solidFill>
                  <a:srgbClr val="F0C47C"/>
                </a:solidFill>
                <a:latin typeface="Avenir Next"/>
                <a:ea typeface="Avenir Next"/>
                <a:cs typeface="Avenir Next"/>
              </a:rPr>
              <a:t>COLLEGE PROJECT</a:t>
            </a:r>
          </a:p>
        </p:txBody>
      </p:sp>
      <p:sp>
        <p:nvSpPr>
          <p:cNvPr id="15" name="">
            <a:extLst xmlns:a="http://schemas.openxmlformats.org/drawingml/2006/main">
              <a:ext uri="{FF2B5EF4-FFF2-40B4-BE49-F238E27FC236}">
                <a16:creationId xmlns:a16="http://schemas.microsoft.com/office/drawing/2014/main" id="{01D91A55-0B0A-4969-931F-DC5494418BFC}"/>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718A8D7C-8CA3-42C7-B5C4-31BF0BEB866F}"/>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66233C18-A1B2-4AD7-B744-A43E8787E419}"/>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11</a:t>
            </a:r>
          </a:p>
        </p:txBody>
      </p:sp>
    </p:spTree>
    <p:extLst>
      <p:ext uri="{BB962C8B-B14F-4D97-AF65-F5344CB8AC3E}">
        <p14:creationId xmlns:p14="http://schemas.microsoft.com/office/powerpoint/2010/main" val="1626776976"/>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1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f4750ac1bd5436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286CDD-2D96-4748-B837-E16A258F712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sp>
        <p:nvSpPr>
          <p:cNvPr id="3" name="">
            <a:extLst xmlns:a="http://schemas.openxmlformats.org/drawingml/2006/main">
              <a:ext uri="{FF2B5EF4-FFF2-40B4-BE49-F238E27FC236}">
                <a16:creationId xmlns:a16="http://schemas.microsoft.com/office/drawing/2014/main" id="{2A411A8D-9521-4782-9638-8BBCFA36487E}"/>
              </a:ext>
            </a:extLst>
          </p:cNvPr>
          <p:cNvSpPr>
            <a:spLocks xmlns:a="http://schemas.openxmlformats.org/drawingml/2006/main" noGrp="1"/>
          </p:cNvSpPr>
          <p:nvPr/>
        </p:nvSpPr>
        <p:spPr>
          <a:xfrm xmlns:a="http://schemas.openxmlformats.org/drawingml/2006/main">
            <a:off x="609600" y="4381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12  /  EDUCATION DIRECTION</a:t>
            </a:r>
          </a:p>
        </p:txBody>
      </p:sp>
      <p:sp>
        <p:nvSpPr>
          <p:cNvPr id="4" name="">
            <a:extLst xmlns:a="http://schemas.openxmlformats.org/drawingml/2006/main">
              <a:ext uri="{FF2B5EF4-FFF2-40B4-BE49-F238E27FC236}">
                <a16:creationId xmlns:a16="http://schemas.microsoft.com/office/drawing/2014/main" id="{EF3EDC44-FC80-495D-BD05-BA8471A0E4D4}"/>
              </a:ext>
            </a:extLst>
          </p:cNvPr>
          <p:cNvSpPr>
            <a:spLocks xmlns:a="http://schemas.openxmlformats.org/drawingml/2006/main" noGrp="1"/>
          </p:cNvSpPr>
          <p:nvPr/>
        </p:nvSpPr>
        <p:spPr>
          <a:xfrm xmlns:a="http://schemas.openxmlformats.org/drawingml/2006/main">
            <a:off x="609600" y="876300"/>
            <a:ext cx="590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i="0">
                <a:solidFill>
                  <a:srgbClr val="F7F4EF"/>
                </a:solidFill>
                <a:latin typeface="Avenir Next"/>
                <a:ea typeface="Avenir Next"/>
                <a:cs typeface="Avenir Next"/>
              </a:defRPr>
            </a:pPr>
            <a:r>
              <a:rPr sz="3900" b="1" i="0">
                <a:solidFill>
                  <a:srgbClr val="F7F4EF"/>
                </a:solidFill>
                <a:latin typeface="Avenir Next"/>
                <a:ea typeface="Avenir Next"/>
                <a:cs typeface="Avenir Next"/>
              </a:rPr>
              <a:t>Capture the lecture.</a:t>
            </a:r>
          </a:p>
          <a:p xmlns:a="http://schemas.openxmlformats.org/drawingml/2006/main">
            <a:pPr algn="l">
              <a:buNone/>
              <a:defRPr sz="3900" b="1" i="0">
                <a:solidFill>
                  <a:srgbClr val="F7F4EF"/>
                </a:solidFill>
                <a:latin typeface="Avenir Next"/>
                <a:ea typeface="Avenir Next"/>
                <a:cs typeface="Avenir Next"/>
              </a:defRPr>
            </a:pPr>
            <a:r>
              <a:rPr sz="3900" b="1" i="0">
                <a:solidFill>
                  <a:srgbClr val="F7F4EF"/>
                </a:solidFill>
                <a:latin typeface="Avenir Next"/>
                <a:ea typeface="Avenir Next"/>
                <a:cs typeface="Avenir Next"/>
              </a:rPr>
              <a:t>Protect the people.</a:t>
            </a:r>
          </a:p>
        </p:txBody>
      </p:sp>
      <p:sp>
        <p:nvSpPr>
          <p:cNvPr id="5" name="">
            <a:extLst xmlns:a="http://schemas.openxmlformats.org/drawingml/2006/main">
              <a:ext uri="{FF2B5EF4-FFF2-40B4-BE49-F238E27FC236}">
                <a16:creationId xmlns:a16="http://schemas.microsoft.com/office/drawing/2014/main" id="{B1157C46-D91B-4706-9E54-8E897FCAB0CA}"/>
              </a:ext>
            </a:extLst>
          </p:cNvPr>
          <p:cNvSpPr>
            <a:spLocks xmlns:a="http://schemas.openxmlformats.org/drawingml/2006/main" noGrp="1"/>
          </p:cNvSpPr>
          <p:nvPr/>
        </p:nvSpPr>
        <p:spPr>
          <a:xfrm xmlns:a="http://schemas.openxmlformats.org/drawingml/2006/main">
            <a:off x="609600" y="22669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useful classroom feature must preserve the original and refuse unreliable identity labels.</a:t>
            </a:r>
          </a:p>
        </p:txBody>
      </p:sp>
      <p:sp>
        <p:nvSpPr>
          <p:cNvPr id="6" name="">
            <a:extLst xmlns:a="http://schemas.openxmlformats.org/drawingml/2006/main">
              <a:ext uri="{FF2B5EF4-FFF2-40B4-BE49-F238E27FC236}">
                <a16:creationId xmlns:a16="http://schemas.microsoft.com/office/drawing/2014/main" id="{BE035594-9C29-43E9-A6F6-C22209F70664}"/>
              </a:ext>
            </a:extLst>
          </p:cNvPr>
          <p:cNvSpPr>
            <a:spLocks xmlns:a="http://schemas.openxmlformats.org/drawingml/2006/main" noGrp="1"/>
          </p:cNvSpPr>
          <p:nvPr/>
        </p:nvSpPr>
        <p:spPr>
          <a:xfrm xmlns:a="http://schemas.openxmlformats.org/drawingml/2006/main">
            <a:off x="609600" y="33337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01</a:t>
            </a:r>
          </a:p>
        </p:txBody>
      </p:sp>
      <p:sp>
        <p:nvSpPr>
          <p:cNvPr id="7" name="anim-1-lecture">
            <a:extLst xmlns:a="http://schemas.openxmlformats.org/drawingml/2006/main">
              <a:ext uri="{FF2B5EF4-FFF2-40B4-BE49-F238E27FC236}">
                <a16:creationId xmlns:a16="http://schemas.microsoft.com/office/drawing/2014/main" id="{F9B66753-9168-4036-8761-680198601891}"/>
              </a:ext>
            </a:extLst>
          </p:cNvPr>
          <p:cNvSpPr>
            <a:spLocks xmlns:a="http://schemas.openxmlformats.org/drawingml/2006/main" noGrp="1"/>
          </p:cNvSpPr>
          <p:nvPr/>
        </p:nvSpPr>
        <p:spPr>
          <a:xfrm xmlns:a="http://schemas.openxmlformats.org/drawingml/2006/main">
            <a:off x="1123950" y="33051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Capture</a:t>
            </a:r>
          </a:p>
        </p:txBody>
      </p:sp>
      <p:sp>
        <p:nvSpPr>
          <p:cNvPr id="8" name="">
            <a:extLst xmlns:a="http://schemas.openxmlformats.org/drawingml/2006/main">
              <a:ext uri="{FF2B5EF4-FFF2-40B4-BE49-F238E27FC236}">
                <a16:creationId xmlns:a16="http://schemas.microsoft.com/office/drawing/2014/main" id="{78B693C9-D886-4683-91F9-3CCA51CCE161}"/>
              </a:ext>
            </a:extLst>
          </p:cNvPr>
          <p:cNvSpPr>
            <a:spLocks xmlns:a="http://schemas.openxmlformats.org/drawingml/2006/main" noGrp="1"/>
          </p:cNvSpPr>
          <p:nvPr/>
        </p:nvSpPr>
        <p:spPr>
          <a:xfrm xmlns:a="http://schemas.openxmlformats.org/drawingml/2006/main">
            <a:off x="2724150" y="3333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Local 16 kHz WAV</a:t>
            </a:r>
          </a:p>
        </p:txBody>
      </p:sp>
      <p:sp>
        <p:nvSpPr>
          <p:cNvPr id="9" name="">
            <a:extLst xmlns:a="http://schemas.openxmlformats.org/drawingml/2006/main">
              <a:ext uri="{FF2B5EF4-FFF2-40B4-BE49-F238E27FC236}">
                <a16:creationId xmlns:a16="http://schemas.microsoft.com/office/drawing/2014/main" id="{17143E14-F26D-421C-8BC9-B4A215DFCEF1}"/>
              </a:ext>
            </a:extLst>
          </p:cNvPr>
          <p:cNvSpPr>
            <a:spLocks xmlns:a="http://schemas.openxmlformats.org/drawingml/2006/main" noGrp="1"/>
          </p:cNvSpPr>
          <p:nvPr/>
        </p:nvSpPr>
        <p:spPr>
          <a:xfrm xmlns:a="http://schemas.openxmlformats.org/drawingml/2006/main">
            <a:off x="609600" y="411480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7667F2"/>
                </a:solidFill>
                <a:latin typeface="Avenir Next"/>
                <a:ea typeface="Avenir Next"/>
                <a:cs typeface="Avenir Next"/>
              </a:defRPr>
            </a:pPr>
            <a:r>
              <a:rPr sz="975" b="1" i="0">
                <a:solidFill>
                  <a:srgbClr val="7667F2"/>
                </a:solidFill>
                <a:latin typeface="Avenir Next"/>
                <a:ea typeface="Avenir Next"/>
                <a:cs typeface="Avenir Next"/>
              </a:rPr>
              <a:t>02</a:t>
            </a:r>
          </a:p>
        </p:txBody>
      </p:sp>
      <p:sp>
        <p:nvSpPr>
          <p:cNvPr id="10" name="anim-2-lecture">
            <a:extLst xmlns:a="http://schemas.openxmlformats.org/drawingml/2006/main">
              <a:ext uri="{FF2B5EF4-FFF2-40B4-BE49-F238E27FC236}">
                <a16:creationId xmlns:a16="http://schemas.microsoft.com/office/drawing/2014/main" id="{58ADF724-C7CE-4BC7-ACDD-805BDA290703}"/>
              </a:ext>
            </a:extLst>
          </p:cNvPr>
          <p:cNvSpPr>
            <a:spLocks xmlns:a="http://schemas.openxmlformats.org/drawingml/2006/main" noGrp="1"/>
          </p:cNvSpPr>
          <p:nvPr/>
        </p:nvSpPr>
        <p:spPr>
          <a:xfrm xmlns:a="http://schemas.openxmlformats.org/drawingml/2006/main">
            <a:off x="1123950" y="40862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Transcribe</a:t>
            </a:r>
          </a:p>
        </p:txBody>
      </p:sp>
      <p:sp>
        <p:nvSpPr>
          <p:cNvPr id="11" name="">
            <a:extLst xmlns:a="http://schemas.openxmlformats.org/drawingml/2006/main">
              <a:ext uri="{FF2B5EF4-FFF2-40B4-BE49-F238E27FC236}">
                <a16:creationId xmlns:a16="http://schemas.microsoft.com/office/drawing/2014/main" id="{FA16502C-E3CA-474D-BACA-7FA4FD17CA25}"/>
              </a:ext>
            </a:extLst>
          </p:cNvPr>
          <p:cNvSpPr>
            <a:spLocks xmlns:a="http://schemas.openxmlformats.org/drawingml/2006/main" noGrp="1"/>
          </p:cNvSpPr>
          <p:nvPr/>
        </p:nvSpPr>
        <p:spPr>
          <a:xfrm xmlns:a="http://schemas.openxmlformats.org/drawingml/2006/main">
            <a:off x="2724150" y="41148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Immutable local original</a:t>
            </a:r>
          </a:p>
        </p:txBody>
      </p:sp>
      <p:sp>
        <p:nvSpPr>
          <p:cNvPr id="12" name="">
            <a:extLst xmlns:a="http://schemas.openxmlformats.org/drawingml/2006/main">
              <a:ext uri="{FF2B5EF4-FFF2-40B4-BE49-F238E27FC236}">
                <a16:creationId xmlns:a16="http://schemas.microsoft.com/office/drawing/2014/main" id="{E6D717F8-2EE5-4533-B025-4F2BCF3FA495}"/>
              </a:ext>
            </a:extLst>
          </p:cNvPr>
          <p:cNvSpPr>
            <a:spLocks xmlns:a="http://schemas.openxmlformats.org/drawingml/2006/main" noGrp="1"/>
          </p:cNvSpPr>
          <p:nvPr/>
        </p:nvSpPr>
        <p:spPr>
          <a:xfrm xmlns:a="http://schemas.openxmlformats.org/drawingml/2006/main">
            <a:off x="609600" y="48958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4B9CF5"/>
                </a:solidFill>
                <a:latin typeface="Avenir Next"/>
                <a:ea typeface="Avenir Next"/>
                <a:cs typeface="Avenir Next"/>
              </a:defRPr>
            </a:pPr>
            <a:r>
              <a:rPr sz="975" b="1" i="0">
                <a:solidFill>
                  <a:srgbClr val="4B9CF5"/>
                </a:solidFill>
                <a:latin typeface="Avenir Next"/>
                <a:ea typeface="Avenir Next"/>
                <a:cs typeface="Avenir Next"/>
              </a:rPr>
              <a:t>03</a:t>
            </a:r>
          </a:p>
        </p:txBody>
      </p:sp>
      <p:sp>
        <p:nvSpPr>
          <p:cNvPr id="13" name="anim-3-lecture">
            <a:extLst xmlns:a="http://schemas.openxmlformats.org/drawingml/2006/main">
              <a:ext uri="{FF2B5EF4-FFF2-40B4-BE49-F238E27FC236}">
                <a16:creationId xmlns:a16="http://schemas.microsoft.com/office/drawing/2014/main" id="{1249B707-40B7-4463-8CC2-459926A0C857}"/>
              </a:ext>
            </a:extLst>
          </p:cNvPr>
          <p:cNvSpPr>
            <a:spLocks xmlns:a="http://schemas.openxmlformats.org/drawingml/2006/main" noGrp="1"/>
          </p:cNvSpPr>
          <p:nvPr/>
        </p:nvSpPr>
        <p:spPr>
          <a:xfrm xmlns:a="http://schemas.openxmlformats.org/drawingml/2006/main">
            <a:off x="1123950" y="48672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Summarize</a:t>
            </a:r>
          </a:p>
        </p:txBody>
      </p:sp>
      <p:sp>
        <p:nvSpPr>
          <p:cNvPr id="14" name="">
            <a:extLst xmlns:a="http://schemas.openxmlformats.org/drawingml/2006/main">
              <a:ext uri="{FF2B5EF4-FFF2-40B4-BE49-F238E27FC236}">
                <a16:creationId xmlns:a16="http://schemas.microsoft.com/office/drawing/2014/main" id="{7627D6F9-96E6-4A2D-B148-6B1622416099}"/>
              </a:ext>
            </a:extLst>
          </p:cNvPr>
          <p:cNvSpPr>
            <a:spLocks xmlns:a="http://schemas.openxmlformats.org/drawingml/2006/main" noGrp="1"/>
          </p:cNvSpPr>
          <p:nvPr/>
        </p:nvSpPr>
        <p:spPr>
          <a:xfrm xmlns:a="http://schemas.openxmlformats.org/drawingml/2006/main">
            <a:off x="2724150" y="4895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Optional text-only BYO-key path</a:t>
            </a:r>
          </a:p>
        </p:txBody>
      </p:sp>
      <p:sp>
        <p:nvSpPr>
          <p:cNvPr id="15" name="">
            <a:extLst xmlns:a="http://schemas.openxmlformats.org/drawingml/2006/main">
              <a:ext uri="{FF2B5EF4-FFF2-40B4-BE49-F238E27FC236}">
                <a16:creationId xmlns:a16="http://schemas.microsoft.com/office/drawing/2014/main" id="{0840CFD0-FB1B-4D48-9C58-2145FD85ADDA}"/>
              </a:ext>
            </a:extLst>
          </p:cNvPr>
          <p:cNvSpPr>
            <a:spLocks xmlns:a="http://schemas.openxmlformats.org/drawingml/2006/main" noGrp="1"/>
          </p:cNvSpPr>
          <p:nvPr/>
        </p:nvSpPr>
        <p:spPr>
          <a:xfrm xmlns:a="http://schemas.openxmlformats.org/drawingml/2006/main">
            <a:off x="609600" y="5829300"/>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EF6A5B"/>
                </a:solidFill>
                <a:latin typeface="Avenir Next"/>
                <a:ea typeface="Avenir Next"/>
                <a:cs typeface="Avenir Next"/>
              </a:defRPr>
            </a:pPr>
            <a:r>
              <a:rPr sz="1500" b="1" i="0">
                <a:solidFill>
                  <a:srgbClr val="EF6A5B"/>
                </a:solidFill>
                <a:latin typeface="Avenir Next"/>
                <a:ea typeface="Avenir Next"/>
                <a:cs typeface="Avenir Next"/>
              </a:rPr>
              <a:t>Speaker diarization remains gated: tested candidates did not meet the reliability threshold.</a:t>
            </a:r>
          </a:p>
        </p:txBody>
      </p:sp>
      <p:sp>
        <p:nvSpPr>
          <p:cNvPr id="16" name="">
            <a:extLst xmlns:a="http://schemas.openxmlformats.org/drawingml/2006/main">
              <a:ext uri="{FF2B5EF4-FFF2-40B4-BE49-F238E27FC236}">
                <a16:creationId xmlns:a16="http://schemas.microsoft.com/office/drawing/2014/main" id="{4A42A901-ACD2-4CE0-BE25-7F8EAEA0427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7" name="">
            <a:extLst xmlns:a="http://schemas.openxmlformats.org/drawingml/2006/main">
              <a:ext uri="{FF2B5EF4-FFF2-40B4-BE49-F238E27FC236}">
                <a16:creationId xmlns:a16="http://schemas.microsoft.com/office/drawing/2014/main" id="{5D73A88C-9850-4222-A61B-F61781B66886}"/>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8" name="">
            <a:extLst xmlns:a="http://schemas.openxmlformats.org/drawingml/2006/main">
              <a:ext uri="{FF2B5EF4-FFF2-40B4-BE49-F238E27FC236}">
                <a16:creationId xmlns:a16="http://schemas.microsoft.com/office/drawing/2014/main" id="{6E3989E8-6B3C-49D8-B2E2-0D33B261CF2B}"/>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12</a:t>
            </a:r>
          </a:p>
        </p:txBody>
      </p:sp>
    </p:spTree>
    <p:extLst>
      <p:ext uri="{BB962C8B-B14F-4D97-AF65-F5344CB8AC3E}">
        <p14:creationId xmlns:p14="http://schemas.microsoft.com/office/powerpoint/2010/main" val="394065892"/>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3"/>
                                        </p:tgtEl>
                                      </p:cBhvr>
                                    </p:animEffect>
                                  </p:childTnLst>
                                </p:cTn>
                              </p:par>
                            </p:childTnLst>
                          </p:cTn>
                        </p:par>
                      </p:childTnLst>
                    </p:cTn>
                  </p:par>
                </p:childTnLst>
              </p:cTn>
            </p:seq>
          </p:childTnLst>
        </p:cTn>
      </p:par>
    </p:tnLst>
  </p:timing>
</p:sld>
</file>

<file path=ppt/slides/slide13.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5FF880-34EE-4659-9ACA-8ED24BED6747}"/>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13  /  ROADMAP</a:t>
            </a:r>
          </a:p>
        </p:txBody>
      </p:sp>
      <p:sp>
        <p:nvSpPr>
          <p:cNvPr id="2" name="">
            <a:extLst xmlns:a="http://schemas.openxmlformats.org/drawingml/2006/main">
              <a:ext uri="{FF2B5EF4-FFF2-40B4-BE49-F238E27FC236}">
                <a16:creationId xmlns:a16="http://schemas.microsoft.com/office/drawing/2014/main" id="{10381254-9658-472F-8D93-5AA455A9F094}"/>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Working alpha. Evidence-gated release.</a:t>
            </a:r>
          </a:p>
        </p:txBody>
      </p:sp>
      <p:sp>
        <p:nvSpPr>
          <p:cNvPr id="3" name="">
            <a:extLst xmlns:a="http://schemas.openxmlformats.org/drawingml/2006/main">
              <a:ext uri="{FF2B5EF4-FFF2-40B4-BE49-F238E27FC236}">
                <a16:creationId xmlns:a16="http://schemas.microsoft.com/office/drawing/2014/main" id="{387B0302-6607-4582-98AE-F8EAEEA78294}"/>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running app is real progress; shipping needs a verified package and a clean-device experience.</a:t>
            </a:r>
          </a:p>
        </p:txBody>
      </p:sp>
      <p:sp>
        <p:nvSpPr>
          <p:cNvPr id="4" name="">
            <a:extLst xmlns:a="http://schemas.openxmlformats.org/drawingml/2006/main">
              <a:ext uri="{FF2B5EF4-FFF2-40B4-BE49-F238E27FC236}">
                <a16:creationId xmlns:a16="http://schemas.microsoft.com/office/drawing/2014/main" id="{2CC75169-0F6D-4D02-9D34-6FC72E7B70F8}"/>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F4FAFF02-54FB-4625-9B0D-15ECB08AE141}"/>
              </a:ext>
            </a:extLst>
          </p:cNvPr>
          <p:cNvSpPr>
            <a:spLocks xmlns:a="http://schemas.openxmlformats.org/drawingml/2006/main" noGrp="1"/>
          </p:cNvSpPr>
          <p:nvPr/>
        </p:nvSpPr>
        <p:spPr>
          <a:xfrm xmlns:a="http://schemas.openxmlformats.org/drawingml/2006/main">
            <a:off x="1428750" y="4057650"/>
            <a:ext cx="9239250" cy="0"/>
          </a:xfrm>
          <a:prstGeom xmlns:a="http://schemas.openxmlformats.org/drawingml/2006/main" prst="line">
            <a:avLst/>
          </a:prstGeom>
          <a:noFill xmlns:a="http://schemas.openxmlformats.org/drawingml/2006/main"/>
          <a:ln xmlns:a="http://schemas.openxmlformats.org/drawingml/2006/main" w="38100">
            <a:solidFill>
              <a:srgbClr val="36333E"/>
            </a:solidFill>
            <a:prstDash val="solid"/>
          </a:ln>
        </p:spPr>
      </p:sp>
      <p:sp>
        <p:nvSpPr>
          <p:cNvPr id="6" name="motion-dot-1">
            <a:extLst xmlns:a="http://schemas.openxmlformats.org/drawingml/2006/main">
              <a:ext uri="{FF2B5EF4-FFF2-40B4-BE49-F238E27FC236}">
                <a16:creationId xmlns:a16="http://schemas.microsoft.com/office/drawing/2014/main" id="{0AC28F54-D79A-414F-800C-FCE656FFD592}"/>
              </a:ext>
            </a:extLst>
          </p:cNvPr>
          <p:cNvSpPr>
            <a:spLocks xmlns:a="http://schemas.openxmlformats.org/drawingml/2006/main" noGrp="1"/>
          </p:cNvSpPr>
          <p:nvPr/>
        </p:nvSpPr>
        <p:spPr>
          <a:xfrm xmlns:a="http://schemas.openxmlformats.org/drawingml/2006/main">
            <a:off x="1638300" y="3714750"/>
            <a:ext cx="685800" cy="685800"/>
          </a:xfrm>
          <a:prstGeom xmlns:a="http://schemas.openxmlformats.org/drawingml/2006/main" prst="ellipse">
            <a:avLst/>
          </a:prstGeom>
          <a:solidFill xmlns:a="http://schemas.openxmlformats.org/drawingml/2006/main">
            <a:srgbClr val="52B788"/>
          </a:solidFill>
          <a:ln xmlns:a="http://schemas.openxmlformats.org/drawingml/2006/main" w="0">
            <a:solidFill>
              <a:srgbClr val="52B788"/>
            </a:solidFill>
            <a:prstDash val="solid"/>
          </a:ln>
        </p:spPr>
      </p:sp>
      <p:sp>
        <p:nvSpPr>
          <p:cNvPr id="7" name="anim-1-roadmap">
            <a:extLst xmlns:a="http://schemas.openxmlformats.org/drawingml/2006/main">
              <a:ext uri="{FF2B5EF4-FFF2-40B4-BE49-F238E27FC236}">
                <a16:creationId xmlns:a16="http://schemas.microsoft.com/office/drawing/2014/main" id="{91D59AC8-DC00-4730-A31E-994ADB5DB603}"/>
              </a:ext>
            </a:extLst>
          </p:cNvPr>
          <p:cNvSpPr>
            <a:spLocks xmlns:a="http://schemas.openxmlformats.org/drawingml/2006/main" noGrp="1"/>
          </p:cNvSpPr>
          <p:nvPr/>
        </p:nvSpPr>
        <p:spPr>
          <a:xfrm xmlns:a="http://schemas.openxmlformats.org/drawingml/2006/main">
            <a:off x="1181100"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52B788"/>
                </a:solidFill>
                <a:latin typeface="Avenir Next"/>
                <a:ea typeface="Avenir Next"/>
                <a:cs typeface="Avenir Next"/>
              </a:defRPr>
            </a:pPr>
            <a:r>
              <a:rPr sz="1725" b="1" i="0">
                <a:solidFill>
                  <a:srgbClr val="52B788"/>
                </a:solidFill>
                <a:latin typeface="Avenir Next"/>
                <a:ea typeface="Avenir Next"/>
                <a:cs typeface="Avenir Next"/>
              </a:rPr>
              <a:t>NOW</a:t>
            </a:r>
          </a:p>
        </p:txBody>
      </p:sp>
      <p:sp>
        <p:nvSpPr>
          <p:cNvPr id="8" name="">
            <a:extLst xmlns:a="http://schemas.openxmlformats.org/drawingml/2006/main">
              <a:ext uri="{FF2B5EF4-FFF2-40B4-BE49-F238E27FC236}">
                <a16:creationId xmlns:a16="http://schemas.microsoft.com/office/drawing/2014/main" id="{934E655C-FB27-42FA-A07F-9897B2C46060}"/>
              </a:ext>
            </a:extLst>
          </p:cNvPr>
          <p:cNvSpPr>
            <a:spLocks xmlns:a="http://schemas.openxmlformats.org/drawingml/2006/main" noGrp="1"/>
          </p:cNvSpPr>
          <p:nvPr/>
        </p:nvSpPr>
        <p:spPr>
          <a:xfrm xmlns:a="http://schemas.openxmlformats.org/drawingml/2006/main">
            <a:off x="666750"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Native menu-bar app</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Local engines</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Encrypted History</a:t>
            </a:r>
          </a:p>
        </p:txBody>
      </p:sp>
      <p:sp>
        <p:nvSpPr>
          <p:cNvPr id="9" name="motion-dot-2">
            <a:extLst xmlns:a="http://schemas.openxmlformats.org/drawingml/2006/main">
              <a:ext uri="{FF2B5EF4-FFF2-40B4-BE49-F238E27FC236}">
                <a16:creationId xmlns:a16="http://schemas.microsoft.com/office/drawing/2014/main" id="{05F0B9E0-253C-4D6F-B045-0D57E8F2E84D}"/>
              </a:ext>
            </a:extLst>
          </p:cNvPr>
          <p:cNvSpPr>
            <a:spLocks xmlns:a="http://schemas.openxmlformats.org/drawingml/2006/main" noGrp="1"/>
          </p:cNvSpPr>
          <p:nvPr/>
        </p:nvSpPr>
        <p:spPr>
          <a:xfrm xmlns:a="http://schemas.openxmlformats.org/drawingml/2006/main">
            <a:off x="5572125" y="3714750"/>
            <a:ext cx="685800" cy="685800"/>
          </a:xfrm>
          <a:prstGeom xmlns:a="http://schemas.openxmlformats.org/drawingml/2006/main" prst="ellipse">
            <a:avLst/>
          </a:prstGeom>
          <a:solidFill xmlns:a="http://schemas.openxmlformats.org/drawingml/2006/main">
            <a:srgbClr val="D7A75E"/>
          </a:solidFill>
          <a:ln xmlns:a="http://schemas.openxmlformats.org/drawingml/2006/main" w="0">
            <a:solidFill>
              <a:srgbClr val="D7A75E"/>
            </a:solidFill>
            <a:prstDash val="solid"/>
          </a:ln>
        </p:spPr>
      </p:sp>
      <p:sp>
        <p:nvSpPr>
          <p:cNvPr id="10" name="anim-2-roadmap">
            <a:extLst xmlns:a="http://schemas.openxmlformats.org/drawingml/2006/main">
              <a:ext uri="{FF2B5EF4-FFF2-40B4-BE49-F238E27FC236}">
                <a16:creationId xmlns:a16="http://schemas.microsoft.com/office/drawing/2014/main" id="{1C6FDA90-5B37-4CE5-9220-0A36EB7FE940}"/>
              </a:ext>
            </a:extLst>
          </p:cNvPr>
          <p:cNvSpPr>
            <a:spLocks xmlns:a="http://schemas.openxmlformats.org/drawingml/2006/main" noGrp="1"/>
          </p:cNvSpPr>
          <p:nvPr/>
        </p:nvSpPr>
        <p:spPr>
          <a:xfrm xmlns:a="http://schemas.openxmlformats.org/drawingml/2006/main">
            <a:off x="5114925"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D7A75E"/>
                </a:solidFill>
                <a:latin typeface="Avenir Next"/>
                <a:ea typeface="Avenir Next"/>
                <a:cs typeface="Avenir Next"/>
              </a:defRPr>
            </a:pPr>
            <a:r>
              <a:rPr sz="1725" b="1" i="0">
                <a:solidFill>
                  <a:srgbClr val="D7A75E"/>
                </a:solidFill>
                <a:latin typeface="Avenir Next"/>
                <a:ea typeface="Avenir Next"/>
                <a:cs typeface="Avenir Next"/>
              </a:rPr>
              <a:t>NEXT</a:t>
            </a:r>
          </a:p>
        </p:txBody>
      </p:sp>
      <p:sp>
        <p:nvSpPr>
          <p:cNvPr id="11" name="">
            <a:extLst xmlns:a="http://schemas.openxmlformats.org/drawingml/2006/main">
              <a:ext uri="{FF2B5EF4-FFF2-40B4-BE49-F238E27FC236}">
                <a16:creationId xmlns:a16="http://schemas.microsoft.com/office/drawing/2014/main" id="{323C86DF-DFED-4801-B167-65F5BA52C543}"/>
              </a:ext>
            </a:extLst>
          </p:cNvPr>
          <p:cNvSpPr>
            <a:spLocks xmlns:a="http://schemas.openxmlformats.org/drawingml/2006/main" noGrp="1"/>
          </p:cNvSpPr>
          <p:nvPr/>
        </p:nvSpPr>
        <p:spPr>
          <a:xfrm xmlns:a="http://schemas.openxmlformats.org/drawingml/2006/main">
            <a:off x="4600575"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Daily reliability</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Lifecycle coverage</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Manual QA</a:t>
            </a:r>
          </a:p>
        </p:txBody>
      </p:sp>
      <p:sp>
        <p:nvSpPr>
          <p:cNvPr id="12" name="motion-dot-3">
            <a:extLst xmlns:a="http://schemas.openxmlformats.org/drawingml/2006/main">
              <a:ext uri="{FF2B5EF4-FFF2-40B4-BE49-F238E27FC236}">
                <a16:creationId xmlns:a16="http://schemas.microsoft.com/office/drawing/2014/main" id="{9CBAD509-69A3-4083-9CDB-EDDC32C761AA}"/>
              </a:ext>
            </a:extLst>
          </p:cNvPr>
          <p:cNvSpPr>
            <a:spLocks xmlns:a="http://schemas.openxmlformats.org/drawingml/2006/main" noGrp="1"/>
          </p:cNvSpPr>
          <p:nvPr/>
        </p:nvSpPr>
        <p:spPr>
          <a:xfrm xmlns:a="http://schemas.openxmlformats.org/drawingml/2006/main">
            <a:off x="9505950" y="3714750"/>
            <a:ext cx="685800" cy="685800"/>
          </a:xfrm>
          <a:prstGeom xmlns:a="http://schemas.openxmlformats.org/drawingml/2006/main" prst="ellipse">
            <a:avLst/>
          </a:prstGeom>
          <a:solidFill xmlns:a="http://schemas.openxmlformats.org/drawingml/2006/main">
            <a:srgbClr val="EF6A5B"/>
          </a:solidFill>
          <a:ln xmlns:a="http://schemas.openxmlformats.org/drawingml/2006/main" w="0">
            <a:solidFill>
              <a:srgbClr val="EF6A5B"/>
            </a:solidFill>
            <a:prstDash val="solid"/>
          </a:ln>
        </p:spPr>
      </p:sp>
      <p:sp>
        <p:nvSpPr>
          <p:cNvPr id="13" name="anim-3-roadmap">
            <a:extLst xmlns:a="http://schemas.openxmlformats.org/drawingml/2006/main">
              <a:ext uri="{FF2B5EF4-FFF2-40B4-BE49-F238E27FC236}">
                <a16:creationId xmlns:a16="http://schemas.microsoft.com/office/drawing/2014/main" id="{3AC46DC1-685E-4E6C-9CDE-B16FA7BDC680}"/>
              </a:ext>
            </a:extLst>
          </p:cNvPr>
          <p:cNvSpPr>
            <a:spLocks xmlns:a="http://schemas.openxmlformats.org/drawingml/2006/main" noGrp="1"/>
          </p:cNvSpPr>
          <p:nvPr/>
        </p:nvSpPr>
        <p:spPr>
          <a:xfrm xmlns:a="http://schemas.openxmlformats.org/drawingml/2006/main">
            <a:off x="9048750"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EF6A5B"/>
                </a:solidFill>
                <a:latin typeface="Avenir Next"/>
                <a:ea typeface="Avenir Next"/>
                <a:cs typeface="Avenir Next"/>
              </a:defRPr>
            </a:pPr>
            <a:r>
              <a:rPr sz="1725" b="1" i="0">
                <a:solidFill>
                  <a:srgbClr val="EF6A5B"/>
                </a:solidFill>
                <a:latin typeface="Avenir Next"/>
                <a:ea typeface="Avenir Next"/>
                <a:cs typeface="Avenir Next"/>
              </a:rPr>
              <a:t>SHIP</a:t>
            </a:r>
          </a:p>
        </p:txBody>
      </p:sp>
      <p:sp>
        <p:nvSpPr>
          <p:cNvPr id="14" name="">
            <a:extLst xmlns:a="http://schemas.openxmlformats.org/drawingml/2006/main">
              <a:ext uri="{FF2B5EF4-FFF2-40B4-BE49-F238E27FC236}">
                <a16:creationId xmlns:a16="http://schemas.microsoft.com/office/drawing/2014/main" id="{926D1340-D623-4A63-9959-6453F8C8EBD9}"/>
              </a:ext>
            </a:extLst>
          </p:cNvPr>
          <p:cNvSpPr>
            <a:spLocks xmlns:a="http://schemas.openxmlformats.org/drawingml/2006/main" noGrp="1"/>
          </p:cNvSpPr>
          <p:nvPr/>
        </p:nvSpPr>
        <p:spPr>
          <a:xfrm xmlns:a="http://schemas.openxmlformats.org/drawingml/2006/main">
            <a:off x="8534400"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Developer ID signing</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Notarization</a:t>
            </a:r>
          </a:p>
          <a:p xmlns:a="http://schemas.openxmlformats.org/drawingml/2006/main">
            <a:pPr algn="ctr">
              <a:buNone/>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Clean-device + accessibility QA</a:t>
            </a:r>
          </a:p>
        </p:txBody>
      </p:sp>
      <p:sp>
        <p:nvSpPr>
          <p:cNvPr id="15" name="">
            <a:extLst xmlns:a="http://schemas.openxmlformats.org/drawingml/2006/main">
              <a:ext uri="{FF2B5EF4-FFF2-40B4-BE49-F238E27FC236}">
                <a16:creationId xmlns:a16="http://schemas.microsoft.com/office/drawing/2014/main" id="{CEF32FE9-4124-46BC-9E69-AC9575AE824B}"/>
              </a:ext>
            </a:extLst>
          </p:cNvPr>
          <p:cNvSpPr>
            <a:spLocks xmlns:a="http://schemas.openxmlformats.org/drawingml/2006/main" noGrp="1"/>
          </p:cNvSpPr>
          <p:nvPr/>
        </p:nvSpPr>
        <p:spPr>
          <a:xfrm xmlns:a="http://schemas.openxmlformats.org/drawingml/2006/main">
            <a:off x="800100" y="2914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i="0">
                <a:solidFill>
                  <a:srgbClr val="F7F4EF"/>
                </a:solidFill>
                <a:latin typeface="Avenir Next"/>
                <a:ea typeface="Avenir Next"/>
                <a:cs typeface="Avenir Next"/>
              </a:defRPr>
            </a:pPr>
            <a:r>
              <a:rPr sz="1950" b="1" i="0">
                <a:solidFill>
                  <a:srgbClr val="F7F4EF"/>
                </a:solidFill>
                <a:latin typeface="Avenir Next"/>
                <a:ea typeface="Avenir Next"/>
                <a:cs typeface="Avenir Next"/>
              </a:rPr>
              <a:t>Guiding rule: never call a green build a finished release without delivery evidence.</a:t>
            </a:r>
          </a:p>
        </p:txBody>
      </p:sp>
      <p:sp>
        <p:nvSpPr>
          <p:cNvPr id="16" name="">
            <a:extLst xmlns:a="http://schemas.openxmlformats.org/drawingml/2006/main">
              <a:ext uri="{FF2B5EF4-FFF2-40B4-BE49-F238E27FC236}">
                <a16:creationId xmlns:a16="http://schemas.microsoft.com/office/drawing/2014/main" id="{39D1684B-151B-447C-9ACE-0B2942565B4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7" name="">
            <a:extLst xmlns:a="http://schemas.openxmlformats.org/drawingml/2006/main">
              <a:ext uri="{FF2B5EF4-FFF2-40B4-BE49-F238E27FC236}">
                <a16:creationId xmlns:a16="http://schemas.microsoft.com/office/drawing/2014/main" id="{94C13F73-0AFD-4BBD-91D2-9DABBF7DF2CC}"/>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8" name="">
            <a:extLst xmlns:a="http://schemas.openxmlformats.org/drawingml/2006/main">
              <a:ext uri="{FF2B5EF4-FFF2-40B4-BE49-F238E27FC236}">
                <a16:creationId xmlns:a16="http://schemas.microsoft.com/office/drawing/2014/main" id="{C4B4603F-704B-4630-9F34-21A82170DBA7}"/>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13</a:t>
            </a:r>
          </a:p>
        </p:txBody>
      </p:sp>
    </p:spTree>
    <p:extLst>
      <p:ext uri="{BB962C8B-B14F-4D97-AF65-F5344CB8AC3E}">
        <p14:creationId xmlns:p14="http://schemas.microsoft.com/office/powerpoint/2010/main" val="1716940578"/>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3"/>
                                        </p:tgtEl>
                                      </p:cBhvr>
                                    </p:animEffect>
                                  </p:childTnLst>
                                </p:cTn>
                              </p:par>
                            </p:childTnLst>
                          </p:cTn>
                        </p:par>
                      </p:childTnLst>
                    </p:cTn>
                  </p:par>
                </p:childTnLst>
              </p:cTn>
            </p:seq>
          </p:childTnLst>
        </p:cTn>
      </p:par>
    </p:tnLst>
  </p:timing>
</p:sld>
</file>

<file path=ppt/slides/slide1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2fc1044196843a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F3EE0D-9796-48DF-A6D6-B372AD91ABCB}"/>
              </a:ext>
            </a:extLst>
          </p:cNvPr>
          <p:cNvSpPr>
            <a:spLocks xmlns:a="http://schemas.openxmlformats.org/drawingml/2006/main" noGrp="1"/>
          </p:cNvSpPr>
          <p:nvPr/>
        </p:nvSpPr>
        <p:spPr>
          <a:xfrm xmlns:a="http://schemas.openxmlformats.org/drawingml/2006/main">
            <a:off x="0" y="0"/>
            <a:ext cx="7620000" cy="6858000"/>
          </a:xfrm>
          <a:prstGeom xmlns:a="http://schemas.openxmlformats.org/drawingml/2006/main" prst="rect">
            <a:avLst/>
          </a:prstGeom>
          <a:solidFill xmlns:a="http://schemas.openxmlformats.org/drawingml/2006/main">
            <a:srgbClr val="08080A"/>
          </a:solidFill>
          <a:ln xmlns:a="http://schemas.openxmlformats.org/drawingml/2006/main" w="0">
            <a:solidFill>
              <a:srgbClr val="08080A"/>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040729f3d0548f2"/>
          <a:stretch xmlns:a="http://schemas.openxmlformats.org/drawingml/2006/main"/>
        </p:blipFill>
        <p:spPr>
          <a:xfrm xmlns:a="http://schemas.openxmlformats.org/drawingml/2006/main">
            <a:off x="647700" y="571500"/>
            <a:ext cx="647700" cy="64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A79282-4140-42FA-9224-D240242AA883}"/>
              </a:ext>
            </a:extLst>
          </p:cNvPr>
          <p:cNvSpPr>
            <a:spLocks xmlns:a="http://schemas.openxmlformats.org/drawingml/2006/main" noGrp="1"/>
          </p:cNvSpPr>
          <p:nvPr/>
        </p:nvSpPr>
        <p:spPr>
          <a:xfrm xmlns:a="http://schemas.openxmlformats.org/drawingml/2006/main">
            <a:off x="647700" y="1714500"/>
            <a:ext cx="6477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950" b="1" i="0">
                <a:solidFill>
                  <a:srgbClr val="F7F4EF"/>
                </a:solidFill>
                <a:latin typeface="Avenir Next"/>
                <a:ea typeface="Avenir Next"/>
                <a:cs typeface="Avenir Next"/>
              </a:defRPr>
            </a:pPr>
            <a:r>
              <a:rPr sz="4950" b="1" i="0">
                <a:solidFill>
                  <a:srgbClr val="F7F4EF"/>
                </a:solidFill>
                <a:latin typeface="Avenir Next"/>
                <a:ea typeface="Avenir Next"/>
                <a:cs typeface="Avenir Next"/>
              </a:rPr>
              <a:t>Your voice, written.</a:t>
            </a:r>
          </a:p>
          <a:p xmlns:a="http://schemas.openxmlformats.org/drawingml/2006/main">
            <a:pPr algn="l">
              <a:buNone/>
              <a:defRPr sz="4950" b="1" i="0">
                <a:solidFill>
                  <a:srgbClr val="F7F4EF"/>
                </a:solidFill>
                <a:latin typeface="Avenir Next"/>
                <a:ea typeface="Avenir Next"/>
                <a:cs typeface="Avenir Next"/>
              </a:defRPr>
            </a:pPr>
            <a:r>
              <a:rPr sz="4950" b="1" i="0">
                <a:solidFill>
                  <a:srgbClr val="F7F4EF"/>
                </a:solidFill>
                <a:latin typeface="Avenir Next"/>
                <a:ea typeface="Avenir Next"/>
                <a:cs typeface="Avenir Next"/>
              </a:rPr>
              <a:t>On your Mac.</a:t>
            </a:r>
          </a:p>
        </p:txBody>
      </p:sp>
      <p:sp>
        <p:nvSpPr>
          <p:cNvPr id="5" name="">
            <a:extLst xmlns:a="http://schemas.openxmlformats.org/drawingml/2006/main">
              <a:ext uri="{FF2B5EF4-FFF2-40B4-BE49-F238E27FC236}">
                <a16:creationId xmlns:a16="http://schemas.microsoft.com/office/drawing/2014/main" id="{4A3B4381-7D0A-4A58-8840-EEC7FA2D8414}"/>
              </a:ext>
            </a:extLst>
          </p:cNvPr>
          <p:cNvSpPr>
            <a:spLocks xmlns:a="http://schemas.openxmlformats.org/drawingml/2006/main" noGrp="1"/>
          </p:cNvSpPr>
          <p:nvPr/>
        </p:nvSpPr>
        <p:spPr>
          <a:xfrm xmlns:a="http://schemas.openxmlformats.org/drawingml/2006/main">
            <a:off x="685800" y="3733800"/>
            <a:ext cx="571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i="0">
                <a:solidFill>
                  <a:srgbClr val="D3CED0"/>
                </a:solidFill>
                <a:latin typeface="Avenir Next"/>
                <a:ea typeface="Avenir Next"/>
                <a:cs typeface="Avenir Next"/>
              </a:defRPr>
            </a:pPr>
            <a:r>
              <a:rPr sz="1950" b="0" i="0">
                <a:solidFill>
                  <a:srgbClr val="D3CED0"/>
                </a:solidFill>
                <a:latin typeface="Avenir Next"/>
                <a:ea typeface="Avenir Next"/>
                <a:cs typeface="Avenir Next"/>
              </a:rPr>
              <a:t>Native workflow. Local AI. Measurable quality. Honest boundaries.</a:t>
            </a:r>
          </a:p>
        </p:txBody>
      </p:sp>
      <p:sp>
        <p:nvSpPr>
          <p:cNvPr id="6" name="">
            <a:extLst xmlns:a="http://schemas.openxmlformats.org/drawingml/2006/main">
              <a:ext uri="{FF2B5EF4-FFF2-40B4-BE49-F238E27FC236}">
                <a16:creationId xmlns:a16="http://schemas.microsoft.com/office/drawing/2014/main" id="{DDC7BEB0-B84B-492E-A334-4E6000BC6996}"/>
              </a:ext>
            </a:extLst>
          </p:cNvPr>
          <p:cNvSpPr>
            <a:spLocks xmlns:a="http://schemas.openxmlformats.org/drawingml/2006/main" noGrp="1"/>
          </p:cNvSpPr>
          <p:nvPr/>
        </p:nvSpPr>
        <p:spPr>
          <a:xfrm xmlns:a="http://schemas.openxmlformats.org/drawingml/2006/main">
            <a:off x="685800" y="52197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0C47C"/>
                </a:solidFill>
                <a:latin typeface="Avenir Next"/>
                <a:ea typeface="Avenir Next"/>
                <a:cs typeface="Avenir Next"/>
              </a:defRPr>
            </a:pPr>
            <a:r>
              <a:rPr sz="1350" b="1" i="0">
                <a:solidFill>
                  <a:srgbClr val="F0C47C"/>
                </a:solidFill>
                <a:latin typeface="Avenir Next"/>
                <a:ea typeface="Avenir Next"/>
                <a:cs typeface="Avenir Next"/>
              </a:rPr>
              <a:t>QUESTIONS  /  LIVE DEMO</a:t>
            </a:r>
          </a:p>
        </p:txBody>
      </p:sp>
      <p:sp>
        <p:nvSpPr>
          <p:cNvPr id="7" name="">
            <a:extLst xmlns:a="http://schemas.openxmlformats.org/drawingml/2006/main">
              <a:ext uri="{FF2B5EF4-FFF2-40B4-BE49-F238E27FC236}">
                <a16:creationId xmlns:a16="http://schemas.microsoft.com/office/drawing/2014/main" id="{EBF70303-9B29-459D-A037-8FD6A4E129A9}"/>
              </a:ext>
            </a:extLst>
          </p:cNvPr>
          <p:cNvSpPr>
            <a:spLocks xmlns:a="http://schemas.openxmlformats.org/drawingml/2006/main" noGrp="1"/>
          </p:cNvSpPr>
          <p:nvPr/>
        </p:nvSpPr>
        <p:spPr>
          <a:xfrm xmlns:a="http://schemas.openxmlformats.org/drawingml/2006/main">
            <a:off x="685800" y="58674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96909A"/>
                </a:solidFill>
                <a:latin typeface="Avenir Next"/>
                <a:ea typeface="Avenir Next"/>
                <a:cs typeface="Avenir Next"/>
              </a:defRPr>
            </a:pPr>
            <a:r>
              <a:rPr sz="1350" b="0" i="0">
                <a:solidFill>
                  <a:srgbClr val="96909A"/>
                </a:solidFill>
                <a:latin typeface="Avenir Next"/>
                <a:ea typeface="Avenir Next"/>
                <a:cs typeface="Avenir Next"/>
              </a:rPr>
              <a:t>Control + Option + Space → speak → insert</a:t>
            </a:r>
          </a:p>
        </p:txBody>
      </p:sp>
    </p:spTree>
    <p:extLst>
      <p:ext uri="{BB962C8B-B14F-4D97-AF65-F5344CB8AC3E}">
        <p14:creationId xmlns:p14="http://schemas.microsoft.com/office/powerpoint/2010/main" val="327107524"/>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2026-08-23T13:55:49.2310000Z</dcterms:created>
  <dcterms:modified xsi:type="dcterms:W3CDTF">2026-08-23T13:55:49.2310000Z</dcterms:modified>
</coreProperties>
</file>