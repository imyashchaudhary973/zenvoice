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48ec4bda694c04" /><Relationship Type="http://schemas.openxmlformats.org/officeDocument/2006/relationships/extended-properties" Target="/docProps/app.xml" Id="Rccd09f6794714dc3" /><Relationship Type="http://schemas.openxmlformats.org/officeDocument/2006/relationships/officeDocument" Target="/ppt/presentation.xml" Id="R178f342ab3374dce" /></Relationships>
</file>

<file path=ppt/presentation.xml><?xml version="1.0" encoding="utf-8"?>
<p:presentation xmlns:p="http://schemas.openxmlformats.org/presentationml/2006/main">
  <p:sldMasterIdLst>
    <p:sldMasterId xmlns:r="http://schemas.openxmlformats.org/officeDocument/2006/relationships" id="2147483648" r:id="Radddce125e324735"/>
  </p:sldMasterIdLst>
  <p:notesMasterIdLst>
    <p:notesMasterId xmlns:r="http://schemas.openxmlformats.org/officeDocument/2006/relationships" r:id="R24179b30bb6c47f9"/>
  </p:notesMasterIdLst>
  <p:sldIdLst>
    <p:sldId xmlns:r="http://schemas.openxmlformats.org/officeDocument/2006/relationships" id="256" r:id="Rb76153463c5e4f87"/>
    <p:sldId xmlns:r="http://schemas.openxmlformats.org/officeDocument/2006/relationships" id="257" r:id="R0d5a1319943340c0"/>
    <p:sldId xmlns:r="http://schemas.openxmlformats.org/officeDocument/2006/relationships" id="258" r:id="R18ce7a5677934072"/>
    <p:sldId xmlns:r="http://schemas.openxmlformats.org/officeDocument/2006/relationships" id="259" r:id="Rd6739d1cef8543c7"/>
    <p:sldId xmlns:r="http://schemas.openxmlformats.org/officeDocument/2006/relationships" id="260" r:id="Rb100c3eb7ee24c51"/>
    <p:sldId xmlns:r="http://schemas.openxmlformats.org/officeDocument/2006/relationships" id="261" r:id="Rcdbd3628cf484349"/>
    <p:sldId xmlns:r="http://schemas.openxmlformats.org/officeDocument/2006/relationships" id="262" r:id="Rb5687c1770c6417e"/>
    <p:sldId xmlns:r="http://schemas.openxmlformats.org/officeDocument/2006/relationships" id="263" r:id="Ra7b1eb03ca8c42b3"/>
    <p:sldId xmlns:r="http://schemas.openxmlformats.org/officeDocument/2006/relationships" id="264" r:id="Red7a1260a61a4768"/>
    <p:sldId xmlns:r="http://schemas.openxmlformats.org/officeDocument/2006/relationships" id="265" r:id="R8506b9f6d2874986"/>
    <p:sldId xmlns:r="http://schemas.openxmlformats.org/officeDocument/2006/relationships" id="266" r:id="R656d3af1f64b4b8f"/>
    <p:sldId xmlns:r="http://schemas.openxmlformats.org/officeDocument/2006/relationships" id="267" r:id="R21c2b3cc532448a1"/>
    <p:sldId xmlns:r="http://schemas.openxmlformats.org/officeDocument/2006/relationships" id="268" r:id="R45f9d444342a48dc"/>
    <p:sldId xmlns:r="http://schemas.openxmlformats.org/officeDocument/2006/relationships" id="269" r:id="Ra47b0c1120294a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d76fe561c34ce8" /><Relationship Type="http://schemas.openxmlformats.org/officeDocument/2006/relationships/slideMaster" Target="/ppt/slideMasters/slideMaster1.xml" Id="Radddce125e324735" /><Relationship Type="http://schemas.openxmlformats.org/officeDocument/2006/relationships/notesMaster" Target="/ppt/notesMasters/notesMaster1.xml" Id="R24179b30bb6c47f9" /><Relationship Type="http://schemas.openxmlformats.org/officeDocument/2006/relationships/presProps" Target="/ppt/presProps.xml" Id="R549b16cce31b41b4" /><Relationship Type="http://schemas.openxmlformats.org/officeDocument/2006/relationships/tableStyles" Target="/ppt/tableStyles.xml" Id="Rf89c4b556fb64725" /><Relationship Type="http://schemas.openxmlformats.org/officeDocument/2006/relationships/slide" Target="/ppt/slides/slide1.xml" Id="Rb76153463c5e4f87" /><Relationship Type="http://schemas.openxmlformats.org/officeDocument/2006/relationships/slide" Target="/ppt/slides/slide2.xml" Id="R0d5a1319943340c0" /><Relationship Type="http://schemas.openxmlformats.org/officeDocument/2006/relationships/slide" Target="/ppt/slides/slide3.xml" Id="R18ce7a5677934072" /><Relationship Type="http://schemas.openxmlformats.org/officeDocument/2006/relationships/slide" Target="/ppt/slides/slide4.xml" Id="Rd6739d1cef8543c7" /><Relationship Type="http://schemas.openxmlformats.org/officeDocument/2006/relationships/slide" Target="/ppt/slides/slide5.xml" Id="Rb100c3eb7ee24c51" /><Relationship Type="http://schemas.openxmlformats.org/officeDocument/2006/relationships/slide" Target="/ppt/slides/slide6.xml" Id="Rcdbd3628cf484349" /><Relationship Type="http://schemas.openxmlformats.org/officeDocument/2006/relationships/slide" Target="/ppt/slides/slide7.xml" Id="Rb5687c1770c6417e" /><Relationship Type="http://schemas.openxmlformats.org/officeDocument/2006/relationships/slide" Target="/ppt/slides/slide8.xml" Id="Ra7b1eb03ca8c42b3" /><Relationship Type="http://schemas.openxmlformats.org/officeDocument/2006/relationships/slide" Target="/ppt/slides/slide9.xml" Id="Red7a1260a61a4768" /><Relationship Type="http://schemas.openxmlformats.org/officeDocument/2006/relationships/slide" Target="/ppt/slides/slide10.xml" Id="R8506b9f6d2874986" /><Relationship Type="http://schemas.openxmlformats.org/officeDocument/2006/relationships/slide" Target="/ppt/slides/slide11.xml" Id="R656d3af1f64b4b8f" /><Relationship Type="http://schemas.openxmlformats.org/officeDocument/2006/relationships/slide" Target="/ppt/slides/slide12.xml" Id="R21c2b3cc532448a1" /><Relationship Type="http://schemas.openxmlformats.org/officeDocument/2006/relationships/slide" Target="/ppt/slides/slide13.xml" Id="R45f9d444342a48dc" /><Relationship Type="http://schemas.openxmlformats.org/officeDocument/2006/relationships/slide" Target="/ppt/slides/slide14.xml" Id="Ra47b0c1120294a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167112d5b644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d96baac0604ece" /><Relationship Type="http://schemas.openxmlformats.org/officeDocument/2006/relationships/notesMaster" Target="/ppt/notesMasters/notesMaster1.xml" Id="Rb071e5a46fa744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38bd2fcc5b48cf" /><Relationship Type="http://schemas.openxmlformats.org/officeDocument/2006/relationships/notesMaster" Target="/ppt/notesMasters/notesMaster1.xml" Id="Rfc728791cb5b45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a92475335b46e1" /><Relationship Type="http://schemas.openxmlformats.org/officeDocument/2006/relationships/notesMaster" Target="/ppt/notesMasters/notesMaster1.xml" Id="R10f2e5f5aa8d45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f433e16f3049f4" /><Relationship Type="http://schemas.openxmlformats.org/officeDocument/2006/relationships/notesMaster" Target="/ppt/notesMasters/notesMaster1.xml" Id="R71627ea409b344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08500ec4a24c54" /><Relationship Type="http://schemas.openxmlformats.org/officeDocument/2006/relationships/notesMaster" Target="/ppt/notesMasters/notesMaster1.xml" Id="Rf3e9e55d98aa42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383ba982e949a8" /><Relationship Type="http://schemas.openxmlformats.org/officeDocument/2006/relationships/notesMaster" Target="/ppt/notesMasters/notesMaster1.xml" Id="R597b2225bae543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cb101982834e05" /><Relationship Type="http://schemas.openxmlformats.org/officeDocument/2006/relationships/notesMaster" Target="/ppt/notesMasters/notesMaster1.xml" Id="R8860d5cdb60b4c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b2dd833824ade" /><Relationship Type="http://schemas.openxmlformats.org/officeDocument/2006/relationships/notesMaster" Target="/ppt/notesMasters/notesMaster1.xml" Id="R84b7b77921bd41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efac9986da47f4" /><Relationship Type="http://schemas.openxmlformats.org/officeDocument/2006/relationships/notesMaster" Target="/ppt/notesMasters/notesMaster1.xml" Id="R197d1b15d73640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1d0f32f3c643ab" /><Relationship Type="http://schemas.openxmlformats.org/officeDocument/2006/relationships/notesMaster" Target="/ppt/notesMasters/notesMaster1.xml" Id="R94ec65389a4146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0b24b1046d470c" /><Relationship Type="http://schemas.openxmlformats.org/officeDocument/2006/relationships/notesMaster" Target="/ppt/notesMasters/notesMaster1.xml" Id="R739fd219abb044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395b26526e4ab4" /><Relationship Type="http://schemas.openxmlformats.org/officeDocument/2006/relationships/notesMaster" Target="/ppt/notesMasters/notesMaster1.xml" Id="R2d134bcd6f4d49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799d4ac4104df7" /><Relationship Type="http://schemas.openxmlformats.org/officeDocument/2006/relationships/notesMaster" Target="/ppt/notesMasters/notesMaster1.xml" Id="R6cad214db78c4f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155d96fab147fa" /><Relationship Type="http://schemas.openxmlformats.org/officeDocument/2006/relationships/notesMaster" Target="/ppt/notesMasters/notesMaster1.xml" Id="R288e609fae9e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 live-product sentence: ZenVoice is a native macOS dictation app that converts speech into text in the app already in focus. The visual establishes the product’s central metaphor—one microphone, one local signal path, one controlled result.</a:t>
            </a:r>
          </a:p>
          <a:p xmlns:a="http://schemas.openxmlformats.org/drawingml/2006/main">
            <a:r>
              <a:t/>
            </a:r>
          </a:p>
          <a:p xmlns:a="http://schemas.openxmlformats.org/drawingml/2006/main">
            <a:r>
              <a:t>[Sources]</a:t>
            </a:r>
          </a:p>
          <a:p xmlns:a="http://schemas.openxmlformats.org/drawingml/2006/main">
            <a:r>
              <a:t>ZenVoice README.md; owned brand asset: Resources/Brand/ZenLogo.png; generated asset: Deliverables/ZenVoice_Assets/microphone-hero.png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contexts one at a time. The audience should understand that ZenVoice solves a workflow problem and a trust problem—not only a transcription problem. The app must be fast enough to feel natural and clear enough about data handling to be credible.</a:t>
            </a:r>
          </a:p>
          <a:p xmlns:a="http://schemas.openxmlformats.org/drawingml/2006/main">
            <a:r>
              <a:t/>
            </a:r>
          </a:p>
          <a:p xmlns:a="http://schemas.openxmlformats.org/drawingml/2006/main">
            <a:r>
              <a:t>[Sources]</a:t>
            </a:r>
          </a:p>
          <a:p xmlns:a="http://schemas.openxmlformats.org/drawingml/2006/main">
            <a:r>
              <a:t>ZenVoice README.md;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Speak, Decode, and Insert. This is the simplest description of ZenVoice: the user stays in their current app; ZenVoice records locally, transcribes with the selected engine, applies controlled cleanup, and inserts the result.</a:t>
            </a:r>
          </a:p>
          <a:p xmlns:a="http://schemas.openxmlformats.org/drawingml/2006/main">
            <a:r>
              <a:t/>
            </a:r>
          </a:p>
          <a:p xmlns:a="http://schemas.openxmlformats.org/drawingml/2006/main">
            <a:r>
              <a:t>[Sources]</a:t>
            </a:r>
          </a:p>
          <a:p xmlns:a="http://schemas.openxmlformats.org/drawingml/2006/main">
            <a:r>
              <a:t>ZenVoice README.md — Features, Quick Start, How it works;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moments. If Accessibility permission is missing, transcription still works and the result remains available on the clipboard. A live demo can follow this exact sequence in Notes or any editable field.</a:t>
            </a:r>
          </a:p>
          <a:p xmlns:a="http://schemas.openxmlformats.org/drawingml/2006/main">
            <a:r>
              <a:t/>
            </a:r>
          </a:p>
          <a:p xmlns:a="http://schemas.openxmlformats.org/drawingml/2006/main">
            <a:r>
              <a:t>[Sources]</a:t>
            </a:r>
          </a:p>
          <a:p xmlns:a="http://schemas.openxmlformats.org/drawingml/2006/main">
            <a:r>
              <a:t>ZenVoice README.md — Quick Start and Requirements; generated asset: Deliverables/ZenVoice_Assets/microphone-hero.png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four surrounding capabilities. ZenBar is intentionally small: the product’s intelligence lives in model selection, permission recovery, history, and per-app rules rather than in a large always-open interface.</a:t>
            </a:r>
          </a:p>
          <a:p xmlns:a="http://schemas.openxmlformats.org/drawingml/2006/main">
            <a:r>
              <a:t/>
            </a:r>
          </a:p>
          <a:p xmlns:a="http://schemas.openxmlformats.org/drawingml/2006/main">
            <a:r>
              <a:t>[Sources]</a:t>
            </a:r>
          </a:p>
          <a:p xmlns:a="http://schemas.openxmlformats.org/drawingml/2006/main">
            <a:r>
              <a:t>ZenVoice README.md — ZenBar, Live preview, Audio Doctor, Per-app rules, Recovery Inbox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each privacy rule. Be precise: encrypted transcript History and optional Audio History are different. Audio History is off by default and not encrypted at rest, so the deck presents that choice honestly. Optional cloud formatting receives finished text and a fixed prompt, never microphone audio.</a:t>
            </a:r>
          </a:p>
          <a:p xmlns:a="http://schemas.openxmlformats.org/drawingml/2006/main">
            <a:r>
              <a:t/>
            </a:r>
          </a:p>
          <a:p xmlns:a="http://schemas.openxmlformats.org/drawingml/2006/main">
            <a:r>
              <a:t>[Sources]</a:t>
            </a:r>
          </a:p>
          <a:p xmlns:a="http://schemas.openxmlformats.org/drawingml/2006/main">
            <a:r>
              <a:t>ZenVoice README.md — Privacy; docs/PRIVACY.md; docs/decisions/0010-audio-history.md; docs/decisions/0011-cloud-ai-enhancement.md; generated asset: Deliverables/ZenVoice_Assets/privacy-wave-shield.png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before text, the corrected output, then the local-intelligence list. This slide explains the practical role of AI/ML without exaggeration: ZenVoice combines deterministic cleanup, optional guarded on-device refinement, and explicit encrypted correction rules.</a:t>
            </a:r>
          </a:p>
          <a:p xmlns:a="http://schemas.openxmlformats.org/drawingml/2006/main">
            <a:r>
              <a:t/>
            </a:r>
          </a:p>
          <a:p xmlns:a="http://schemas.openxmlformats.org/drawingml/2006/main">
            <a:r>
              <a:t>[Sources]</a:t>
            </a:r>
          </a:p>
          <a:p xmlns:a="http://schemas.openxmlformats.org/drawingml/2006/main">
            <a:r>
              <a:t>ZenVoice README.md — Formatting and Voice Profile; docs/VOICE_PROFILE.md; docs/INSTANT_REFINE.md;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through the five stages. The selected engine is a replaceable runtime boundary; local recording, cleanup, insertion, and storage policy remain controlled by the application. This keeps model experimentation from silently changing the privacy contract.</a:t>
            </a:r>
          </a:p>
          <a:p xmlns:a="http://schemas.openxmlformats.org/drawingml/2006/main">
            <a:r>
              <a:t/>
            </a:r>
          </a:p>
          <a:p xmlns:a="http://schemas.openxmlformats.org/drawingml/2006/main">
            <a:r>
              <a:t>[Sources]</a:t>
            </a:r>
          </a:p>
          <a:p xmlns:a="http://schemas.openxmlformats.org/drawingml/2006/main">
            <a:r>
              <a:t>ZenVoice README.md — How it works and Architecture; docs/ARCHITECTURE.md;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model paths. Explain that the runtime engine and the model file are separate. ZenVoice does not expose every possible model; it uses a curated, hardware-aware catalogue so the app can make a defensible recommendation.</a:t>
            </a:r>
          </a:p>
          <a:p xmlns:a="http://schemas.openxmlformats.org/drawingml/2006/main">
            <a:r>
              <a:t/>
            </a:r>
          </a:p>
          <a:p xmlns:a="http://schemas.openxmlformats.org/drawingml/2006/main">
            <a:r>
              <a:t>[Sources]</a:t>
            </a:r>
          </a:p>
          <a:p xmlns:a="http://schemas.openxmlformats.org/drawingml/2006/main">
            <a:r>
              <a:t>ZenVoice README.md — Supported models; docs/MODEL_CATALOG.md; docs/decisions/0005-multi-engine-architecture.md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two chart headings. WER means Word Error Rate, so lower is better. Real-time multiple compares audio duration with processing time, so higher is faster. The scientific caveat matters: the frozen public corpus compares engines, but the project does not call it representative ZenVoice dictation. A consented representative cohort remains pending.</a:t>
            </a:r>
          </a:p>
          <a:p xmlns:a="http://schemas.openxmlformats.org/drawingml/2006/main">
            <a:r>
              <a:t/>
            </a:r>
          </a:p>
          <a:p xmlns:a="http://schemas.openxmlformats.org/drawingml/2006/main">
            <a:r>
              <a:t>[Sources]</a:t>
            </a:r>
          </a:p>
          <a:p xmlns:a="http://schemas.openxmlformats.org/drawingml/2006/main">
            <a:r>
              <a:t>docs/REAL_SPEECH_CORPUS.md — Per-engine baselines; docs/PHASE_6.md; docs/CONSENTED_DICTATION_MODEL_CYCLE.md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Learn, Work, and Control. For the college audience, connect the project to AI/ML measurement and responsible system design. For the company lens, emphasize productivity inside existing tools. For individuals, emphasize control rather than automation for its own sake.</a:t>
            </a:r>
          </a:p>
          <a:p xmlns:a="http://schemas.openxmlformats.org/drawingml/2006/main">
            <a:r>
              <a:t/>
            </a:r>
          </a:p>
          <a:p xmlns:a="http://schemas.openxmlformats.org/drawingml/2006/main">
            <a:r>
              <a:t>[Sources]</a:t>
            </a:r>
          </a:p>
          <a:p xmlns:a="http://schemas.openxmlformats.org/drawingml/2006/main">
            <a:r>
              <a:t>ZenVoice README.md; docs/ROADMAP.md; Package.swift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Capture, Transcribe, and Summarize. Lecture Capture v1 stays narrow and useful. Two-role diarization is not being integrated because the tested candidates did not meet the conservative reliability gate. This is an evidence-based stop, not an unfinished UI task.</a:t>
            </a:r>
          </a:p>
          <a:p xmlns:a="http://schemas.openxmlformats.org/drawingml/2006/main">
            <a:r>
              <a:t/>
            </a:r>
          </a:p>
          <a:p xmlns:a="http://schemas.openxmlformats.org/drawingml/2006/main">
            <a:r>
              <a:t>[Sources]</a:t>
            </a:r>
          </a:p>
          <a:p xmlns:a="http://schemas.openxmlformats.org/drawingml/2006/main">
            <a:r>
              <a:t>docs/decisions/0014-lecture-capture-v1.md; docs/decisions/0015-lecture-two-role-diarization.md; docs/DIARIZATION_ENGINE_GATE_2026-08-22.md; docs/TEACHER_REST_ARCHITECTURE_GATE_2026-08-22.md; generated asset: Deliverables/ZenVoice_Assets/lecture-capture.png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Now, Next, and Ship. The current product is a working personal alpha. Public distribution is deliberately deferred until signing, notarization, the exact package test, accessibility review, and clean-device QA are complete.</a:t>
            </a:r>
          </a:p>
          <a:p xmlns:a="http://schemas.openxmlformats.org/drawingml/2006/main">
            <a:r>
              <a:t/>
            </a:r>
          </a:p>
          <a:p xmlns:a="http://schemas.openxmlformats.org/drawingml/2006/main">
            <a:r>
              <a:t>[Sources]</a:t>
            </a:r>
          </a:p>
          <a:p xmlns:a="http://schemas.openxmlformats.org/drawingml/2006/main">
            <a:r>
              <a:t>docs/ROADMAP.md; docs/RELEASE_READINESS.md; docs/RELEASE_QA_RECORD.md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ZenVoice makes speaking a productive way to write while keeping control on the user’s Mac. Invite questions or move directly into the live shortcut demonstration.</a:t>
            </a:r>
          </a:p>
          <a:p xmlns:a="http://schemas.openxmlformats.org/drawingml/2006/main">
            <a:r>
              <a:t/>
            </a:r>
          </a:p>
          <a:p xmlns:a="http://schemas.openxmlformats.org/drawingml/2006/main">
            <a:r>
              <a:t>[Sources]</a:t>
            </a:r>
          </a:p>
          <a:p xmlns:a="http://schemas.openxmlformats.org/drawingml/2006/main">
            <a:r>
              <a:t>ZenVoice README.md; generated asset: Deliverables/ZenVoice_Assets/microphone-hero.png; owned brand asset: Resources/Brand/ZenLogo.png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8187c123eb45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cc32bc422749f9" /><Relationship Type="http://schemas.openxmlformats.org/officeDocument/2006/relationships/slideLayout" Target="/ppt/slideLayouts/slideLayout1.xml" Id="R09f04695da014c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f04695da014c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3740701c42477b" /><Relationship Type="http://schemas.openxmlformats.org/officeDocument/2006/relationships/image" Target="/ppt/media/image.png" Id="Re6622c495cc24510" /><Relationship Type="http://schemas.openxmlformats.org/officeDocument/2006/relationships/image" Target="/ppt/media/image2.png" Id="Ra8968ffcc316470d" /><Relationship Type="http://schemas.openxmlformats.org/officeDocument/2006/relationships/notesSlide" Target="/ppt/notesSlides/notesSlide1.xml" Id="R5b1b9931ec8644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f69617e0ee4b02" /><Relationship Type="http://schemas.openxmlformats.org/officeDocument/2006/relationships/notesSlide" Target="/ppt/notesSlides/notesSlide2.xml" Id="R6abf040c90ff49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d96be47b124f06" /><Relationship Type="http://schemas.openxmlformats.org/officeDocument/2006/relationships/notesSlide" Target="/ppt/notesSlides/notesSlide3.xml" Id="R1bf57f5cc5ee41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e625defdd04aaa" /><Relationship Type="http://schemas.openxmlformats.org/officeDocument/2006/relationships/image" Target="/ppt/media/image3.png" Id="R934d9857c724496a" /><Relationship Type="http://schemas.openxmlformats.org/officeDocument/2006/relationships/notesSlide" Target="/ppt/notesSlides/notesSlide4.xml" Id="Ra92d4005a5d547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cbf6504fae4dca" /><Relationship Type="http://schemas.openxmlformats.org/officeDocument/2006/relationships/notesSlide" Target="/ppt/notesSlides/notesSlide5.xml" Id="R98e12d89a13d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bd53ca79ef4693" /><Relationship Type="http://schemas.openxmlformats.org/officeDocument/2006/relationships/image" Target="/ppt/media/image4.png" Id="R70a0cb0ef44e4701" /><Relationship Type="http://schemas.openxmlformats.org/officeDocument/2006/relationships/notesSlide" Target="/ppt/notesSlides/notesSlide6.xml" Id="R5b42786a22db4d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28d446f14a4f0e" /><Relationship Type="http://schemas.openxmlformats.org/officeDocument/2006/relationships/notesSlide" Target="/ppt/notesSlides/notesSlide7.xml" Id="Rebbbbbcecf074c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7af5a09f6f46d6" /><Relationship Type="http://schemas.openxmlformats.org/officeDocument/2006/relationships/notesSlide" Target="/ppt/notesSlides/notesSlide8.xml" Id="Rf2f93c0d19814a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12541e0e9b428a" /><Relationship Type="http://schemas.openxmlformats.org/officeDocument/2006/relationships/notesSlide" Target="/ppt/notesSlides/notesSlide9.xml" Id="R1d34b1218f504a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810831938c4ab0" /><Relationship Type="http://schemas.openxmlformats.org/officeDocument/2006/relationships/chart" Target="/ppt/slides/charts/chart1.xml" Id="Ra9cdaea22da047c6" /><Relationship Type="http://schemas.openxmlformats.org/officeDocument/2006/relationships/chart" Target="/ppt/slides/charts/chart2.xml" Id="Re9f415934bcc4aae" /><Relationship Type="http://schemas.openxmlformats.org/officeDocument/2006/relationships/notesSlide" Target="/ppt/notesSlides/notesSlide10.xml" Id="R628e15107b5a4b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1563184d4b4cfc" /><Relationship Type="http://schemas.openxmlformats.org/officeDocument/2006/relationships/notesSlide" Target="/ppt/notesSlides/notesSlide11.xml" Id="Re11d470dd70944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9ff41c525b4e6d" /><Relationship Type="http://schemas.openxmlformats.org/officeDocument/2006/relationships/image" Target="/ppt/media/image5.png" Id="R111185ff9e424cae" /><Relationship Type="http://schemas.openxmlformats.org/officeDocument/2006/relationships/notesSlide" Target="/ppt/notesSlides/notesSlide12.xml" Id="Raf11ba75bc044f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27f0c8dc84406c" /><Relationship Type="http://schemas.openxmlformats.org/officeDocument/2006/relationships/notesSlide" Target="/ppt/notesSlides/notesSlide13.xml" Id="R42d8e32e888f48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65671c6d5a2431b" /><Relationship Type="http://schemas.openxmlformats.org/officeDocument/2006/relationships/image" Target="/ppt/media/image6.png" Id="Rd342adac198245de" /><Relationship Type="http://schemas.openxmlformats.org/officeDocument/2006/relationships/image" Target="/ppt/media/image7.png" Id="R9b986c1c02474d2d" /><Relationship Type="http://schemas.openxmlformats.org/officeDocument/2006/relationships/notesSlide" Target="/ppt/notesSlides/notesSlide14.xml" Id="R22df83ffebcf4175" /></Relationships>
</file>

<file path=ppt/slides/charts/chart1.xml><?xml version="1.0" encoding="utf-8"?>
<c:chartSpace xmlns:c="http://schemas.openxmlformats.org/drawingml/2006/chart">
  <c:lang val="en-US"/>
  <c:chart>
    <c:plotArea>
      <c:barChart>
        <c:barDir val="bar"/>
        <c:grouping val="clustered"/>
        <c:varyColors val="0"/>
        <c:ser>
          <c:idx val="0"/>
          <c:order val="0"/>
          <c:tx>
            <c:v>WER</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8.2</c:v>
              </c:pt>
              <c:pt idx="1">
                <c:v>6.9</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Speed</c:v>
          </c:tx>
          <c:spPr>
            <a:solidFill xmlns:a="http://schemas.openxmlformats.org/drawingml/2006/main">
              <a:srgbClr val="7667F2"/>
            </a:solidFill>
          </c:spPr>
          <c:dPt>
            <c:idx val="1"/>
            <c:invertIfNegative val="0"/>
            <c:spPr>
              <a:solidFill xmlns:a="http://schemas.openxmlformats.org/drawingml/2006/main">
                <a:srgbClr val="D7A75E"/>
              </a:solidFill>
            </c:spPr>
          </c:dPt>
          <c:cat>
            <c:strLit>
              <c:ptCount val="2"/>
              <c:pt idx="0">
                <c:v>Whisper Turbo</c:v>
              </c:pt>
              <c:pt idx="1">
                <c:v>Parakeet TDT v3</c:v>
              </c:pt>
            </c:strLit>
          </c:cat>
          <c:val>
            <c:numLit>
              <c:formatCode>General</c:formatCode>
              <c:ptCount val="2"/>
              <c:pt idx="0">
                <c:v>11</c:v>
              </c:pt>
              <c:pt idx="1">
                <c:v>73</c:v>
              </c:pt>
            </c:numLit>
          </c:val>
        </c:ser>
        <c:dLbls>
          <c:txPr>
            <a:bodyPr xmlns:a="http://schemas.openxmlformats.org/drawingml/2006/main" anchorCtr="1"/>
            <a:lstStyle xmlns:a="http://schemas.openxmlformats.org/drawingml/2006/main"/>
            <a:p xmlns:a="http://schemas.openxmlformats.org/drawingml/2006/main">
              <a:pPr>
                <a:defRPr sz="1200" b="1">
                  <a:solidFill>
                    <a:srgbClr val="F7F4EF"/>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36333E"/>
              </a:solidFill>
              <a:prstDash val="solid"/>
            </a:ln>
          </c:spPr>
        </c:majorGridlines>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050">
                <a:solidFill>
                  <a:srgbClr val="96909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36333E"/>
            </a:solidFill>
            <a:prstDash val="solid"/>
          </a:ln>
        </c:spPr>
        <c:txPr>
          <a:bodyPr xmlns:a="http://schemas.openxmlformats.org/drawingml/2006/main" anchorCtr="1"/>
          <a:lstStyle xmlns:a="http://schemas.openxmlformats.org/drawingml/2006/main"/>
          <a:p xmlns:a="http://schemas.openxmlformats.org/drawingml/2006/main">
            <a:pPr>
              <a:defRPr sz="1200">
                <a:solidFill>
                  <a:srgbClr val="D3CED0"/>
                </a:solidFill>
              </a:defRPr>
            </a:pPr>
          </a:p>
        </c:txPr>
        <c:crossAx val="48650112"/>
        <c:crossBetween val="between"/>
      </c:valAx>
      <c:spPr>
        <a:solidFill xmlns:a="http://schemas.openxmlformats.org/drawingml/2006/main">
          <a:srgbClr val="08080A"/>
        </a:solidFill>
        <a:ln xmlns:a="http://schemas.openxmlformats.org/drawingml/2006/main" w="0">
          <a:solidFill>
            <a:srgbClr val="08080A"/>
          </a:solidFill>
          <a:prstDash val="solid"/>
        </a:ln>
      </c:spPr>
    </c:plotArea>
    <c:plotVisOnly val="1"/>
  </c:chart>
  <c:spPr>
    <a:solidFill xmlns:a="http://schemas.openxmlformats.org/drawingml/2006/main">
      <a:srgbClr val="08080A"/>
    </a:solidFill>
    <a:ln xmlns:a="http://schemas.openxmlformats.org/drawingml/2006/main" w="0">
      <a:solidFill>
        <a:srgbClr val="08080A"/>
      </a:solidFill>
      <a:prstDash val="solid"/>
    </a:ln>
  </c:spPr>
</c:chartSpace>
</file>

<file path=ppt/slides/slide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6622c495cc245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A852B0-5379-4D43-A494-C6599FBEBB4A}"/>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alpha val="84000"/>
            </a:srgbClr>
          </a:solidFill>
          <a:ln xmlns:a="http://schemas.openxmlformats.org/drawingml/2006/main" w="0">
            <a:solidFill>
              <a:srgbClr val="08080A">
                <a:alpha val="8400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968ffcc316470d"/>
          <a:stretch xmlns:a="http://schemas.openxmlformats.org/drawingml/2006/main"/>
        </p:blipFill>
        <p:spPr>
          <a:xfrm xmlns:a="http://schemas.openxmlformats.org/drawingml/2006/main">
            <a:off x="647700" y="552450"/>
            <a:ext cx="685800" cy="685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405208-4917-47BD-A418-3DFC6E096B78}"/>
              </a:ext>
            </a:extLst>
          </p:cNvPr>
          <p:cNvSpPr>
            <a:spLocks xmlns:a="http://schemas.openxmlformats.org/drawingml/2006/main" noGrp="1"/>
          </p:cNvSpPr>
          <p:nvPr/>
        </p:nvSpPr>
        <p:spPr>
          <a:xfrm xmlns:a="http://schemas.openxmlformats.org/drawingml/2006/main">
            <a:off x="628650" y="152400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Speak.</a:t>
            </a:r>
          </a:p>
          <a:p xmlns:a="http://schemas.openxmlformats.org/drawingml/2006/main">
            <a:pPr algn="l">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It types.</a:t>
            </a:r>
          </a:p>
          <a:p xmlns:a="http://schemas.openxmlformats.org/drawingml/2006/main">
            <a:pPr algn="l">
              <a:defRPr sz="4650" b="1" i="0">
                <a:solidFill>
                  <a:srgbClr val="F7F4EF"/>
                </a:solidFill>
                <a:latin typeface="Avenir Next"/>
                <a:ea typeface="Avenir Next"/>
                <a:cs typeface="Avenir Next"/>
              </a:defRPr>
            </a:pPr>
            <a:r>
              <a:rPr sz="4650" b="1" i="0">
                <a:solidFill>
                  <a:srgbClr val="F7F4EF"/>
                </a:solidFill>
                <a:latin typeface="Avenir Next"/>
                <a:ea typeface="Avenir Next"/>
                <a:cs typeface="Avenir Next"/>
              </a:rPr>
              <a:t>Your Mac keeps it.</a:t>
            </a:r>
          </a:p>
        </p:txBody>
      </p:sp>
      <p:sp>
        <p:nvSpPr>
          <p:cNvPr id="5" name="">
            <a:extLst xmlns:a="http://schemas.openxmlformats.org/drawingml/2006/main">
              <a:ext uri="{FF2B5EF4-FFF2-40B4-BE49-F238E27FC236}">
                <a16:creationId xmlns:a16="http://schemas.microsoft.com/office/drawing/2014/main" id="{5C4CDD59-45EE-4A87-A490-EFDE06E0A96E}"/>
              </a:ext>
            </a:extLst>
          </p:cNvPr>
          <p:cNvSpPr>
            <a:spLocks xmlns:a="http://schemas.openxmlformats.org/drawingml/2006/main" noGrp="1"/>
          </p:cNvSpPr>
          <p:nvPr/>
        </p:nvSpPr>
        <p:spPr>
          <a:xfrm xmlns:a="http://schemas.openxmlformats.org/drawingml/2006/main">
            <a:off x="666750" y="40957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i="0">
                <a:solidFill>
                  <a:srgbClr val="D3CED0"/>
                </a:solidFill>
                <a:latin typeface="Avenir Next"/>
                <a:ea typeface="Avenir Next"/>
                <a:cs typeface="Avenir Next"/>
              </a:defRPr>
            </a:pPr>
            <a:r>
              <a:rPr sz="2025" b="0" i="0">
                <a:solidFill>
                  <a:srgbClr val="D3CED0"/>
                </a:solidFill>
                <a:latin typeface="Avenir Next"/>
                <a:ea typeface="Avenir Next"/>
                <a:cs typeface="Avenir Next"/>
              </a:rPr>
              <a:t>Private, local-first voice dictation for macOS.</a:t>
            </a:r>
          </a:p>
        </p:txBody>
      </p:sp>
      <p:sp>
        <p:nvSpPr>
          <p:cNvPr id="6" name="">
            <a:extLst xmlns:a="http://schemas.openxmlformats.org/drawingml/2006/main">
              <a:ext uri="{FF2B5EF4-FFF2-40B4-BE49-F238E27FC236}">
                <a16:creationId xmlns:a16="http://schemas.microsoft.com/office/drawing/2014/main" id="{18C9E34F-E3C9-4670-B07F-D25D6B289C18}"/>
              </a:ext>
            </a:extLst>
          </p:cNvPr>
          <p:cNvSpPr>
            <a:spLocks xmlns:a="http://schemas.openxmlformats.org/drawingml/2006/main" noGrp="1"/>
          </p:cNvSpPr>
          <p:nvPr/>
        </p:nvSpPr>
        <p:spPr>
          <a:xfrm xmlns:a="http://schemas.openxmlformats.org/drawingml/2006/main">
            <a:off x="666750" y="53625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COMPANY PRODUCT  ×  COLLEGE PROJECT</a:t>
            </a:r>
          </a:p>
        </p:txBody>
      </p:sp>
      <p:sp>
        <p:nvSpPr>
          <p:cNvPr id="7" name="">
            <a:extLst xmlns:a="http://schemas.openxmlformats.org/drawingml/2006/main">
              <a:ext uri="{FF2B5EF4-FFF2-40B4-BE49-F238E27FC236}">
                <a16:creationId xmlns:a16="http://schemas.microsoft.com/office/drawing/2014/main" id="{45A7A313-C041-4027-A1E2-A46C201DF2C7}"/>
              </a:ext>
            </a:extLst>
          </p:cNvPr>
          <p:cNvSpPr>
            <a:spLocks xmlns:a="http://schemas.openxmlformats.org/drawingml/2006/main" noGrp="1"/>
          </p:cNvSpPr>
          <p:nvPr/>
        </p:nvSpPr>
        <p:spPr>
          <a:xfrm xmlns:a="http://schemas.openxmlformats.org/drawingml/2006/main">
            <a:off x="66675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Product • Technology • Evidence • Roadmap</a:t>
            </a:r>
          </a:p>
        </p:txBody>
      </p:sp>
    </p:spTree>
    <p:extLst>
      <p:ext uri="{BB962C8B-B14F-4D97-AF65-F5344CB8AC3E}">
        <p14:creationId xmlns:p14="http://schemas.microsoft.com/office/powerpoint/2010/main" val="1045558978"/>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7175CF-63FD-4261-96E6-8CB3B593588E}"/>
              </a:ext>
            </a:extLst>
          </p:cNvPr>
          <p:cNvSpPr>
            <a:spLocks xmlns:a="http://schemas.openxmlformats.org/drawingml/2006/main" noGrp="1"/>
          </p:cNvSpPr>
          <p:nvPr/>
        </p:nvSpPr>
        <p:spPr>
          <a:xfrm xmlns:a="http://schemas.openxmlformats.org/drawingml/2006/main">
            <a:off x="609600" y="4572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02  /  THE PROBLEM</a:t>
            </a:r>
          </a:p>
        </p:txBody>
      </p:sp>
      <p:sp>
        <p:nvSpPr>
          <p:cNvPr id="2" name="">
            <a:extLst xmlns:a="http://schemas.openxmlformats.org/drawingml/2006/main">
              <a:ext uri="{FF2B5EF4-FFF2-40B4-BE49-F238E27FC236}">
                <a16:creationId xmlns:a16="http://schemas.microsoft.com/office/drawing/2014/main" id="{F4060ECA-87EE-4054-BEAF-756875059D2E}"/>
              </a:ext>
            </a:extLst>
          </p:cNvPr>
          <p:cNvSpPr>
            <a:spLocks xmlns:a="http://schemas.openxmlformats.org/drawingml/2006/main" noGrp="1"/>
          </p:cNvSpPr>
          <p:nvPr/>
        </p:nvSpPr>
        <p:spPr>
          <a:xfrm xmlns:a="http://schemas.openxmlformats.org/drawingml/2006/main">
            <a:off x="609600" y="990600"/>
            <a:ext cx="8763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100" b="1" i="0">
                <a:solidFill>
                  <a:srgbClr val="F7F4EF"/>
                </a:solidFill>
                <a:latin typeface="Avenir Next"/>
                <a:ea typeface="Avenir Next"/>
                <a:cs typeface="Avenir Next"/>
              </a:defRPr>
            </a:pPr>
            <a:r>
              <a:rPr sz="5100" b="1" i="0">
                <a:solidFill>
                  <a:srgbClr val="F7F4EF"/>
                </a:solidFill>
                <a:latin typeface="Avenir Next"/>
                <a:ea typeface="Avenir Next"/>
                <a:cs typeface="Avenir Next"/>
              </a:rPr>
              <a:t>Ideas move faster</a:t>
            </a:r>
          </a:p>
          <a:p xmlns:a="http://schemas.openxmlformats.org/drawingml/2006/main">
            <a:pPr algn="l">
              <a:defRPr sz="5100" b="1" i="0">
                <a:solidFill>
                  <a:srgbClr val="F7F4EF"/>
                </a:solidFill>
                <a:latin typeface="Avenir Next"/>
                <a:ea typeface="Avenir Next"/>
                <a:cs typeface="Avenir Next"/>
              </a:defRPr>
            </a:pPr>
            <a:r>
              <a:rPr sz="5100" b="1" i="0">
                <a:solidFill>
                  <a:srgbClr val="F7F4EF"/>
                </a:solidFill>
                <a:latin typeface="Avenir Next"/>
                <a:ea typeface="Avenir Next"/>
                <a:cs typeface="Avenir Next"/>
              </a:rPr>
              <a:t>than keyboards.</a:t>
            </a:r>
          </a:p>
        </p:txBody>
      </p:sp>
      <p:sp>
        <p:nvSpPr>
          <p:cNvPr id="3" name="">
            <a:extLst xmlns:a="http://schemas.openxmlformats.org/drawingml/2006/main">
              <a:ext uri="{FF2B5EF4-FFF2-40B4-BE49-F238E27FC236}">
                <a16:creationId xmlns:a16="http://schemas.microsoft.com/office/drawing/2014/main" id="{8CB3C1A7-497B-44F8-B216-AD995E0EED73}"/>
              </a:ext>
            </a:extLst>
          </p:cNvPr>
          <p:cNvSpPr>
            <a:spLocks xmlns:a="http://schemas.openxmlformats.org/drawingml/2006/main" noGrp="1"/>
          </p:cNvSpPr>
          <p:nvPr/>
        </p:nvSpPr>
        <p:spPr>
          <a:xfrm xmlns:a="http://schemas.openxmlformats.org/drawingml/2006/main">
            <a:off x="7200900" y="1123950"/>
            <a:ext cx="4095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Voice is fast.</a:t>
            </a:r>
          </a:p>
          <a:p xmlns:a="http://schemas.openxmlformats.org/drawingml/2006/main">
            <a:pPr algn="l">
              <a:defRPr sz="1725" b="0" i="0">
                <a:solidFill>
                  <a:srgbClr val="D3CED0"/>
                </a:solidFill>
                <a:latin typeface="Avenir Next"/>
                <a:ea typeface="Avenir Next"/>
                <a:cs typeface="Avenir Next"/>
              </a:defRPr>
            </a:pPr>
            <a:r>
              <a:rPr sz="1725" b="0" i="0">
                <a:solidFill>
                  <a:srgbClr val="D3CED0"/>
                </a:solidFill>
                <a:latin typeface="Avenir Next"/>
                <a:ea typeface="Avenir Next"/>
                <a:cs typeface="Avenir Next"/>
              </a:rPr>
              <a:t>Traditional dictation often adds friction or moves work to the cloud.</a:t>
            </a:r>
          </a:p>
        </p:txBody>
      </p:sp>
      <p:sp>
        <p:nvSpPr>
          <p:cNvPr id="4" name="">
            <a:extLst xmlns:a="http://schemas.openxmlformats.org/drawingml/2006/main">
              <a:ext uri="{FF2B5EF4-FFF2-40B4-BE49-F238E27FC236}">
                <a16:creationId xmlns:a16="http://schemas.microsoft.com/office/drawing/2014/main" id="{3BAF4A62-0671-42EA-ADB6-2C08FD6C94DB}"/>
              </a:ext>
            </a:extLst>
          </p:cNvPr>
          <p:cNvSpPr>
            <a:spLocks xmlns:a="http://schemas.openxmlformats.org/drawingml/2006/main" noGrp="1"/>
          </p:cNvSpPr>
          <p:nvPr/>
        </p:nvSpPr>
        <p:spPr>
          <a:xfrm xmlns:a="http://schemas.openxmlformats.org/drawingml/2006/main">
            <a:off x="609600" y="27051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26BF206D-BA47-4E43-82A2-A030A55530A9}"/>
              </a:ext>
            </a:extLst>
          </p:cNvPr>
          <p:cNvSpPr>
            <a:spLocks xmlns:a="http://schemas.openxmlformats.org/drawingml/2006/main" noGrp="1"/>
          </p:cNvSpPr>
          <p:nvPr/>
        </p:nvSpPr>
        <p:spPr>
          <a:xfrm xmlns:a="http://schemas.openxmlformats.org/drawingml/2006/main">
            <a:off x="609600" y="3200400"/>
            <a:ext cx="76200" cy="234315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6" name="anim-1-study">
            <a:extLst xmlns:a="http://schemas.openxmlformats.org/drawingml/2006/main">
              <a:ext uri="{FF2B5EF4-FFF2-40B4-BE49-F238E27FC236}">
                <a16:creationId xmlns:a16="http://schemas.microsoft.com/office/drawing/2014/main" id="{6BD022C6-F8E5-4593-9BC5-3411E7C633E1}"/>
              </a:ext>
            </a:extLst>
          </p:cNvPr>
          <p:cNvSpPr>
            <a:spLocks xmlns:a="http://schemas.openxmlformats.org/drawingml/2006/main" noGrp="1"/>
          </p:cNvSpPr>
          <p:nvPr/>
        </p:nvSpPr>
        <p:spPr>
          <a:xfrm xmlns:a="http://schemas.openxmlformats.org/drawingml/2006/main">
            <a:off x="87630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STUDY</a:t>
            </a:r>
          </a:p>
        </p:txBody>
      </p:sp>
      <p:sp>
        <p:nvSpPr>
          <p:cNvPr id="7" name="">
            <a:extLst xmlns:a="http://schemas.openxmlformats.org/drawingml/2006/main">
              <a:ext uri="{FF2B5EF4-FFF2-40B4-BE49-F238E27FC236}">
                <a16:creationId xmlns:a16="http://schemas.microsoft.com/office/drawing/2014/main" id="{267916CB-C8AC-4994-801F-D716B0C1FFDC}"/>
              </a:ext>
            </a:extLst>
          </p:cNvPr>
          <p:cNvSpPr>
            <a:spLocks xmlns:a="http://schemas.openxmlformats.org/drawingml/2006/main" noGrp="1"/>
          </p:cNvSpPr>
          <p:nvPr/>
        </p:nvSpPr>
        <p:spPr>
          <a:xfrm xmlns:a="http://schemas.openxmlformats.org/drawingml/2006/main">
            <a:off x="87630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Capture explanations and rough ideas without breaking attention.</a:t>
            </a:r>
          </a:p>
        </p:txBody>
      </p:sp>
      <p:sp>
        <p:nvSpPr>
          <p:cNvPr id="8" name="">
            <a:extLst xmlns:a="http://schemas.openxmlformats.org/drawingml/2006/main">
              <a:ext uri="{FF2B5EF4-FFF2-40B4-BE49-F238E27FC236}">
                <a16:creationId xmlns:a16="http://schemas.microsoft.com/office/drawing/2014/main" id="{6306372B-5755-45B4-8913-C7098194A667}"/>
              </a:ext>
            </a:extLst>
          </p:cNvPr>
          <p:cNvSpPr>
            <a:spLocks xmlns:a="http://schemas.openxmlformats.org/drawingml/2006/main" noGrp="1"/>
          </p:cNvSpPr>
          <p:nvPr/>
        </p:nvSpPr>
        <p:spPr>
          <a:xfrm xmlns:a="http://schemas.openxmlformats.org/drawingml/2006/main">
            <a:off x="4324350" y="3200400"/>
            <a:ext cx="76200" cy="234315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9" name="anim-2-work">
            <a:extLst xmlns:a="http://schemas.openxmlformats.org/drawingml/2006/main">
              <a:ext uri="{FF2B5EF4-FFF2-40B4-BE49-F238E27FC236}">
                <a16:creationId xmlns:a16="http://schemas.microsoft.com/office/drawing/2014/main" id="{65A5CCBA-D294-4762-A37B-A8156BB541F9}"/>
              </a:ext>
            </a:extLst>
          </p:cNvPr>
          <p:cNvSpPr>
            <a:spLocks xmlns:a="http://schemas.openxmlformats.org/drawingml/2006/main" noGrp="1"/>
          </p:cNvSpPr>
          <p:nvPr/>
        </p:nvSpPr>
        <p:spPr>
          <a:xfrm xmlns:a="http://schemas.openxmlformats.org/drawingml/2006/main">
            <a:off x="459105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WORK</a:t>
            </a:r>
          </a:p>
        </p:txBody>
      </p:sp>
      <p:sp>
        <p:nvSpPr>
          <p:cNvPr id="10" name="">
            <a:extLst xmlns:a="http://schemas.openxmlformats.org/drawingml/2006/main">
              <a:ext uri="{FF2B5EF4-FFF2-40B4-BE49-F238E27FC236}">
                <a16:creationId xmlns:a16="http://schemas.microsoft.com/office/drawing/2014/main" id="{C56D44B9-6EEF-4341-AE13-74C2E61C2FDE}"/>
              </a:ext>
            </a:extLst>
          </p:cNvPr>
          <p:cNvSpPr>
            <a:spLocks xmlns:a="http://schemas.openxmlformats.org/drawingml/2006/main" noGrp="1"/>
          </p:cNvSpPr>
          <p:nvPr/>
        </p:nvSpPr>
        <p:spPr>
          <a:xfrm xmlns:a="http://schemas.openxmlformats.org/drawingml/2006/main">
            <a:off x="459105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Draft messages, briefs, tickets, and reports inside the current app.</a:t>
            </a:r>
          </a:p>
        </p:txBody>
      </p:sp>
      <p:sp>
        <p:nvSpPr>
          <p:cNvPr id="11" name="">
            <a:extLst xmlns:a="http://schemas.openxmlformats.org/drawingml/2006/main">
              <a:ext uri="{FF2B5EF4-FFF2-40B4-BE49-F238E27FC236}">
                <a16:creationId xmlns:a16="http://schemas.microsoft.com/office/drawing/2014/main" id="{2BF27E60-EB8C-4385-86DB-4DE79ED8A7F0}"/>
              </a:ext>
            </a:extLst>
          </p:cNvPr>
          <p:cNvSpPr>
            <a:spLocks xmlns:a="http://schemas.openxmlformats.org/drawingml/2006/main" noGrp="1"/>
          </p:cNvSpPr>
          <p:nvPr/>
        </p:nvSpPr>
        <p:spPr>
          <a:xfrm xmlns:a="http://schemas.openxmlformats.org/drawingml/2006/main">
            <a:off x="8039100" y="3200400"/>
            <a:ext cx="76200" cy="234315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2" name="anim-3-private">
            <a:extLst xmlns:a="http://schemas.openxmlformats.org/drawingml/2006/main">
              <a:ext uri="{FF2B5EF4-FFF2-40B4-BE49-F238E27FC236}">
                <a16:creationId xmlns:a16="http://schemas.microsoft.com/office/drawing/2014/main" id="{6A5084A6-E2A9-4921-8025-B5B2851D4A6F}"/>
              </a:ext>
            </a:extLst>
          </p:cNvPr>
          <p:cNvSpPr>
            <a:spLocks xmlns:a="http://schemas.openxmlformats.org/drawingml/2006/main" noGrp="1"/>
          </p:cNvSpPr>
          <p:nvPr/>
        </p:nvSpPr>
        <p:spPr>
          <a:xfrm xmlns:a="http://schemas.openxmlformats.org/drawingml/2006/main">
            <a:off x="8305800" y="320040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F7F4EF"/>
                </a:solidFill>
                <a:latin typeface="Avenir Next"/>
                <a:ea typeface="Avenir Next"/>
                <a:cs typeface="Avenir Next"/>
              </a:defRPr>
            </a:pPr>
            <a:r>
              <a:rPr sz="3000" b="1" i="0">
                <a:solidFill>
                  <a:srgbClr val="F7F4EF"/>
                </a:solidFill>
                <a:latin typeface="Avenir Next"/>
                <a:ea typeface="Avenir Next"/>
                <a:cs typeface="Avenir Next"/>
              </a:rPr>
              <a:t>PRIVATE</a:t>
            </a:r>
          </a:p>
        </p:txBody>
      </p:sp>
      <p:sp>
        <p:nvSpPr>
          <p:cNvPr id="13" name="">
            <a:extLst xmlns:a="http://schemas.openxmlformats.org/drawingml/2006/main">
              <a:ext uri="{FF2B5EF4-FFF2-40B4-BE49-F238E27FC236}">
                <a16:creationId xmlns:a16="http://schemas.microsoft.com/office/drawing/2014/main" id="{B1FB5520-F2CA-4243-A42A-3933D0AE2635}"/>
              </a:ext>
            </a:extLst>
          </p:cNvPr>
          <p:cNvSpPr>
            <a:spLocks xmlns:a="http://schemas.openxmlformats.org/drawingml/2006/main" noGrp="1"/>
          </p:cNvSpPr>
          <p:nvPr/>
        </p:nvSpPr>
        <p:spPr>
          <a:xfrm xmlns:a="http://schemas.openxmlformats.org/drawingml/2006/main">
            <a:off x="8305800" y="4000500"/>
            <a:ext cx="28765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Keep sensitive spoken context on the device by default.</a:t>
            </a:r>
          </a:p>
        </p:txBody>
      </p:sp>
      <p:sp>
        <p:nvSpPr>
          <p:cNvPr id="14" name="">
            <a:extLst xmlns:a="http://schemas.openxmlformats.org/drawingml/2006/main">
              <a:ext uri="{FF2B5EF4-FFF2-40B4-BE49-F238E27FC236}">
                <a16:creationId xmlns:a16="http://schemas.microsoft.com/office/drawing/2014/main" id="{68936F78-8614-4CFA-A7C0-260AAA2B7BD6}"/>
              </a:ext>
            </a:extLst>
          </p:cNvPr>
          <p:cNvSpPr>
            <a:spLocks xmlns:a="http://schemas.openxmlformats.org/drawingml/2006/main" noGrp="1"/>
          </p:cNvSpPr>
          <p:nvPr/>
        </p:nvSpPr>
        <p:spPr>
          <a:xfrm xmlns:a="http://schemas.openxmlformats.org/drawingml/2006/main">
            <a:off x="609600" y="58293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0C47C"/>
                </a:solidFill>
                <a:latin typeface="Avenir Next"/>
                <a:ea typeface="Avenir Next"/>
                <a:cs typeface="Avenir Next"/>
              </a:defRPr>
            </a:pPr>
            <a:r>
              <a:rPr sz="1800" b="1" i="0">
                <a:solidFill>
                  <a:srgbClr val="F0C47C"/>
                </a:solidFill>
                <a:latin typeface="Avenir Next"/>
                <a:ea typeface="Avenir Next"/>
                <a:cs typeface="Avenir Next"/>
              </a:rPr>
              <a:t>The product challenge: make dictation immediate, useful, and trustworthy at the same time.</a:t>
            </a:r>
          </a:p>
        </p:txBody>
      </p:sp>
      <p:sp>
        <p:nvSpPr>
          <p:cNvPr id="15" name="">
            <a:extLst xmlns:a="http://schemas.openxmlformats.org/drawingml/2006/main">
              <a:ext uri="{FF2B5EF4-FFF2-40B4-BE49-F238E27FC236}">
                <a16:creationId xmlns:a16="http://schemas.microsoft.com/office/drawing/2014/main" id="{280731DF-EAE2-414A-964F-EAFB6C35507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D87ED34F-41B2-4773-AC20-4314980FC5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0900761D-EA76-4CCD-BEE8-B48362C674D4}"/>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02</a:t>
            </a:r>
          </a:p>
        </p:txBody>
      </p:sp>
    </p:spTree>
    <p:extLst>
      <p:ext uri="{BB962C8B-B14F-4D97-AF65-F5344CB8AC3E}">
        <p14:creationId xmlns:p14="http://schemas.microsoft.com/office/powerpoint/2010/main" val="738629150"/>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2"/>
                                        </p:tgtEl>
                                      </p:cBhvr>
                                    </p:animEffect>
                                  </p:childTnLst>
                                </p:cTn>
                              </p:par>
                            </p:childTnLst>
                          </p:cTn>
                        </p:par>
                      </p:childTnLst>
                    </p:cTn>
                  </p:par>
                </p:childTnLst>
              </p:cTn>
            </p:seq>
          </p:childTnLst>
        </p:cTn>
      </p:par>
    </p:tnLst>
  </p:timing>
</p:sld>
</file>

<file path=ppt/slides/slide3.xml><?xml version="1.0" encoding="utf-8"?>
<p:sld xmlns:p="http://schemas.openxmlformats.org/presentationml/2006/main">
  <p:cSld>
    <p:bg>
      <p:bgPr>
        <a:gradFill xmlns:a="http://schemas.openxmlformats.org/drawingml/2006/main">
          <a:gsLst>
            <a:gs pos="0">
              <a:srgbClr val="08080A"/>
            </a:gs>
            <a:gs pos="58000">
              <a:srgbClr val="15121B"/>
            </a:gs>
            <a:gs pos="100000">
              <a:srgbClr val="0B0A0E"/>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4A17FF-0097-4EBB-9008-81C7D5396408}"/>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03  /  THE SOLUTION</a:t>
            </a:r>
          </a:p>
        </p:txBody>
      </p:sp>
      <p:sp>
        <p:nvSpPr>
          <p:cNvPr id="2" name="">
            <a:extLst xmlns:a="http://schemas.openxmlformats.org/drawingml/2006/main">
              <a:ext uri="{FF2B5EF4-FFF2-40B4-BE49-F238E27FC236}">
                <a16:creationId xmlns:a16="http://schemas.microsoft.com/office/drawing/2014/main" id="{54BC0382-1AA7-4912-8142-0D316E44022E}"/>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ZenVoice stays in the flow.</a:t>
            </a:r>
          </a:p>
        </p:txBody>
      </p:sp>
      <p:sp>
        <p:nvSpPr>
          <p:cNvPr id="3" name="">
            <a:extLst xmlns:a="http://schemas.openxmlformats.org/drawingml/2006/main">
              <a:ext uri="{FF2B5EF4-FFF2-40B4-BE49-F238E27FC236}">
                <a16:creationId xmlns:a16="http://schemas.microsoft.com/office/drawing/2014/main" id="{A4920CCB-5DF7-458C-B5F3-84AF3043C5CD}"/>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One global shortcut turns speech into usable text without opening a separate workspace.</a:t>
            </a:r>
          </a:p>
        </p:txBody>
      </p:sp>
      <p:sp>
        <p:nvSpPr>
          <p:cNvPr id="4" name="">
            <a:extLst xmlns:a="http://schemas.openxmlformats.org/drawingml/2006/main">
              <a:ext uri="{FF2B5EF4-FFF2-40B4-BE49-F238E27FC236}">
                <a16:creationId xmlns:a16="http://schemas.microsoft.com/office/drawing/2014/main" id="{655F55E5-AE07-448B-BB06-12F1D26C37C0}"/>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speak">
            <a:extLst xmlns:a="http://schemas.openxmlformats.org/drawingml/2006/main">
              <a:ext uri="{FF2B5EF4-FFF2-40B4-BE49-F238E27FC236}">
                <a16:creationId xmlns:a16="http://schemas.microsoft.com/office/drawing/2014/main" id="{E22F29F9-F3D9-498B-AF8E-689CB64B260B}"/>
              </a:ext>
            </a:extLst>
          </p:cNvPr>
          <p:cNvSpPr>
            <a:spLocks xmlns:a="http://schemas.openxmlformats.org/drawingml/2006/main" noGrp="1"/>
          </p:cNvSpPr>
          <p:nvPr/>
        </p:nvSpPr>
        <p:spPr>
          <a:xfrm xmlns:a="http://schemas.openxmlformats.org/drawingml/2006/main">
            <a:off x="70485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i="0">
                <a:solidFill>
                  <a:srgbClr val="D7A75E"/>
                </a:solidFill>
                <a:latin typeface="Avenir Next"/>
                <a:ea typeface="Avenir Next"/>
                <a:cs typeface="Avenir Next"/>
              </a:defRPr>
            </a:pPr>
            <a:r>
              <a:rPr sz="3750" b="1" i="0">
                <a:solidFill>
                  <a:srgbClr val="D7A75E"/>
                </a:solidFill>
                <a:latin typeface="Avenir Next"/>
                <a:ea typeface="Avenir Next"/>
                <a:cs typeface="Avenir Next"/>
              </a:rPr>
              <a:t>Speak</a:t>
            </a:r>
          </a:p>
        </p:txBody>
      </p:sp>
      <p:sp>
        <p:nvSpPr>
          <p:cNvPr id="6" name="">
            <a:extLst xmlns:a="http://schemas.openxmlformats.org/drawingml/2006/main">
              <a:ext uri="{FF2B5EF4-FFF2-40B4-BE49-F238E27FC236}">
                <a16:creationId xmlns:a16="http://schemas.microsoft.com/office/drawing/2014/main" id="{4B85D5F7-FFE8-4486-AF47-AAA06926A052}"/>
              </a:ext>
            </a:extLst>
          </p:cNvPr>
          <p:cNvSpPr>
            <a:spLocks xmlns:a="http://schemas.openxmlformats.org/drawingml/2006/main" noGrp="1"/>
          </p:cNvSpPr>
          <p:nvPr/>
        </p:nvSpPr>
        <p:spPr>
          <a:xfrm xmlns:a="http://schemas.openxmlformats.org/drawingml/2006/main">
            <a:off x="704850" y="3924300"/>
            <a:ext cx="26670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5D24F5F-1B2E-41C3-B864-509477ED7958}"/>
              </a:ext>
            </a:extLst>
          </p:cNvPr>
          <p:cNvSpPr>
            <a:spLocks xmlns:a="http://schemas.openxmlformats.org/drawingml/2006/main" noGrp="1"/>
          </p:cNvSpPr>
          <p:nvPr/>
        </p:nvSpPr>
        <p:spPr>
          <a:xfrm xmlns:a="http://schemas.openxmlformats.org/drawingml/2006/main">
            <a:off x="70485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Start with Control + Option + Space.</a:t>
            </a:r>
          </a:p>
        </p:txBody>
      </p:sp>
      <p:sp>
        <p:nvSpPr>
          <p:cNvPr id="8" name="anim-2-decode">
            <a:extLst xmlns:a="http://schemas.openxmlformats.org/drawingml/2006/main">
              <a:ext uri="{FF2B5EF4-FFF2-40B4-BE49-F238E27FC236}">
                <a16:creationId xmlns:a16="http://schemas.microsoft.com/office/drawing/2014/main" id="{29CE3FF6-E9FA-4509-B9B1-C1A061413CB5}"/>
              </a:ext>
            </a:extLst>
          </p:cNvPr>
          <p:cNvSpPr>
            <a:spLocks xmlns:a="http://schemas.openxmlformats.org/drawingml/2006/main" noGrp="1"/>
          </p:cNvSpPr>
          <p:nvPr/>
        </p:nvSpPr>
        <p:spPr>
          <a:xfrm xmlns:a="http://schemas.openxmlformats.org/drawingml/2006/main">
            <a:off x="422910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i="0">
                <a:solidFill>
                  <a:srgbClr val="7667F2"/>
                </a:solidFill>
                <a:latin typeface="Avenir Next"/>
                <a:ea typeface="Avenir Next"/>
                <a:cs typeface="Avenir Next"/>
              </a:defRPr>
            </a:pPr>
            <a:r>
              <a:rPr sz="3750" b="1" i="0">
                <a:solidFill>
                  <a:srgbClr val="7667F2"/>
                </a:solidFill>
                <a:latin typeface="Avenir Next"/>
                <a:ea typeface="Avenir Next"/>
                <a:cs typeface="Avenir Next"/>
              </a:rPr>
              <a:t>Decode</a:t>
            </a:r>
          </a:p>
        </p:txBody>
      </p:sp>
      <p:sp>
        <p:nvSpPr>
          <p:cNvPr id="9" name="">
            <a:extLst xmlns:a="http://schemas.openxmlformats.org/drawingml/2006/main">
              <a:ext uri="{FF2B5EF4-FFF2-40B4-BE49-F238E27FC236}">
                <a16:creationId xmlns:a16="http://schemas.microsoft.com/office/drawing/2014/main" id="{36BA069D-0CCF-4C2E-9628-B01C148E8D6E}"/>
              </a:ext>
            </a:extLst>
          </p:cNvPr>
          <p:cNvSpPr>
            <a:spLocks xmlns:a="http://schemas.openxmlformats.org/drawingml/2006/main" noGrp="1"/>
          </p:cNvSpPr>
          <p:nvPr/>
        </p:nvSpPr>
        <p:spPr>
          <a:xfrm xmlns:a="http://schemas.openxmlformats.org/drawingml/2006/main">
            <a:off x="4229100" y="3924300"/>
            <a:ext cx="2667000" cy="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0" name="">
            <a:extLst xmlns:a="http://schemas.openxmlformats.org/drawingml/2006/main">
              <a:ext uri="{FF2B5EF4-FFF2-40B4-BE49-F238E27FC236}">
                <a16:creationId xmlns:a16="http://schemas.microsoft.com/office/drawing/2014/main" id="{F1057BF9-5485-41CF-A178-DDDBAC73FE92}"/>
              </a:ext>
            </a:extLst>
          </p:cNvPr>
          <p:cNvSpPr>
            <a:spLocks xmlns:a="http://schemas.openxmlformats.org/drawingml/2006/main" noGrp="1"/>
          </p:cNvSpPr>
          <p:nvPr/>
        </p:nvSpPr>
        <p:spPr>
          <a:xfrm xmlns:a="http://schemas.openxmlformats.org/drawingml/2006/main">
            <a:off x="422910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selected on-device engine transcribes locally.</a:t>
            </a:r>
          </a:p>
        </p:txBody>
      </p:sp>
      <p:sp>
        <p:nvSpPr>
          <p:cNvPr id="11" name="anim-3-insert">
            <a:extLst xmlns:a="http://schemas.openxmlformats.org/drawingml/2006/main">
              <a:ext uri="{FF2B5EF4-FFF2-40B4-BE49-F238E27FC236}">
                <a16:creationId xmlns:a16="http://schemas.microsoft.com/office/drawing/2014/main" id="{1ACD0725-1A70-44A4-8F4D-68D795194B99}"/>
              </a:ext>
            </a:extLst>
          </p:cNvPr>
          <p:cNvSpPr>
            <a:spLocks xmlns:a="http://schemas.openxmlformats.org/drawingml/2006/main" noGrp="1"/>
          </p:cNvSpPr>
          <p:nvPr/>
        </p:nvSpPr>
        <p:spPr>
          <a:xfrm xmlns:a="http://schemas.openxmlformats.org/drawingml/2006/main">
            <a:off x="7753350" y="3028950"/>
            <a:ext cx="295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i="0">
                <a:solidFill>
                  <a:srgbClr val="4B9CF5"/>
                </a:solidFill>
                <a:latin typeface="Avenir Next"/>
                <a:ea typeface="Avenir Next"/>
                <a:cs typeface="Avenir Next"/>
              </a:defRPr>
            </a:pPr>
            <a:r>
              <a:rPr sz="3750" b="1" i="0">
                <a:solidFill>
                  <a:srgbClr val="4B9CF5"/>
                </a:solidFill>
                <a:latin typeface="Avenir Next"/>
                <a:ea typeface="Avenir Next"/>
                <a:cs typeface="Avenir Next"/>
              </a:rPr>
              <a:t>Insert</a:t>
            </a:r>
          </a:p>
        </p:txBody>
      </p:sp>
      <p:sp>
        <p:nvSpPr>
          <p:cNvPr id="12" name="">
            <a:extLst xmlns:a="http://schemas.openxmlformats.org/drawingml/2006/main">
              <a:ext uri="{FF2B5EF4-FFF2-40B4-BE49-F238E27FC236}">
                <a16:creationId xmlns:a16="http://schemas.microsoft.com/office/drawing/2014/main" id="{E9DE6E55-E8B8-4319-ADDD-00B57CD55F7E}"/>
              </a:ext>
            </a:extLst>
          </p:cNvPr>
          <p:cNvSpPr>
            <a:spLocks xmlns:a="http://schemas.openxmlformats.org/drawingml/2006/main" noGrp="1"/>
          </p:cNvSpPr>
          <p:nvPr/>
        </p:nvSpPr>
        <p:spPr>
          <a:xfrm xmlns:a="http://schemas.openxmlformats.org/drawingml/2006/main">
            <a:off x="7753350" y="3924300"/>
            <a:ext cx="266700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3" name="">
            <a:extLst xmlns:a="http://schemas.openxmlformats.org/drawingml/2006/main">
              <a:ext uri="{FF2B5EF4-FFF2-40B4-BE49-F238E27FC236}">
                <a16:creationId xmlns:a16="http://schemas.microsoft.com/office/drawing/2014/main" id="{B6F4C2C4-8313-4F6B-8A79-A1877246659F}"/>
              </a:ext>
            </a:extLst>
          </p:cNvPr>
          <p:cNvSpPr>
            <a:spLocks xmlns:a="http://schemas.openxmlformats.org/drawingml/2006/main" noGrp="1"/>
          </p:cNvSpPr>
          <p:nvPr/>
        </p:nvSpPr>
        <p:spPr>
          <a:xfrm xmlns:a="http://schemas.openxmlformats.org/drawingml/2006/main">
            <a:off x="7753350" y="422910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Cleanup and corrections finish in the focused app.</a:t>
            </a:r>
          </a:p>
        </p:txBody>
      </p:sp>
      <p:sp>
        <p:nvSpPr>
          <p:cNvPr id="14" name="">
            <a:extLst xmlns:a="http://schemas.openxmlformats.org/drawingml/2006/main">
              <a:ext uri="{FF2B5EF4-FFF2-40B4-BE49-F238E27FC236}">
                <a16:creationId xmlns:a16="http://schemas.microsoft.com/office/drawing/2014/main" id="{81BE5249-2B7E-47BA-BB27-BE9F33A78008}"/>
              </a:ext>
            </a:extLst>
          </p:cNvPr>
          <p:cNvSpPr>
            <a:spLocks xmlns:a="http://schemas.openxmlformats.org/drawingml/2006/main" noGrp="1"/>
          </p:cNvSpPr>
          <p:nvPr/>
        </p:nvSpPr>
        <p:spPr>
          <a:xfrm xmlns:a="http://schemas.openxmlformats.org/drawingml/2006/main">
            <a:off x="704850" y="56197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The workflow remains native to macOS: menu bar, microphone permission, Accessibility insertion, and local storage.</a:t>
            </a:r>
          </a:p>
        </p:txBody>
      </p:sp>
      <p:sp>
        <p:nvSpPr>
          <p:cNvPr id="15" name="">
            <a:extLst xmlns:a="http://schemas.openxmlformats.org/drawingml/2006/main">
              <a:ext uri="{FF2B5EF4-FFF2-40B4-BE49-F238E27FC236}">
                <a16:creationId xmlns:a16="http://schemas.microsoft.com/office/drawing/2014/main" id="{49DE74B4-F869-4604-B061-281F9AFB0AE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C10FA362-355D-4FB2-9A69-717A3C69E63B}"/>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B8F44F05-F1D2-4B50-BA15-A9F199C51818}"/>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03</a:t>
            </a:r>
          </a:p>
        </p:txBody>
      </p:sp>
    </p:spTree>
    <p:extLst>
      <p:ext uri="{BB962C8B-B14F-4D97-AF65-F5344CB8AC3E}">
        <p14:creationId xmlns:p14="http://schemas.microsoft.com/office/powerpoint/2010/main" val="116553769"/>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34d9857c724496a"/>
          <a:srcRect xmlns:a="http://schemas.openxmlformats.org/drawingml/2006/main" l="27175" t="0" r="27175" b="0"/>
          <a:stretch xmlns:a="http://schemas.openxmlformats.org/drawingml/2006/main">
            <a:fillRect l="0" t="0" r="0" b="0"/>
          </a:stretch>
        </p:blipFill>
        <p:spPr>
          <a:xfrm xmlns:a="http://schemas.openxmlformats.org/drawingml/2006/main">
            <a:off x="6629400" y="0"/>
            <a:ext cx="55626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36ADB9-8C5C-41B2-B8ED-5AF1D8D1032B}"/>
              </a:ext>
            </a:extLst>
          </p:cNvPr>
          <p:cNvSpPr>
            <a:spLocks xmlns:a="http://schemas.openxmlformats.org/drawingml/2006/main" noGrp="1"/>
          </p:cNvSpPr>
          <p:nvPr/>
        </p:nvSpPr>
        <p:spPr>
          <a:xfrm xmlns:a="http://schemas.openxmlformats.org/drawingml/2006/main">
            <a:off x="5924550" y="0"/>
            <a:ext cx="6267450" cy="6858000"/>
          </a:xfrm>
          <a:prstGeom xmlns:a="http://schemas.openxmlformats.org/drawingml/2006/main" prst="rect">
            <a:avLst/>
          </a:prstGeom>
          <a:solidFill xmlns:a="http://schemas.openxmlformats.org/drawingml/2006/main">
            <a:srgbClr val="08080A">
              <a:alpha val="34000"/>
            </a:srgbClr>
          </a:solidFill>
          <a:ln xmlns:a="http://schemas.openxmlformats.org/drawingml/2006/main" w="0">
            <a:solidFill>
              <a:srgbClr val="08080A">
                <a:alpha val="34000"/>
              </a:srgbClr>
            </a:solidFill>
            <a:prstDash val="solid"/>
          </a:ln>
        </p:spPr>
      </p:sp>
      <p:sp>
        <p:nvSpPr>
          <p:cNvPr id="3" name="">
            <a:extLst xmlns:a="http://schemas.openxmlformats.org/drawingml/2006/main">
              <a:ext uri="{FF2B5EF4-FFF2-40B4-BE49-F238E27FC236}">
                <a16:creationId xmlns:a16="http://schemas.microsoft.com/office/drawing/2014/main" id="{523CD311-EA1A-46C4-ADF4-356F466B6359}"/>
              </a:ext>
            </a:extLst>
          </p:cNvPr>
          <p:cNvSpPr>
            <a:spLocks xmlns:a="http://schemas.openxmlformats.org/drawingml/2006/main" noGrp="1"/>
          </p:cNvSpPr>
          <p:nvPr/>
        </p:nvSpPr>
        <p:spPr>
          <a:xfrm xmlns:a="http://schemas.openxmlformats.org/drawingml/2006/main">
            <a:off x="609600" y="4381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04  /  HOW TO USE IT</a:t>
            </a:r>
          </a:p>
        </p:txBody>
      </p:sp>
      <p:sp>
        <p:nvSpPr>
          <p:cNvPr id="4" name="">
            <a:extLst xmlns:a="http://schemas.openxmlformats.org/drawingml/2006/main">
              <a:ext uri="{FF2B5EF4-FFF2-40B4-BE49-F238E27FC236}">
                <a16:creationId xmlns:a16="http://schemas.microsoft.com/office/drawing/2014/main" id="{5A830A86-0D75-4E4E-B2B8-970B587F7D26}"/>
              </a:ext>
            </a:extLst>
          </p:cNvPr>
          <p:cNvSpPr>
            <a:spLocks xmlns:a="http://schemas.openxmlformats.org/drawingml/2006/main" noGrp="1"/>
          </p:cNvSpPr>
          <p:nvPr/>
        </p:nvSpPr>
        <p:spPr>
          <a:xfrm xmlns:a="http://schemas.openxmlformats.org/drawingml/2006/main">
            <a:off x="609600" y="876300"/>
            <a:ext cx="5810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One shortcut.</a:t>
            </a:r>
          </a:p>
          <a:p xmlns:a="http://schemas.openxmlformats.org/drawingml/2006/main">
            <a:pPr algn="l">
              <a:defRPr sz="4125" b="1" i="0">
                <a:solidFill>
                  <a:srgbClr val="F7F4EF"/>
                </a:solidFill>
                <a:latin typeface="Avenir Next"/>
                <a:ea typeface="Avenir Next"/>
                <a:cs typeface="Avenir Next"/>
              </a:defRPr>
            </a:pPr>
            <a:r>
              <a:rPr sz="4125" b="1" i="0">
                <a:solidFill>
                  <a:srgbClr val="F7F4EF"/>
                </a:solidFill>
                <a:latin typeface="Avenir Next"/>
                <a:ea typeface="Avenir Next"/>
                <a:cs typeface="Avenir Next"/>
              </a:rPr>
              <a:t>Five moments.</a:t>
            </a:r>
          </a:p>
        </p:txBody>
      </p:sp>
      <p:sp>
        <p:nvSpPr>
          <p:cNvPr id="5" name="">
            <a:extLst xmlns:a="http://schemas.openxmlformats.org/drawingml/2006/main">
              <a:ext uri="{FF2B5EF4-FFF2-40B4-BE49-F238E27FC236}">
                <a16:creationId xmlns:a16="http://schemas.microsoft.com/office/drawing/2014/main" id="{0449F22D-6009-437E-A055-F8F1D9A295C8}"/>
              </a:ext>
            </a:extLst>
          </p:cNvPr>
          <p:cNvSpPr>
            <a:spLocks xmlns:a="http://schemas.openxmlformats.org/drawingml/2006/main" noGrp="1"/>
          </p:cNvSpPr>
          <p:nvPr/>
        </p:nvSpPr>
        <p:spPr>
          <a:xfrm xmlns:a="http://schemas.openxmlformats.org/drawingml/2006/main">
            <a:off x="6096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user never leaves the text field.</a:t>
            </a:r>
          </a:p>
        </p:txBody>
      </p:sp>
      <p:sp>
        <p:nvSpPr>
          <p:cNvPr id="6" name="">
            <a:extLst xmlns:a="http://schemas.openxmlformats.org/drawingml/2006/main">
              <a:ext uri="{FF2B5EF4-FFF2-40B4-BE49-F238E27FC236}">
                <a16:creationId xmlns:a16="http://schemas.microsoft.com/office/drawing/2014/main" id="{E17793CC-B2DC-4D68-9CA6-0A58CA1673C4}"/>
              </a:ext>
            </a:extLst>
          </p:cNvPr>
          <p:cNvSpPr>
            <a:spLocks xmlns:a="http://schemas.openxmlformats.org/drawingml/2006/main" noGrp="1"/>
          </p:cNvSpPr>
          <p:nvPr/>
        </p:nvSpPr>
        <p:spPr>
          <a:xfrm xmlns:a="http://schemas.openxmlformats.org/drawingml/2006/main">
            <a:off x="609600" y="2857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01</a:t>
            </a:r>
          </a:p>
        </p:txBody>
      </p:sp>
      <p:sp>
        <p:nvSpPr>
          <p:cNvPr id="7" name="anim-1-focus">
            <a:extLst xmlns:a="http://schemas.openxmlformats.org/drawingml/2006/main">
              <a:ext uri="{FF2B5EF4-FFF2-40B4-BE49-F238E27FC236}">
                <a16:creationId xmlns:a16="http://schemas.microsoft.com/office/drawing/2014/main" id="{09288358-C848-409A-AADC-C0F437875695}"/>
              </a:ext>
            </a:extLst>
          </p:cNvPr>
          <p:cNvSpPr>
            <a:spLocks xmlns:a="http://schemas.openxmlformats.org/drawingml/2006/main" noGrp="1"/>
          </p:cNvSpPr>
          <p:nvPr/>
        </p:nvSpPr>
        <p:spPr>
          <a:xfrm xmlns:a="http://schemas.openxmlformats.org/drawingml/2006/main">
            <a:off x="1200150" y="28384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Focus</a:t>
            </a:r>
          </a:p>
        </p:txBody>
      </p:sp>
      <p:sp>
        <p:nvSpPr>
          <p:cNvPr id="8" name="">
            <a:extLst xmlns:a="http://schemas.openxmlformats.org/drawingml/2006/main">
              <a:ext uri="{FF2B5EF4-FFF2-40B4-BE49-F238E27FC236}">
                <a16:creationId xmlns:a16="http://schemas.microsoft.com/office/drawing/2014/main" id="{6BE94D03-8350-44D2-820E-8137137854EF}"/>
              </a:ext>
            </a:extLst>
          </p:cNvPr>
          <p:cNvSpPr>
            <a:spLocks xmlns:a="http://schemas.openxmlformats.org/drawingml/2006/main" noGrp="1"/>
          </p:cNvSpPr>
          <p:nvPr/>
        </p:nvSpPr>
        <p:spPr>
          <a:xfrm xmlns:a="http://schemas.openxmlformats.org/drawingml/2006/main">
            <a:off x="2590800" y="2857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Put the cursor in any editable field.</a:t>
            </a:r>
          </a:p>
        </p:txBody>
      </p:sp>
      <p:sp>
        <p:nvSpPr>
          <p:cNvPr id="9" name="">
            <a:extLst xmlns:a="http://schemas.openxmlformats.org/drawingml/2006/main">
              <a:ext uri="{FF2B5EF4-FFF2-40B4-BE49-F238E27FC236}">
                <a16:creationId xmlns:a16="http://schemas.microsoft.com/office/drawing/2014/main" id="{795AD07F-6715-442B-94F6-E54D4078A7A4}"/>
              </a:ext>
            </a:extLst>
          </p:cNvPr>
          <p:cNvSpPr>
            <a:spLocks xmlns:a="http://schemas.openxmlformats.org/drawingml/2006/main" noGrp="1"/>
          </p:cNvSpPr>
          <p:nvPr/>
        </p:nvSpPr>
        <p:spPr>
          <a:xfrm xmlns:a="http://schemas.openxmlformats.org/drawingml/2006/main">
            <a:off x="609600" y="329565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0" name="">
            <a:extLst xmlns:a="http://schemas.openxmlformats.org/drawingml/2006/main">
              <a:ext uri="{FF2B5EF4-FFF2-40B4-BE49-F238E27FC236}">
                <a16:creationId xmlns:a16="http://schemas.microsoft.com/office/drawing/2014/main" id="{98842702-8BFB-4F9C-92AA-AB9A2D643C99}"/>
              </a:ext>
            </a:extLst>
          </p:cNvPr>
          <p:cNvSpPr>
            <a:spLocks xmlns:a="http://schemas.openxmlformats.org/drawingml/2006/main" noGrp="1"/>
          </p:cNvSpPr>
          <p:nvPr/>
        </p:nvSpPr>
        <p:spPr>
          <a:xfrm xmlns:a="http://schemas.openxmlformats.org/drawingml/2006/main">
            <a:off x="609600" y="34956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02</a:t>
            </a:r>
          </a:p>
        </p:txBody>
      </p:sp>
      <p:sp>
        <p:nvSpPr>
          <p:cNvPr id="11" name="anim-2-start">
            <a:extLst xmlns:a="http://schemas.openxmlformats.org/drawingml/2006/main">
              <a:ext uri="{FF2B5EF4-FFF2-40B4-BE49-F238E27FC236}">
                <a16:creationId xmlns:a16="http://schemas.microsoft.com/office/drawing/2014/main" id="{010CBA95-1545-47A9-B7DB-BDDF776199B4}"/>
              </a:ext>
            </a:extLst>
          </p:cNvPr>
          <p:cNvSpPr>
            <a:spLocks xmlns:a="http://schemas.openxmlformats.org/drawingml/2006/main" noGrp="1"/>
          </p:cNvSpPr>
          <p:nvPr/>
        </p:nvSpPr>
        <p:spPr>
          <a:xfrm xmlns:a="http://schemas.openxmlformats.org/drawingml/2006/main">
            <a:off x="1200150" y="347662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Start</a:t>
            </a:r>
          </a:p>
        </p:txBody>
      </p:sp>
      <p:sp>
        <p:nvSpPr>
          <p:cNvPr id="12" name="">
            <a:extLst xmlns:a="http://schemas.openxmlformats.org/drawingml/2006/main">
              <a:ext uri="{FF2B5EF4-FFF2-40B4-BE49-F238E27FC236}">
                <a16:creationId xmlns:a16="http://schemas.microsoft.com/office/drawing/2014/main" id="{A0E70325-58DC-478D-A873-EAEEEA6F53F6}"/>
              </a:ext>
            </a:extLst>
          </p:cNvPr>
          <p:cNvSpPr>
            <a:spLocks xmlns:a="http://schemas.openxmlformats.org/drawingml/2006/main" noGrp="1"/>
          </p:cNvSpPr>
          <p:nvPr/>
        </p:nvSpPr>
        <p:spPr>
          <a:xfrm xmlns:a="http://schemas.openxmlformats.org/drawingml/2006/main">
            <a:off x="2590800" y="34956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Ctrl + Option + Space.</a:t>
            </a:r>
          </a:p>
        </p:txBody>
      </p:sp>
      <p:sp>
        <p:nvSpPr>
          <p:cNvPr id="13" name="">
            <a:extLst xmlns:a="http://schemas.openxmlformats.org/drawingml/2006/main">
              <a:ext uri="{FF2B5EF4-FFF2-40B4-BE49-F238E27FC236}">
                <a16:creationId xmlns:a16="http://schemas.microsoft.com/office/drawing/2014/main" id="{F7AFD60E-6D88-469B-9040-420ACE9E2E1C}"/>
              </a:ext>
            </a:extLst>
          </p:cNvPr>
          <p:cNvSpPr>
            <a:spLocks xmlns:a="http://schemas.openxmlformats.org/drawingml/2006/main" noGrp="1"/>
          </p:cNvSpPr>
          <p:nvPr/>
        </p:nvSpPr>
        <p:spPr>
          <a:xfrm xmlns:a="http://schemas.openxmlformats.org/drawingml/2006/main">
            <a:off x="609600" y="393382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4" name="">
            <a:extLst xmlns:a="http://schemas.openxmlformats.org/drawingml/2006/main">
              <a:ext uri="{FF2B5EF4-FFF2-40B4-BE49-F238E27FC236}">
                <a16:creationId xmlns:a16="http://schemas.microsoft.com/office/drawing/2014/main" id="{E8BE9800-6C9F-41E3-95BD-FF496499657F}"/>
              </a:ext>
            </a:extLst>
          </p:cNvPr>
          <p:cNvSpPr>
            <a:spLocks xmlns:a="http://schemas.openxmlformats.org/drawingml/2006/main" noGrp="1"/>
          </p:cNvSpPr>
          <p:nvPr/>
        </p:nvSpPr>
        <p:spPr>
          <a:xfrm xmlns:a="http://schemas.openxmlformats.org/drawingml/2006/main">
            <a:off x="609600" y="41338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03</a:t>
            </a:r>
          </a:p>
        </p:txBody>
      </p:sp>
      <p:sp>
        <p:nvSpPr>
          <p:cNvPr id="15" name="anim-3-speak">
            <a:extLst xmlns:a="http://schemas.openxmlformats.org/drawingml/2006/main">
              <a:ext uri="{FF2B5EF4-FFF2-40B4-BE49-F238E27FC236}">
                <a16:creationId xmlns:a16="http://schemas.microsoft.com/office/drawing/2014/main" id="{3D48504A-0446-4798-A44C-BF14229B684E}"/>
              </a:ext>
            </a:extLst>
          </p:cNvPr>
          <p:cNvSpPr>
            <a:spLocks xmlns:a="http://schemas.openxmlformats.org/drawingml/2006/main" noGrp="1"/>
          </p:cNvSpPr>
          <p:nvPr/>
        </p:nvSpPr>
        <p:spPr>
          <a:xfrm xmlns:a="http://schemas.openxmlformats.org/drawingml/2006/main">
            <a:off x="1200150" y="41148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Speak</a:t>
            </a:r>
          </a:p>
        </p:txBody>
      </p:sp>
      <p:sp>
        <p:nvSpPr>
          <p:cNvPr id="16" name="">
            <a:extLst xmlns:a="http://schemas.openxmlformats.org/drawingml/2006/main">
              <a:ext uri="{FF2B5EF4-FFF2-40B4-BE49-F238E27FC236}">
                <a16:creationId xmlns:a16="http://schemas.microsoft.com/office/drawing/2014/main" id="{41A9C17E-FB4B-41A1-A2CF-299B8000C277}"/>
              </a:ext>
            </a:extLst>
          </p:cNvPr>
          <p:cNvSpPr>
            <a:spLocks xmlns:a="http://schemas.openxmlformats.org/drawingml/2006/main" noGrp="1"/>
          </p:cNvSpPr>
          <p:nvPr/>
        </p:nvSpPr>
        <p:spPr>
          <a:xfrm xmlns:a="http://schemas.openxmlformats.org/drawingml/2006/main">
            <a:off x="2590800" y="4133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ZenBar shows recording and preview.</a:t>
            </a:r>
          </a:p>
        </p:txBody>
      </p:sp>
      <p:sp>
        <p:nvSpPr>
          <p:cNvPr id="17" name="">
            <a:extLst xmlns:a="http://schemas.openxmlformats.org/drawingml/2006/main">
              <a:ext uri="{FF2B5EF4-FFF2-40B4-BE49-F238E27FC236}">
                <a16:creationId xmlns:a16="http://schemas.microsoft.com/office/drawing/2014/main" id="{261AFA89-7808-483B-A387-72DD0BB9CD9D}"/>
              </a:ext>
            </a:extLst>
          </p:cNvPr>
          <p:cNvSpPr>
            <a:spLocks xmlns:a="http://schemas.openxmlformats.org/drawingml/2006/main" noGrp="1"/>
          </p:cNvSpPr>
          <p:nvPr/>
        </p:nvSpPr>
        <p:spPr>
          <a:xfrm xmlns:a="http://schemas.openxmlformats.org/drawingml/2006/main">
            <a:off x="609600" y="4572000"/>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8" name="">
            <a:extLst xmlns:a="http://schemas.openxmlformats.org/drawingml/2006/main">
              <a:ext uri="{FF2B5EF4-FFF2-40B4-BE49-F238E27FC236}">
                <a16:creationId xmlns:a16="http://schemas.microsoft.com/office/drawing/2014/main" id="{B41E9BB1-6DFA-4886-9DC9-4687CFC24811}"/>
              </a:ext>
            </a:extLst>
          </p:cNvPr>
          <p:cNvSpPr>
            <a:spLocks xmlns:a="http://schemas.openxmlformats.org/drawingml/2006/main" noGrp="1"/>
          </p:cNvSpPr>
          <p:nvPr/>
        </p:nvSpPr>
        <p:spPr>
          <a:xfrm xmlns:a="http://schemas.openxmlformats.org/drawingml/2006/main">
            <a:off x="609600" y="47720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04</a:t>
            </a:r>
          </a:p>
        </p:txBody>
      </p:sp>
      <p:sp>
        <p:nvSpPr>
          <p:cNvPr id="19" name="anim-4-stop">
            <a:extLst xmlns:a="http://schemas.openxmlformats.org/drawingml/2006/main">
              <a:ext uri="{FF2B5EF4-FFF2-40B4-BE49-F238E27FC236}">
                <a16:creationId xmlns:a16="http://schemas.microsoft.com/office/drawing/2014/main" id="{94416F2B-B295-4E6D-A66B-F5C80A0C9E8E}"/>
              </a:ext>
            </a:extLst>
          </p:cNvPr>
          <p:cNvSpPr>
            <a:spLocks xmlns:a="http://schemas.openxmlformats.org/drawingml/2006/main" noGrp="1"/>
          </p:cNvSpPr>
          <p:nvPr/>
        </p:nvSpPr>
        <p:spPr>
          <a:xfrm xmlns:a="http://schemas.openxmlformats.org/drawingml/2006/main">
            <a:off x="1200150" y="475297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Stop</a:t>
            </a:r>
          </a:p>
        </p:txBody>
      </p:sp>
      <p:sp>
        <p:nvSpPr>
          <p:cNvPr id="20" name="">
            <a:extLst xmlns:a="http://schemas.openxmlformats.org/drawingml/2006/main">
              <a:ext uri="{FF2B5EF4-FFF2-40B4-BE49-F238E27FC236}">
                <a16:creationId xmlns:a16="http://schemas.microsoft.com/office/drawing/2014/main" id="{6E53D0C3-0C6F-4C29-B7D1-1AF65DFC76D8}"/>
              </a:ext>
            </a:extLst>
          </p:cNvPr>
          <p:cNvSpPr>
            <a:spLocks xmlns:a="http://schemas.openxmlformats.org/drawingml/2006/main" noGrp="1"/>
          </p:cNvSpPr>
          <p:nvPr/>
        </p:nvSpPr>
        <p:spPr>
          <a:xfrm xmlns:a="http://schemas.openxmlformats.org/drawingml/2006/main">
            <a:off x="2590800" y="47720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Press again or release hold-to-dictate.</a:t>
            </a:r>
          </a:p>
        </p:txBody>
      </p:sp>
      <p:sp>
        <p:nvSpPr>
          <p:cNvPr id="21" name="">
            <a:extLst xmlns:a="http://schemas.openxmlformats.org/drawingml/2006/main">
              <a:ext uri="{FF2B5EF4-FFF2-40B4-BE49-F238E27FC236}">
                <a16:creationId xmlns:a16="http://schemas.microsoft.com/office/drawing/2014/main" id="{8AC547D6-3C46-49F1-BA57-5606B9D4B0BD}"/>
              </a:ext>
            </a:extLst>
          </p:cNvPr>
          <p:cNvSpPr>
            <a:spLocks xmlns:a="http://schemas.openxmlformats.org/drawingml/2006/main" noGrp="1"/>
          </p:cNvSpPr>
          <p:nvPr/>
        </p:nvSpPr>
        <p:spPr>
          <a:xfrm xmlns:a="http://schemas.openxmlformats.org/drawingml/2006/main">
            <a:off x="609600" y="5210175"/>
            <a:ext cx="5048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3184D7F1-EF55-44CE-AF7A-BFE76D32FA19}"/>
              </a:ext>
            </a:extLst>
          </p:cNvPr>
          <p:cNvSpPr>
            <a:spLocks xmlns:a="http://schemas.openxmlformats.org/drawingml/2006/main" noGrp="1"/>
          </p:cNvSpPr>
          <p:nvPr/>
        </p:nvSpPr>
        <p:spPr>
          <a:xfrm xmlns:a="http://schemas.openxmlformats.org/drawingml/2006/main">
            <a:off x="609600" y="54102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0C47C"/>
                </a:solidFill>
                <a:latin typeface="Avenir Next"/>
                <a:ea typeface="Avenir Next"/>
                <a:cs typeface="Avenir Next"/>
              </a:defRPr>
            </a:pPr>
            <a:r>
              <a:rPr sz="1125" b="1" i="0">
                <a:solidFill>
                  <a:srgbClr val="F0C47C"/>
                </a:solidFill>
                <a:latin typeface="Avenir Next"/>
                <a:ea typeface="Avenir Next"/>
                <a:cs typeface="Avenir Next"/>
              </a:rPr>
              <a:t>05</a:t>
            </a:r>
          </a:p>
        </p:txBody>
      </p:sp>
      <p:sp>
        <p:nvSpPr>
          <p:cNvPr id="23" name="anim-5-continue">
            <a:extLst xmlns:a="http://schemas.openxmlformats.org/drawingml/2006/main">
              <a:ext uri="{FF2B5EF4-FFF2-40B4-BE49-F238E27FC236}">
                <a16:creationId xmlns:a16="http://schemas.microsoft.com/office/drawing/2014/main" id="{65D07ECE-B7E7-4410-896E-09378E92544F}"/>
              </a:ext>
            </a:extLst>
          </p:cNvPr>
          <p:cNvSpPr>
            <a:spLocks xmlns:a="http://schemas.openxmlformats.org/drawingml/2006/main" noGrp="1"/>
          </p:cNvSpPr>
          <p:nvPr/>
        </p:nvSpPr>
        <p:spPr>
          <a:xfrm xmlns:a="http://schemas.openxmlformats.org/drawingml/2006/main">
            <a:off x="1200150" y="53911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7F4EF"/>
                </a:solidFill>
                <a:latin typeface="Avenir Next"/>
                <a:ea typeface="Avenir Next"/>
                <a:cs typeface="Avenir Next"/>
              </a:defRPr>
            </a:pPr>
            <a:r>
              <a:rPr sz="1725" b="1" i="0">
                <a:solidFill>
                  <a:srgbClr val="F7F4EF"/>
                </a:solidFill>
                <a:latin typeface="Avenir Next"/>
                <a:ea typeface="Avenir Next"/>
                <a:cs typeface="Avenir Next"/>
              </a:rPr>
              <a:t>Continue</a:t>
            </a:r>
          </a:p>
        </p:txBody>
      </p:sp>
      <p:sp>
        <p:nvSpPr>
          <p:cNvPr id="24" name="">
            <a:extLst xmlns:a="http://schemas.openxmlformats.org/drawingml/2006/main">
              <a:ext uri="{FF2B5EF4-FFF2-40B4-BE49-F238E27FC236}">
                <a16:creationId xmlns:a16="http://schemas.microsoft.com/office/drawing/2014/main" id="{44158D83-93F4-48E5-A4C0-388A77E5041D}"/>
              </a:ext>
            </a:extLst>
          </p:cNvPr>
          <p:cNvSpPr>
            <a:spLocks xmlns:a="http://schemas.openxmlformats.org/drawingml/2006/main" noGrp="1"/>
          </p:cNvSpPr>
          <p:nvPr/>
        </p:nvSpPr>
        <p:spPr>
          <a:xfrm xmlns:a="http://schemas.openxmlformats.org/drawingml/2006/main">
            <a:off x="2590800" y="54102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Text is inserted; History can reuse it.</a:t>
            </a:r>
          </a:p>
        </p:txBody>
      </p:sp>
      <p:sp>
        <p:nvSpPr>
          <p:cNvPr id="25" name="">
            <a:extLst xmlns:a="http://schemas.openxmlformats.org/drawingml/2006/main">
              <a:ext uri="{FF2B5EF4-FFF2-40B4-BE49-F238E27FC236}">
                <a16:creationId xmlns:a16="http://schemas.microsoft.com/office/drawing/2014/main" id="{6410CFB0-16ED-49CC-8FE7-8896163BCB2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6" name="">
            <a:extLst xmlns:a="http://schemas.openxmlformats.org/drawingml/2006/main">
              <a:ext uri="{FF2B5EF4-FFF2-40B4-BE49-F238E27FC236}">
                <a16:creationId xmlns:a16="http://schemas.microsoft.com/office/drawing/2014/main" id="{4D074C7C-107E-4FBD-B3AB-635892D82B8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7" name="">
            <a:extLst xmlns:a="http://schemas.openxmlformats.org/drawingml/2006/main">
              <a:ext uri="{FF2B5EF4-FFF2-40B4-BE49-F238E27FC236}">
                <a16:creationId xmlns:a16="http://schemas.microsoft.com/office/drawing/2014/main" id="{62911B79-4D50-4CEA-A62E-4884107F6E61}"/>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04</a:t>
            </a:r>
          </a:p>
        </p:txBody>
      </p:sp>
    </p:spTree>
    <p:extLst>
      <p:ext uri="{BB962C8B-B14F-4D97-AF65-F5344CB8AC3E}">
        <p14:creationId xmlns:p14="http://schemas.microsoft.com/office/powerpoint/2010/main" val="188638275"/>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3"/>
                                        </p:tgtEl>
                                      </p:cBhvr>
                                    </p:animEffect>
                                  </p:childTnLst>
                                </p:cTn>
                              </p:par>
                            </p:childTnLst>
                          </p:cTn>
                        </p:par>
                      </p:childTnLst>
                    </p:cTn>
                  </p:par>
                </p:childTnLst>
              </p:cTn>
            </p:seq>
          </p:childTnLst>
        </p:cTn>
      </p:par>
    </p:tnLst>
  </p:timing>
</p:sld>
</file>

<file path=ppt/slides/slide5.xml><?xml version="1.0" encoding="utf-8"?>
<p:sld xmlns:p="http://schemas.openxmlformats.org/presentationml/2006/main">
  <p:cSld>
    <p:bg>
      <p:bgPr>
        <a:gradFill xmlns:a="http://schemas.openxmlformats.org/drawingml/2006/main">
          <a:gsLst>
            <a:gs pos="0">
              <a:srgbClr val="09090C"/>
            </a:gs>
            <a:gs pos="58000">
              <a:srgbClr val="111018"/>
            </a:gs>
            <a:gs pos="100000">
              <a:srgbClr val="09090C"/>
            </a:gs>
          </a:gsLst>
          <a:lin ang="8100000"/>
        </a:gra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828D3FF-2564-4DED-807E-457E087740C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05  /  CORE FEATURES</a:t>
            </a:r>
          </a:p>
        </p:txBody>
      </p:sp>
      <p:sp>
        <p:nvSpPr>
          <p:cNvPr id="2" name="">
            <a:extLst xmlns:a="http://schemas.openxmlformats.org/drawingml/2006/main">
              <a:ext uri="{FF2B5EF4-FFF2-40B4-BE49-F238E27FC236}">
                <a16:creationId xmlns:a16="http://schemas.microsoft.com/office/drawing/2014/main" id="{FC2EB6C7-35C5-42AA-BC2F-D06C76F2AD9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A tiny overlay hides a complete workflow.</a:t>
            </a:r>
          </a:p>
        </p:txBody>
      </p:sp>
      <p:sp>
        <p:nvSpPr>
          <p:cNvPr id="3" name="">
            <a:extLst xmlns:a="http://schemas.openxmlformats.org/drawingml/2006/main">
              <a:ext uri="{FF2B5EF4-FFF2-40B4-BE49-F238E27FC236}">
                <a16:creationId xmlns:a16="http://schemas.microsoft.com/office/drawing/2014/main" id="{940C5636-16AD-4A54-BB16-A35A43CE90B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ZenBar stays compact while the surrounding system handles preview, permissions, recovery, and app-specific behavior.</a:t>
            </a:r>
          </a:p>
        </p:txBody>
      </p:sp>
      <p:sp>
        <p:nvSpPr>
          <p:cNvPr id="4" name="">
            <a:extLst xmlns:a="http://schemas.openxmlformats.org/drawingml/2006/main">
              <a:ext uri="{FF2B5EF4-FFF2-40B4-BE49-F238E27FC236}">
                <a16:creationId xmlns:a16="http://schemas.microsoft.com/office/drawing/2014/main" id="{9CA804E1-415D-4C28-9A4F-3F7714E6B27D}"/>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17D6F75-FE22-430F-B188-5F9617282178}"/>
              </a:ext>
            </a:extLst>
          </p:cNvPr>
          <p:cNvSpPr>
            <a:spLocks xmlns:a="http://schemas.openxmlformats.org/drawingml/2006/main" noGrp="1"/>
          </p:cNvSpPr>
          <p:nvPr/>
        </p:nvSpPr>
        <p:spPr>
          <a:xfrm xmlns:a="http://schemas.openxmlformats.org/drawingml/2006/main">
            <a:off x="2876550" y="3829050"/>
            <a:ext cx="1952625"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6" name="">
            <a:extLst xmlns:a="http://schemas.openxmlformats.org/drawingml/2006/main">
              <a:ext uri="{FF2B5EF4-FFF2-40B4-BE49-F238E27FC236}">
                <a16:creationId xmlns:a16="http://schemas.microsoft.com/office/drawing/2014/main" id="{F01806B1-1A04-44CA-BBA3-4FCDD07E524F}"/>
              </a:ext>
            </a:extLst>
          </p:cNvPr>
          <p:cNvSpPr>
            <a:spLocks xmlns:a="http://schemas.openxmlformats.org/drawingml/2006/main" noGrp="1"/>
          </p:cNvSpPr>
          <p:nvPr/>
        </p:nvSpPr>
        <p:spPr>
          <a:xfrm xmlns:a="http://schemas.openxmlformats.org/drawingml/2006/main">
            <a:off x="7353300" y="3829050"/>
            <a:ext cx="1952625"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7" name="">
            <a:extLst xmlns:a="http://schemas.openxmlformats.org/drawingml/2006/main">
              <a:ext uri="{FF2B5EF4-FFF2-40B4-BE49-F238E27FC236}">
                <a16:creationId xmlns:a16="http://schemas.microsoft.com/office/drawing/2014/main" id="{8DE6FA49-1A93-41BE-A4D8-A264B942B127}"/>
              </a:ext>
            </a:extLst>
          </p:cNvPr>
          <p:cNvSpPr>
            <a:spLocks xmlns:a="http://schemas.openxmlformats.org/drawingml/2006/main" noGrp="1"/>
          </p:cNvSpPr>
          <p:nvPr/>
        </p:nvSpPr>
        <p:spPr>
          <a:xfrm xmlns:a="http://schemas.openxmlformats.org/drawingml/2006/main">
            <a:off x="6096000" y="3009900"/>
            <a:ext cx="0" cy="0"/>
          </a:xfrm>
          <a:prstGeom xmlns:a="http://schemas.openxmlformats.org/drawingml/2006/main" prst="line">
            <a:avLst/>
          </a:prstGeom>
          <a:noFill xmlns:a="http://schemas.openxmlformats.org/drawingml/2006/main"/>
          <a:ln xmlns:a="http://schemas.openxmlformats.org/drawingml/2006/main" w="19050">
            <a:solidFill>
              <a:srgbClr val="36333E"/>
            </a:solidFill>
            <a:prstDash val="solid"/>
          </a:ln>
        </p:spPr>
      </p:sp>
      <p:sp>
        <p:nvSpPr>
          <p:cNvPr id="8" name="">
            <a:extLst xmlns:a="http://schemas.openxmlformats.org/drawingml/2006/main">
              <a:ext uri="{FF2B5EF4-FFF2-40B4-BE49-F238E27FC236}">
                <a16:creationId xmlns:a16="http://schemas.microsoft.com/office/drawing/2014/main" id="{E8230AA9-3EC5-482F-9632-6E727F0826A6}"/>
              </a:ext>
            </a:extLst>
          </p:cNvPr>
          <p:cNvSpPr>
            <a:spLocks xmlns:a="http://schemas.openxmlformats.org/drawingml/2006/main" noGrp="1"/>
          </p:cNvSpPr>
          <p:nvPr/>
        </p:nvSpPr>
        <p:spPr>
          <a:xfrm xmlns:a="http://schemas.openxmlformats.org/drawingml/2006/main">
            <a:off x="4305300" y="3048000"/>
            <a:ext cx="3581400" cy="1543050"/>
          </a:xfrm>
          <a:prstGeom xmlns:a="http://schemas.openxmlformats.org/drawingml/2006/main" prst="roundRect">
            <a:avLst>
              <a:gd name="adj" fmla="val 25926"/>
            </a:avLst>
          </a:prstGeom>
          <a:solidFill xmlns:a="http://schemas.openxmlformats.org/drawingml/2006/main">
            <a:srgbClr val="191820"/>
          </a:solidFill>
          <a:ln xmlns:a="http://schemas.openxmlformats.org/drawingml/2006/main" w="19050">
            <a:solidFill>
              <a:srgbClr val="D7A75E"/>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67655F8-8CC9-4D81-9F6B-FCACAA6AAA7F}"/>
              </a:ext>
            </a:extLst>
          </p:cNvPr>
          <p:cNvSpPr>
            <a:spLocks xmlns:a="http://schemas.openxmlformats.org/drawingml/2006/main" noGrp="1"/>
          </p:cNvSpPr>
          <p:nvPr/>
        </p:nvSpPr>
        <p:spPr>
          <a:xfrm xmlns:a="http://schemas.openxmlformats.org/drawingml/2006/main">
            <a:off x="476250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ZENBAR</a:t>
            </a:r>
          </a:p>
        </p:txBody>
      </p:sp>
      <p:sp>
        <p:nvSpPr>
          <p:cNvPr id="10" name="">
            <a:extLst xmlns:a="http://schemas.openxmlformats.org/drawingml/2006/main">
              <a:ext uri="{FF2B5EF4-FFF2-40B4-BE49-F238E27FC236}">
                <a16:creationId xmlns:a16="http://schemas.microsoft.com/office/drawing/2014/main" id="{FADAFF01-2C48-4948-B80A-5BA502FFC427}"/>
              </a:ext>
            </a:extLst>
          </p:cNvPr>
          <p:cNvSpPr>
            <a:spLocks xmlns:a="http://schemas.openxmlformats.org/drawingml/2006/main" noGrp="1"/>
          </p:cNvSpPr>
          <p:nvPr/>
        </p:nvSpPr>
        <p:spPr>
          <a:xfrm xmlns:a="http://schemas.openxmlformats.org/drawingml/2006/main">
            <a:off x="4667250" y="37528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Listening…</a:t>
            </a:r>
          </a:p>
        </p:txBody>
      </p:sp>
      <p:sp>
        <p:nvSpPr>
          <p:cNvPr id="11" name="">
            <a:extLst xmlns:a="http://schemas.openxmlformats.org/drawingml/2006/main">
              <a:ext uri="{FF2B5EF4-FFF2-40B4-BE49-F238E27FC236}">
                <a16:creationId xmlns:a16="http://schemas.microsoft.com/office/drawing/2014/main" id="{728F1850-3025-4270-849C-EBBF3EEF3420}"/>
              </a:ext>
            </a:extLst>
          </p:cNvPr>
          <p:cNvSpPr>
            <a:spLocks xmlns:a="http://schemas.openxmlformats.org/drawingml/2006/main" noGrp="1"/>
          </p:cNvSpPr>
          <p:nvPr/>
        </p:nvSpPr>
        <p:spPr>
          <a:xfrm xmlns:a="http://schemas.openxmlformats.org/drawingml/2006/main">
            <a:off x="609600" y="3009900"/>
            <a:ext cx="76200" cy="99060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1-feature">
            <a:extLst xmlns:a="http://schemas.openxmlformats.org/drawingml/2006/main">
              <a:ext uri="{FF2B5EF4-FFF2-40B4-BE49-F238E27FC236}">
                <a16:creationId xmlns:a16="http://schemas.microsoft.com/office/drawing/2014/main" id="{433DE229-11B8-482B-B46D-83B5A855E431}"/>
              </a:ext>
            </a:extLst>
          </p:cNvPr>
          <p:cNvSpPr>
            <a:spLocks xmlns:a="http://schemas.openxmlformats.org/drawingml/2006/main" noGrp="1"/>
          </p:cNvSpPr>
          <p:nvPr/>
        </p:nvSpPr>
        <p:spPr>
          <a:xfrm xmlns:a="http://schemas.openxmlformats.org/drawingml/2006/main">
            <a:off x="87630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Live preview</a:t>
            </a:r>
          </a:p>
        </p:txBody>
      </p:sp>
      <p:sp>
        <p:nvSpPr>
          <p:cNvPr id="13" name="">
            <a:extLst xmlns:a="http://schemas.openxmlformats.org/drawingml/2006/main">
              <a:ext uri="{FF2B5EF4-FFF2-40B4-BE49-F238E27FC236}">
                <a16:creationId xmlns:a16="http://schemas.microsoft.com/office/drawing/2014/main" id="{AC704FC9-6E05-4306-86E2-91C55F812E1C}"/>
              </a:ext>
            </a:extLst>
          </p:cNvPr>
          <p:cNvSpPr>
            <a:spLocks xmlns:a="http://schemas.openxmlformats.org/drawingml/2006/main" noGrp="1"/>
          </p:cNvSpPr>
          <p:nvPr/>
        </p:nvSpPr>
        <p:spPr>
          <a:xfrm xmlns:a="http://schemas.openxmlformats.org/drawingml/2006/main">
            <a:off x="87630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Stable on-device feedback while speaking.</a:t>
            </a:r>
          </a:p>
        </p:txBody>
      </p:sp>
      <p:sp>
        <p:nvSpPr>
          <p:cNvPr id="14" name="">
            <a:extLst xmlns:a="http://schemas.openxmlformats.org/drawingml/2006/main">
              <a:ext uri="{FF2B5EF4-FFF2-40B4-BE49-F238E27FC236}">
                <a16:creationId xmlns:a16="http://schemas.microsoft.com/office/drawing/2014/main" id="{66C2688B-3823-4547-8991-89EFC792AB3B}"/>
              </a:ext>
            </a:extLst>
          </p:cNvPr>
          <p:cNvSpPr>
            <a:spLocks xmlns:a="http://schemas.openxmlformats.org/drawingml/2006/main" noGrp="1"/>
          </p:cNvSpPr>
          <p:nvPr/>
        </p:nvSpPr>
        <p:spPr>
          <a:xfrm xmlns:a="http://schemas.openxmlformats.org/drawingml/2006/main">
            <a:off x="609600" y="4705350"/>
            <a:ext cx="76200" cy="99060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5" name="anim-2-feature">
            <a:extLst xmlns:a="http://schemas.openxmlformats.org/drawingml/2006/main">
              <a:ext uri="{FF2B5EF4-FFF2-40B4-BE49-F238E27FC236}">
                <a16:creationId xmlns:a16="http://schemas.microsoft.com/office/drawing/2014/main" id="{71351474-4328-4867-B865-60750F245E84}"/>
              </a:ext>
            </a:extLst>
          </p:cNvPr>
          <p:cNvSpPr>
            <a:spLocks xmlns:a="http://schemas.openxmlformats.org/drawingml/2006/main" noGrp="1"/>
          </p:cNvSpPr>
          <p:nvPr/>
        </p:nvSpPr>
        <p:spPr>
          <a:xfrm xmlns:a="http://schemas.openxmlformats.org/drawingml/2006/main">
            <a:off x="87630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Audio Doctor</a:t>
            </a:r>
          </a:p>
        </p:txBody>
      </p:sp>
      <p:sp>
        <p:nvSpPr>
          <p:cNvPr id="16" name="">
            <a:extLst xmlns:a="http://schemas.openxmlformats.org/drawingml/2006/main">
              <a:ext uri="{FF2B5EF4-FFF2-40B4-BE49-F238E27FC236}">
                <a16:creationId xmlns:a16="http://schemas.microsoft.com/office/drawing/2014/main" id="{87A9DD5C-1071-4144-8B1E-3B0D7BAC1CD9}"/>
              </a:ext>
            </a:extLst>
          </p:cNvPr>
          <p:cNvSpPr>
            <a:spLocks xmlns:a="http://schemas.openxmlformats.org/drawingml/2006/main" noGrp="1"/>
          </p:cNvSpPr>
          <p:nvPr/>
        </p:nvSpPr>
        <p:spPr>
          <a:xfrm xmlns:a="http://schemas.openxmlformats.org/drawingml/2006/main">
            <a:off x="87630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A three-second local microphone check.</a:t>
            </a:r>
          </a:p>
        </p:txBody>
      </p:sp>
      <p:sp>
        <p:nvSpPr>
          <p:cNvPr id="17" name="">
            <a:extLst xmlns:a="http://schemas.openxmlformats.org/drawingml/2006/main">
              <a:ext uri="{FF2B5EF4-FFF2-40B4-BE49-F238E27FC236}">
                <a16:creationId xmlns:a16="http://schemas.microsoft.com/office/drawing/2014/main" id="{81245128-FA3F-4568-A009-B623C29E302F}"/>
              </a:ext>
            </a:extLst>
          </p:cNvPr>
          <p:cNvSpPr>
            <a:spLocks xmlns:a="http://schemas.openxmlformats.org/drawingml/2006/main" noGrp="1"/>
          </p:cNvSpPr>
          <p:nvPr/>
        </p:nvSpPr>
        <p:spPr>
          <a:xfrm xmlns:a="http://schemas.openxmlformats.org/drawingml/2006/main">
            <a:off x="8705850" y="3009900"/>
            <a:ext cx="76200" cy="99060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18" name="anim-3-feature">
            <a:extLst xmlns:a="http://schemas.openxmlformats.org/drawingml/2006/main">
              <a:ext uri="{FF2B5EF4-FFF2-40B4-BE49-F238E27FC236}">
                <a16:creationId xmlns:a16="http://schemas.microsoft.com/office/drawing/2014/main" id="{C6EEEAB4-092B-41C4-A5B3-4498776E8A19}"/>
              </a:ext>
            </a:extLst>
          </p:cNvPr>
          <p:cNvSpPr>
            <a:spLocks xmlns:a="http://schemas.openxmlformats.org/drawingml/2006/main" noGrp="1"/>
          </p:cNvSpPr>
          <p:nvPr/>
        </p:nvSpPr>
        <p:spPr>
          <a:xfrm xmlns:a="http://schemas.openxmlformats.org/drawingml/2006/main">
            <a:off x="8972550" y="300990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Per-app rules</a:t>
            </a:r>
          </a:p>
        </p:txBody>
      </p:sp>
      <p:sp>
        <p:nvSpPr>
          <p:cNvPr id="19" name="">
            <a:extLst xmlns:a="http://schemas.openxmlformats.org/drawingml/2006/main">
              <a:ext uri="{FF2B5EF4-FFF2-40B4-BE49-F238E27FC236}">
                <a16:creationId xmlns:a16="http://schemas.microsoft.com/office/drawing/2014/main" id="{CBF933DE-563A-46FE-BF2B-D2749F91B0F6}"/>
              </a:ext>
            </a:extLst>
          </p:cNvPr>
          <p:cNvSpPr>
            <a:spLocks xmlns:a="http://schemas.openxmlformats.org/drawingml/2006/main" noGrp="1"/>
          </p:cNvSpPr>
          <p:nvPr/>
        </p:nvSpPr>
        <p:spPr>
          <a:xfrm xmlns:a="http://schemas.openxmlformats.org/drawingml/2006/main">
            <a:off x="8972550" y="34099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Language and refinement follow the target app.</a:t>
            </a:r>
          </a:p>
        </p:txBody>
      </p:sp>
      <p:sp>
        <p:nvSpPr>
          <p:cNvPr id="20" name="">
            <a:extLst xmlns:a="http://schemas.openxmlformats.org/drawingml/2006/main">
              <a:ext uri="{FF2B5EF4-FFF2-40B4-BE49-F238E27FC236}">
                <a16:creationId xmlns:a16="http://schemas.microsoft.com/office/drawing/2014/main" id="{5A48CE10-F359-46D0-BA21-738302FC02E9}"/>
              </a:ext>
            </a:extLst>
          </p:cNvPr>
          <p:cNvSpPr>
            <a:spLocks xmlns:a="http://schemas.openxmlformats.org/drawingml/2006/main" noGrp="1"/>
          </p:cNvSpPr>
          <p:nvPr/>
        </p:nvSpPr>
        <p:spPr>
          <a:xfrm xmlns:a="http://schemas.openxmlformats.org/drawingml/2006/main">
            <a:off x="8705850" y="4705350"/>
            <a:ext cx="76200" cy="990600"/>
          </a:xfrm>
          <a:prstGeom xmlns:a="http://schemas.openxmlformats.org/drawingml/2006/main" prst="rect">
            <a:avLst/>
          </a:prstGeom>
          <a:solidFill xmlns:a="http://schemas.openxmlformats.org/drawingml/2006/main">
            <a:srgbClr val="52B788"/>
          </a:solidFill>
          <a:ln xmlns:a="http://schemas.openxmlformats.org/drawingml/2006/main" w="0">
            <a:solidFill>
              <a:srgbClr val="52B788"/>
            </a:solidFill>
            <a:prstDash val="solid"/>
          </a:ln>
        </p:spPr>
      </p:sp>
      <p:sp>
        <p:nvSpPr>
          <p:cNvPr id="21" name="anim-4-feature">
            <a:extLst xmlns:a="http://schemas.openxmlformats.org/drawingml/2006/main">
              <a:ext uri="{FF2B5EF4-FFF2-40B4-BE49-F238E27FC236}">
                <a16:creationId xmlns:a16="http://schemas.microsoft.com/office/drawing/2014/main" id="{9D585947-8CF2-456A-84C8-2AB5FA861F84}"/>
              </a:ext>
            </a:extLst>
          </p:cNvPr>
          <p:cNvSpPr>
            <a:spLocks xmlns:a="http://schemas.openxmlformats.org/drawingml/2006/main" noGrp="1"/>
          </p:cNvSpPr>
          <p:nvPr/>
        </p:nvSpPr>
        <p:spPr>
          <a:xfrm xmlns:a="http://schemas.openxmlformats.org/drawingml/2006/main">
            <a:off x="8972550" y="47053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7F4EF"/>
                </a:solidFill>
                <a:latin typeface="Avenir Next"/>
                <a:ea typeface="Avenir Next"/>
                <a:cs typeface="Avenir Next"/>
              </a:defRPr>
            </a:pPr>
            <a:r>
              <a:rPr sz="1875" b="1" i="0">
                <a:solidFill>
                  <a:srgbClr val="F7F4EF"/>
                </a:solidFill>
                <a:latin typeface="Avenir Next"/>
                <a:ea typeface="Avenir Next"/>
                <a:cs typeface="Avenir Next"/>
              </a:rPr>
              <a:t>Recovery</a:t>
            </a:r>
          </a:p>
        </p:txBody>
      </p:sp>
      <p:sp>
        <p:nvSpPr>
          <p:cNvPr id="22" name="">
            <a:extLst xmlns:a="http://schemas.openxmlformats.org/drawingml/2006/main">
              <a:ext uri="{FF2B5EF4-FFF2-40B4-BE49-F238E27FC236}">
                <a16:creationId xmlns:a16="http://schemas.microsoft.com/office/drawing/2014/main" id="{896A4763-E671-48FD-A542-A309AE8ED72F}"/>
              </a:ext>
            </a:extLst>
          </p:cNvPr>
          <p:cNvSpPr>
            <a:spLocks xmlns:a="http://schemas.openxmlformats.org/drawingml/2006/main" noGrp="1"/>
          </p:cNvSpPr>
          <p:nvPr/>
        </p:nvSpPr>
        <p:spPr>
          <a:xfrm xmlns:a="http://schemas.openxmlformats.org/drawingml/2006/main">
            <a:off x="8972550" y="510540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Retry, copy, delete, and recover interrupted work.</a:t>
            </a:r>
          </a:p>
        </p:txBody>
      </p:sp>
      <p:sp>
        <p:nvSpPr>
          <p:cNvPr id="23" name="">
            <a:extLst xmlns:a="http://schemas.openxmlformats.org/drawingml/2006/main">
              <a:ext uri="{FF2B5EF4-FFF2-40B4-BE49-F238E27FC236}">
                <a16:creationId xmlns:a16="http://schemas.microsoft.com/office/drawing/2014/main" id="{2D76BB08-A2E9-4815-ACA8-AAB119AD1CD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4" name="">
            <a:extLst xmlns:a="http://schemas.openxmlformats.org/drawingml/2006/main">
              <a:ext uri="{FF2B5EF4-FFF2-40B4-BE49-F238E27FC236}">
                <a16:creationId xmlns:a16="http://schemas.microsoft.com/office/drawing/2014/main" id="{EB09FD93-9202-4A9F-B9EB-A98D3EA69DDD}"/>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5" name="">
            <a:extLst xmlns:a="http://schemas.openxmlformats.org/drawingml/2006/main">
              <a:ext uri="{FF2B5EF4-FFF2-40B4-BE49-F238E27FC236}">
                <a16:creationId xmlns:a16="http://schemas.microsoft.com/office/drawing/2014/main" id="{3390D3E8-0A72-4942-95FF-86421081F2A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05</a:t>
            </a:r>
          </a:p>
        </p:txBody>
      </p:sp>
    </p:spTree>
    <p:extLst>
      <p:ext uri="{BB962C8B-B14F-4D97-AF65-F5344CB8AC3E}">
        <p14:creationId xmlns:p14="http://schemas.microsoft.com/office/powerpoint/2010/main" val="544209755"/>
      </p:ext>
    </p:extLst>
  </p:cSld>
  <p:transition spd="med" advClick="1">
    <p:wipe dir="d"/>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1"/>
                                        </p:tgtEl>
                                      </p:cBhvr>
                                    </p:animEffect>
                                  </p:childTnLst>
                                </p:cTn>
                              </p:par>
                            </p:childTnLst>
                          </p:cTn>
                        </p:par>
                      </p:childTnLst>
                    </p:cTn>
                  </p:par>
                </p:childTnLst>
              </p:cTn>
            </p:seq>
          </p:childTnLst>
        </p:cTn>
      </p:par>
    </p:tnLst>
  </p:timing>
</p:sld>
</file>

<file path=ppt/slides/slide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0a0cb0ef44e47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D6F0E9-106D-4F13-A705-CD25D73E04AB}"/>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080A">
              <a:alpha val="86000"/>
            </a:srgbClr>
          </a:solidFill>
          <a:ln xmlns:a="http://schemas.openxmlformats.org/drawingml/2006/main" w="0">
            <a:solidFill>
              <a:srgbClr val="08080A">
                <a:alpha val="86000"/>
              </a:srgbClr>
            </a:solidFill>
            <a:prstDash val="solid"/>
          </a:ln>
        </p:spPr>
      </p:sp>
      <p:sp>
        <p:nvSpPr>
          <p:cNvPr id="3" name="">
            <a:extLst xmlns:a="http://schemas.openxmlformats.org/drawingml/2006/main">
              <a:ext uri="{FF2B5EF4-FFF2-40B4-BE49-F238E27FC236}">
                <a16:creationId xmlns:a16="http://schemas.microsoft.com/office/drawing/2014/main" id="{476F6A0F-1238-41E2-91F4-020CE234CA2A}"/>
              </a:ext>
            </a:extLst>
          </p:cNvPr>
          <p:cNvSpPr>
            <a:spLocks xmlns:a="http://schemas.openxmlformats.org/drawingml/2006/main" noGrp="1"/>
          </p:cNvSpPr>
          <p:nvPr/>
        </p:nvSpPr>
        <p:spPr>
          <a:xfrm xmlns:a="http://schemas.openxmlformats.org/drawingml/2006/main">
            <a:off x="609600" y="4381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06  /  PRIVACY BY DESIGN</a:t>
            </a:r>
          </a:p>
        </p:txBody>
      </p:sp>
      <p:sp>
        <p:nvSpPr>
          <p:cNvPr id="4" name="">
            <a:extLst xmlns:a="http://schemas.openxmlformats.org/drawingml/2006/main">
              <a:ext uri="{FF2B5EF4-FFF2-40B4-BE49-F238E27FC236}">
                <a16:creationId xmlns:a16="http://schemas.microsoft.com/office/drawing/2014/main" id="{101F5345-FE2C-43CA-909F-AA9A8F618F26}"/>
              </a:ext>
            </a:extLst>
          </p:cNvPr>
          <p:cNvSpPr>
            <a:spLocks xmlns:a="http://schemas.openxmlformats.org/drawingml/2006/main" noGrp="1"/>
          </p:cNvSpPr>
          <p:nvPr/>
        </p:nvSpPr>
        <p:spPr>
          <a:xfrm xmlns:a="http://schemas.openxmlformats.org/drawingml/2006/main">
            <a:off x="609600" y="857250"/>
            <a:ext cx="590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Local by default.</a:t>
            </a:r>
          </a:p>
          <a:p xmlns:a="http://schemas.openxmlformats.org/drawingml/2006/main">
            <a:pPr algn="l">
              <a:defRPr sz="4050" b="1" i="0">
                <a:solidFill>
                  <a:srgbClr val="F7F4EF"/>
                </a:solidFill>
                <a:latin typeface="Avenir Next"/>
                <a:ea typeface="Avenir Next"/>
                <a:cs typeface="Avenir Next"/>
              </a:defRPr>
            </a:pPr>
            <a:r>
              <a:rPr sz="4050" b="1" i="0">
                <a:solidFill>
                  <a:srgbClr val="F7F4EF"/>
                </a:solidFill>
                <a:latin typeface="Avenir Next"/>
                <a:ea typeface="Avenir Next"/>
                <a:cs typeface="Avenir Next"/>
              </a:rPr>
              <a:t>Cloud only by choice.</a:t>
            </a:r>
          </a:p>
        </p:txBody>
      </p:sp>
      <p:sp>
        <p:nvSpPr>
          <p:cNvPr id="5" name="">
            <a:extLst xmlns:a="http://schemas.openxmlformats.org/drawingml/2006/main">
              <a:ext uri="{FF2B5EF4-FFF2-40B4-BE49-F238E27FC236}">
                <a16:creationId xmlns:a16="http://schemas.microsoft.com/office/drawing/2014/main" id="{91BCBC26-9981-4F3B-94DD-3CD79FD3D109}"/>
              </a:ext>
            </a:extLst>
          </p:cNvPr>
          <p:cNvSpPr>
            <a:spLocks xmlns:a="http://schemas.openxmlformats.org/drawingml/2006/main" noGrp="1"/>
          </p:cNvSpPr>
          <p:nvPr/>
        </p:nvSpPr>
        <p:spPr>
          <a:xfrm xmlns:a="http://schemas.openxmlformats.org/drawingml/2006/main">
            <a:off x="609600" y="23050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privacy boundary is visible in the product, not buried in a policy page.</a:t>
            </a:r>
          </a:p>
        </p:txBody>
      </p:sp>
      <p:sp>
        <p:nvSpPr>
          <p:cNvPr id="6" name="anim-1-privacy">
            <a:extLst xmlns:a="http://schemas.openxmlformats.org/drawingml/2006/main">
              <a:ext uri="{FF2B5EF4-FFF2-40B4-BE49-F238E27FC236}">
                <a16:creationId xmlns:a16="http://schemas.microsoft.com/office/drawing/2014/main" id="{8F9332BA-EDA3-44B3-84EC-E93B654A7297}"/>
              </a:ext>
            </a:extLst>
          </p:cNvPr>
          <p:cNvSpPr>
            <a:spLocks xmlns:a="http://schemas.openxmlformats.org/drawingml/2006/main" noGrp="1"/>
          </p:cNvSpPr>
          <p:nvPr/>
        </p:nvSpPr>
        <p:spPr>
          <a:xfrm xmlns:a="http://schemas.openxmlformats.org/drawingml/2006/main">
            <a:off x="609600" y="3200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No account</a:t>
            </a:r>
          </a:p>
        </p:txBody>
      </p:sp>
      <p:sp>
        <p:nvSpPr>
          <p:cNvPr id="7" name="">
            <a:extLst xmlns:a="http://schemas.openxmlformats.org/drawingml/2006/main">
              <a:ext uri="{FF2B5EF4-FFF2-40B4-BE49-F238E27FC236}">
                <a16:creationId xmlns:a16="http://schemas.microsoft.com/office/drawing/2014/main" id="{C8D71AAF-3529-454A-996C-E8261D28C7DA}"/>
              </a:ext>
            </a:extLst>
          </p:cNvPr>
          <p:cNvSpPr>
            <a:spLocks xmlns:a="http://schemas.openxmlformats.org/drawingml/2006/main" noGrp="1"/>
          </p:cNvSpPr>
          <p:nvPr/>
        </p:nvSpPr>
        <p:spPr>
          <a:xfrm xmlns:a="http://schemas.openxmlformats.org/drawingml/2006/main">
            <a:off x="2705100" y="32004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Core dictation needs no account, subscription, or analytics.</a:t>
            </a:r>
          </a:p>
        </p:txBody>
      </p:sp>
      <p:sp>
        <p:nvSpPr>
          <p:cNvPr id="8" name="anim-2-privacy">
            <a:extLst xmlns:a="http://schemas.openxmlformats.org/drawingml/2006/main">
              <a:ext uri="{FF2B5EF4-FFF2-40B4-BE49-F238E27FC236}">
                <a16:creationId xmlns:a16="http://schemas.microsoft.com/office/drawing/2014/main" id="{C533C31C-2FF6-4424-99DC-C069E999ACE5}"/>
              </a:ext>
            </a:extLst>
          </p:cNvPr>
          <p:cNvSpPr>
            <a:spLocks xmlns:a="http://schemas.openxmlformats.org/drawingml/2006/main" noGrp="1"/>
          </p:cNvSpPr>
          <p:nvPr/>
        </p:nvSpPr>
        <p:spPr>
          <a:xfrm xmlns:a="http://schemas.openxmlformats.org/drawingml/2006/main">
            <a:off x="609600" y="3886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Encrypted history</a:t>
            </a:r>
          </a:p>
        </p:txBody>
      </p:sp>
      <p:sp>
        <p:nvSpPr>
          <p:cNvPr id="9" name="">
            <a:extLst xmlns:a="http://schemas.openxmlformats.org/drawingml/2006/main">
              <a:ext uri="{FF2B5EF4-FFF2-40B4-BE49-F238E27FC236}">
                <a16:creationId xmlns:a16="http://schemas.microsoft.com/office/drawing/2014/main" id="{F7FDC270-B825-43D7-9D38-CB195B656919}"/>
              </a:ext>
            </a:extLst>
          </p:cNvPr>
          <p:cNvSpPr>
            <a:spLocks xmlns:a="http://schemas.openxmlformats.org/drawingml/2006/main" noGrp="1"/>
          </p:cNvSpPr>
          <p:nvPr/>
        </p:nvSpPr>
        <p:spPr>
          <a:xfrm xmlns:a="http://schemas.openxmlformats.org/drawingml/2006/main">
            <a:off x="2705100" y="38862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AES-GCM transcripts; the 256-bit key stays in macOS Keychain.</a:t>
            </a:r>
          </a:p>
        </p:txBody>
      </p:sp>
      <p:sp>
        <p:nvSpPr>
          <p:cNvPr id="10" name="anim-3-privacy">
            <a:extLst xmlns:a="http://schemas.openxmlformats.org/drawingml/2006/main">
              <a:ext uri="{FF2B5EF4-FFF2-40B4-BE49-F238E27FC236}">
                <a16:creationId xmlns:a16="http://schemas.microsoft.com/office/drawing/2014/main" id="{C59FCFD4-52E0-4201-950E-9C14FB9BB60C}"/>
              </a:ext>
            </a:extLst>
          </p:cNvPr>
          <p:cNvSpPr>
            <a:spLocks xmlns:a="http://schemas.openxmlformats.org/drawingml/2006/main" noGrp="1"/>
          </p:cNvSpPr>
          <p:nvPr/>
        </p:nvSpPr>
        <p:spPr>
          <a:xfrm xmlns:a="http://schemas.openxmlformats.org/drawingml/2006/main">
            <a:off x="609600" y="4572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0C47C"/>
                </a:solidFill>
                <a:latin typeface="Avenir Next"/>
                <a:ea typeface="Avenir Next"/>
                <a:cs typeface="Avenir Next"/>
              </a:defRPr>
            </a:pPr>
            <a:r>
              <a:rPr sz="1575" b="1" i="0">
                <a:solidFill>
                  <a:srgbClr val="F0C47C"/>
                </a:solidFill>
                <a:latin typeface="Avenir Next"/>
                <a:ea typeface="Avenir Next"/>
                <a:cs typeface="Avenir Next"/>
              </a:rPr>
              <a:t>Private Dictation</a:t>
            </a:r>
          </a:p>
        </p:txBody>
      </p:sp>
      <p:sp>
        <p:nvSpPr>
          <p:cNvPr id="11" name="">
            <a:extLst xmlns:a="http://schemas.openxmlformats.org/drawingml/2006/main">
              <a:ext uri="{FF2B5EF4-FFF2-40B4-BE49-F238E27FC236}">
                <a16:creationId xmlns:a16="http://schemas.microsoft.com/office/drawing/2014/main" id="{C63F83D5-C9A1-4492-81E6-06BF016AA510}"/>
              </a:ext>
            </a:extLst>
          </p:cNvPr>
          <p:cNvSpPr>
            <a:spLocks xmlns:a="http://schemas.openxmlformats.org/drawingml/2006/main" noGrp="1"/>
          </p:cNvSpPr>
          <p:nvPr/>
        </p:nvSpPr>
        <p:spPr>
          <a:xfrm xmlns:a="http://schemas.openxmlformats.org/drawingml/2006/main">
            <a:off x="2705100" y="45720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No transcript or recovery audio is retained.</a:t>
            </a:r>
          </a:p>
        </p:txBody>
      </p:sp>
      <p:sp>
        <p:nvSpPr>
          <p:cNvPr id="12" name="anim-4-privacy">
            <a:extLst xmlns:a="http://schemas.openxmlformats.org/drawingml/2006/main">
              <a:ext uri="{FF2B5EF4-FFF2-40B4-BE49-F238E27FC236}">
                <a16:creationId xmlns:a16="http://schemas.microsoft.com/office/drawing/2014/main" id="{A3A1F295-5016-468A-A6C3-0052C6C73D22}"/>
              </a:ext>
            </a:extLst>
          </p:cNvPr>
          <p:cNvSpPr>
            <a:spLocks xmlns:a="http://schemas.openxmlformats.org/drawingml/2006/main" noGrp="1"/>
          </p:cNvSpPr>
          <p:nvPr/>
        </p:nvSpPr>
        <p:spPr>
          <a:xfrm xmlns:a="http://schemas.openxmlformats.org/drawingml/2006/main">
            <a:off x="609600" y="5257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7667F2"/>
                </a:solidFill>
                <a:latin typeface="Avenir Next"/>
                <a:ea typeface="Avenir Next"/>
                <a:cs typeface="Avenir Next"/>
              </a:defRPr>
            </a:pPr>
            <a:r>
              <a:rPr sz="1575" b="1" i="0">
                <a:solidFill>
                  <a:srgbClr val="7667F2"/>
                </a:solidFill>
                <a:latin typeface="Avenir Next"/>
                <a:ea typeface="Avenir Next"/>
                <a:cs typeface="Avenir Next"/>
              </a:rPr>
              <a:t>Optional cloud</a:t>
            </a:r>
          </a:p>
        </p:txBody>
      </p:sp>
      <p:sp>
        <p:nvSpPr>
          <p:cNvPr id="13" name="">
            <a:extLst xmlns:a="http://schemas.openxmlformats.org/drawingml/2006/main">
              <a:ext uri="{FF2B5EF4-FFF2-40B4-BE49-F238E27FC236}">
                <a16:creationId xmlns:a16="http://schemas.microsoft.com/office/drawing/2014/main" id="{E01B2DCA-D534-4F1F-A09A-B396BD25BE68}"/>
              </a:ext>
            </a:extLst>
          </p:cNvPr>
          <p:cNvSpPr>
            <a:spLocks xmlns:a="http://schemas.openxmlformats.org/drawingml/2006/main" noGrp="1"/>
          </p:cNvSpPr>
          <p:nvPr/>
        </p:nvSpPr>
        <p:spPr>
          <a:xfrm xmlns:a="http://schemas.openxmlformats.org/drawingml/2006/main">
            <a:off x="2705100" y="52578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Only finished text + prompt is sent; never audio.</a:t>
            </a:r>
          </a:p>
        </p:txBody>
      </p:sp>
      <p:sp>
        <p:nvSpPr>
          <p:cNvPr id="14" name="">
            <a:extLst xmlns:a="http://schemas.openxmlformats.org/drawingml/2006/main">
              <a:ext uri="{FF2B5EF4-FFF2-40B4-BE49-F238E27FC236}">
                <a16:creationId xmlns:a16="http://schemas.microsoft.com/office/drawing/2014/main" id="{BB8EA94B-D05C-4FB1-B887-F34979E2511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35AD77FD-4492-4A19-9E03-88CA6E92BAA9}"/>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89E4F13A-5380-490A-A703-4BE846374F5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06</a:t>
            </a:r>
          </a:p>
        </p:txBody>
      </p:sp>
    </p:spTree>
    <p:extLst>
      <p:ext uri="{BB962C8B-B14F-4D97-AF65-F5344CB8AC3E}">
        <p14:creationId xmlns:p14="http://schemas.microsoft.com/office/powerpoint/2010/main" val="775030026"/>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12"/>
                                        </p:tgtEl>
                                      </p:cBhvr>
                                    </p:animEffect>
                                  </p:childTnLst>
                                </p:cTn>
                              </p:par>
                            </p:childTnLst>
                          </p:cTn>
                        </p:par>
                      </p:childTnLst>
                    </p:cTn>
                  </p:par>
                </p:childTnLst>
              </p:cTn>
            </p:seq>
          </p:childTnLst>
        </p:cTn>
      </p:par>
    </p:tnLst>
  </p:timing>
</p:sld>
</file>

<file path=ppt/slides/slide7.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5658E2-68DE-4DB9-88E8-D6FCF0B1F775}"/>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07  /  PERSONALIZATION</a:t>
            </a:r>
          </a:p>
        </p:txBody>
      </p:sp>
      <p:sp>
        <p:nvSpPr>
          <p:cNvPr id="2" name="">
            <a:extLst xmlns:a="http://schemas.openxmlformats.org/drawingml/2006/main">
              <a:ext uri="{FF2B5EF4-FFF2-40B4-BE49-F238E27FC236}">
                <a16:creationId xmlns:a16="http://schemas.microsoft.com/office/drawing/2014/main" id="{3A8FC99B-A8CB-4E54-8B29-3C90593A157F}"/>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It learns your language—not your identity.</a:t>
            </a:r>
          </a:p>
        </p:txBody>
      </p:sp>
      <p:sp>
        <p:nvSpPr>
          <p:cNvPr id="3" name="">
            <a:extLst xmlns:a="http://schemas.openxmlformats.org/drawingml/2006/main">
              <a:ext uri="{FF2B5EF4-FFF2-40B4-BE49-F238E27FC236}">
                <a16:creationId xmlns:a16="http://schemas.microsoft.com/office/drawing/2014/main" id="{D0050A3C-CEDE-47BC-8A9F-E9A390A4FB8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Personalization is built from encrypted corrections and local usage patterns, not a biometric voiceprint.</a:t>
            </a:r>
          </a:p>
        </p:txBody>
      </p:sp>
      <p:sp>
        <p:nvSpPr>
          <p:cNvPr id="4" name="">
            <a:extLst xmlns:a="http://schemas.openxmlformats.org/drawingml/2006/main">
              <a:ext uri="{FF2B5EF4-FFF2-40B4-BE49-F238E27FC236}">
                <a16:creationId xmlns:a16="http://schemas.microsoft.com/office/drawing/2014/main" id="{7FEA07F0-FA45-4321-BB51-D20808DE5BD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497E3A5-25C7-4BAF-AB29-E7B60C5CDAF6}"/>
              </a:ext>
            </a:extLst>
          </p:cNvPr>
          <p:cNvSpPr>
            <a:spLocks xmlns:a="http://schemas.openxmlformats.org/drawingml/2006/main" noGrp="1"/>
          </p:cNvSpPr>
          <p:nvPr/>
        </p:nvSpPr>
        <p:spPr>
          <a:xfrm xmlns:a="http://schemas.openxmlformats.org/drawingml/2006/main">
            <a:off x="704850" y="30099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96909A"/>
                </a:solidFill>
                <a:latin typeface="Avenir Next"/>
                <a:ea typeface="Avenir Next"/>
                <a:cs typeface="Avenir Next"/>
              </a:defRPr>
            </a:pPr>
            <a:r>
              <a:rPr sz="975" b="1" i="0">
                <a:solidFill>
                  <a:srgbClr val="96909A"/>
                </a:solidFill>
                <a:latin typeface="Avenir Next"/>
                <a:ea typeface="Avenir Next"/>
                <a:cs typeface="Avenir Next"/>
              </a:rPr>
              <a:t>BEFORE</a:t>
            </a:r>
          </a:p>
        </p:txBody>
      </p:sp>
      <p:sp>
        <p:nvSpPr>
          <p:cNvPr id="6" name="anim-1-before">
            <a:extLst xmlns:a="http://schemas.openxmlformats.org/drawingml/2006/main">
              <a:ext uri="{FF2B5EF4-FFF2-40B4-BE49-F238E27FC236}">
                <a16:creationId xmlns:a16="http://schemas.microsoft.com/office/drawing/2014/main" id="{01198A5D-3B5E-443F-B025-EED5E9F9292E}"/>
              </a:ext>
            </a:extLst>
          </p:cNvPr>
          <p:cNvSpPr>
            <a:spLocks xmlns:a="http://schemas.openxmlformats.org/drawingml/2006/main" noGrp="1"/>
          </p:cNvSpPr>
          <p:nvPr/>
        </p:nvSpPr>
        <p:spPr>
          <a:xfrm xmlns:a="http://schemas.openxmlformats.org/drawingml/2006/main">
            <a:off x="704850" y="3371850"/>
            <a:ext cx="542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96909A"/>
                </a:solidFill>
                <a:latin typeface="Avenir Next"/>
                <a:ea typeface="Avenir Next"/>
                <a:cs typeface="Avenir Next"/>
              </a:defRPr>
            </a:pPr>
            <a:r>
              <a:rPr sz="2325" b="0" i="1">
                <a:solidFill>
                  <a:srgbClr val="96909A"/>
                </a:solidFill>
                <a:latin typeface="Avenir Next"/>
                <a:ea typeface="Avenir Next"/>
                <a:cs typeface="Avenir Next"/>
              </a:rPr>
              <a:t>send the report to yash after lunch</a:t>
            </a:r>
          </a:p>
        </p:txBody>
      </p:sp>
      <p:sp>
        <p:nvSpPr>
          <p:cNvPr id="7" name="">
            <a:extLst xmlns:a="http://schemas.openxmlformats.org/drawingml/2006/main">
              <a:ext uri="{FF2B5EF4-FFF2-40B4-BE49-F238E27FC236}">
                <a16:creationId xmlns:a16="http://schemas.microsoft.com/office/drawing/2014/main" id="{6978390E-F61D-4F3E-AE18-B8C489FE0CC2}"/>
              </a:ext>
            </a:extLst>
          </p:cNvPr>
          <p:cNvSpPr>
            <a:spLocks xmlns:a="http://schemas.openxmlformats.org/drawingml/2006/main" noGrp="1"/>
          </p:cNvSpPr>
          <p:nvPr/>
        </p:nvSpPr>
        <p:spPr>
          <a:xfrm xmlns:a="http://schemas.openxmlformats.org/drawingml/2006/main">
            <a:off x="704850" y="4171950"/>
            <a:ext cx="542925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8" name="">
            <a:extLst xmlns:a="http://schemas.openxmlformats.org/drawingml/2006/main">
              <a:ext uri="{FF2B5EF4-FFF2-40B4-BE49-F238E27FC236}">
                <a16:creationId xmlns:a16="http://schemas.microsoft.com/office/drawing/2014/main" id="{1FAF99E8-C374-4E79-8B96-923F77A2260C}"/>
              </a:ext>
            </a:extLst>
          </p:cNvPr>
          <p:cNvSpPr>
            <a:spLocks xmlns:a="http://schemas.openxmlformats.org/drawingml/2006/main" noGrp="1"/>
          </p:cNvSpPr>
          <p:nvPr/>
        </p:nvSpPr>
        <p:spPr>
          <a:xfrm xmlns:a="http://schemas.openxmlformats.org/drawingml/2006/main">
            <a:off x="704850" y="44958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0C47C"/>
                </a:solidFill>
                <a:latin typeface="Avenir Next"/>
                <a:ea typeface="Avenir Next"/>
                <a:cs typeface="Avenir Next"/>
              </a:defRPr>
            </a:pPr>
            <a:r>
              <a:rPr sz="975" b="1" i="0">
                <a:solidFill>
                  <a:srgbClr val="F0C47C"/>
                </a:solidFill>
                <a:latin typeface="Avenir Next"/>
                <a:ea typeface="Avenir Next"/>
                <a:cs typeface="Avenir Next"/>
              </a:rPr>
              <a:t>AFTER</a:t>
            </a:r>
          </a:p>
        </p:txBody>
      </p:sp>
      <p:sp>
        <p:nvSpPr>
          <p:cNvPr id="9" name="anim-2-after">
            <a:extLst xmlns:a="http://schemas.openxmlformats.org/drawingml/2006/main">
              <a:ext uri="{FF2B5EF4-FFF2-40B4-BE49-F238E27FC236}">
                <a16:creationId xmlns:a16="http://schemas.microsoft.com/office/drawing/2014/main" id="{53D3EBCA-029D-47E5-9814-1945F4AF04D8}"/>
              </a:ext>
            </a:extLst>
          </p:cNvPr>
          <p:cNvSpPr>
            <a:spLocks xmlns:a="http://schemas.openxmlformats.org/drawingml/2006/main" noGrp="1"/>
          </p:cNvSpPr>
          <p:nvPr/>
        </p:nvSpPr>
        <p:spPr>
          <a:xfrm xmlns:a="http://schemas.openxmlformats.org/drawingml/2006/main">
            <a:off x="704850" y="4857750"/>
            <a:ext cx="542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7F4EF"/>
                </a:solidFill>
                <a:latin typeface="Avenir Next"/>
                <a:ea typeface="Avenir Next"/>
                <a:cs typeface="Avenir Next"/>
              </a:defRPr>
            </a:pPr>
            <a:r>
              <a:rPr sz="2325" b="1" i="0">
                <a:solidFill>
                  <a:srgbClr val="F7F4EF"/>
                </a:solidFill>
                <a:latin typeface="Avenir Next"/>
                <a:ea typeface="Avenir Next"/>
                <a:cs typeface="Avenir Next"/>
              </a:rPr>
              <a:t>Send the report to Yash after lunch.</a:t>
            </a:r>
          </a:p>
        </p:txBody>
      </p:sp>
      <p:sp>
        <p:nvSpPr>
          <p:cNvPr id="10" name="">
            <a:extLst xmlns:a="http://schemas.openxmlformats.org/drawingml/2006/main">
              <a:ext uri="{FF2B5EF4-FFF2-40B4-BE49-F238E27FC236}">
                <a16:creationId xmlns:a16="http://schemas.microsoft.com/office/drawing/2014/main" id="{6F0E7874-3A64-4B7B-8D22-D778DFE3AF47}"/>
              </a:ext>
            </a:extLst>
          </p:cNvPr>
          <p:cNvSpPr>
            <a:spLocks xmlns:a="http://schemas.openxmlformats.org/drawingml/2006/main" noGrp="1"/>
          </p:cNvSpPr>
          <p:nvPr/>
        </p:nvSpPr>
        <p:spPr>
          <a:xfrm xmlns:a="http://schemas.openxmlformats.org/drawingml/2006/main">
            <a:off x="6838950" y="3028950"/>
            <a:ext cx="4686300" cy="2266950"/>
          </a:xfrm>
          <a:prstGeom xmlns:a="http://schemas.openxmlformats.org/drawingml/2006/main" prst="roundRect">
            <a:avLst>
              <a:gd name="adj" fmla="val 10084"/>
            </a:avLst>
          </a:prstGeom>
          <a:solidFill xmlns:a="http://schemas.openxmlformats.org/drawingml/2006/main">
            <a:srgbClr val="15151B"/>
          </a:solidFill>
          <a:ln xmlns:a="http://schemas.openxmlformats.org/drawingml/2006/main" w="9525">
            <a:solidFill>
              <a:srgbClr val="36333E"/>
            </a:solidFill>
            <a:prstDash val="solid"/>
          </a:ln>
        </p:spPr>
      </p:sp>
      <p:sp>
        <p:nvSpPr>
          <p:cNvPr id="11" name="anim-3-intelligence">
            <a:extLst xmlns:a="http://schemas.openxmlformats.org/drawingml/2006/main">
              <a:ext uri="{FF2B5EF4-FFF2-40B4-BE49-F238E27FC236}">
                <a16:creationId xmlns:a16="http://schemas.microsoft.com/office/drawing/2014/main" id="{BC103B18-67E2-4DC3-8F67-C17252A75D5C}"/>
              </a:ext>
            </a:extLst>
          </p:cNvPr>
          <p:cNvSpPr>
            <a:spLocks xmlns:a="http://schemas.openxmlformats.org/drawingml/2006/main" noGrp="1"/>
          </p:cNvSpPr>
          <p:nvPr/>
        </p:nvSpPr>
        <p:spPr>
          <a:xfrm xmlns:a="http://schemas.openxmlformats.org/drawingml/2006/main">
            <a:off x="7200900" y="33337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7667F2"/>
                </a:solidFill>
                <a:latin typeface="Avenir Next"/>
                <a:ea typeface="Avenir Next"/>
                <a:cs typeface="Avenir Next"/>
              </a:defRPr>
            </a:pPr>
            <a:r>
              <a:rPr sz="1875" b="1" i="0">
                <a:solidFill>
                  <a:srgbClr val="7667F2"/>
                </a:solidFill>
                <a:latin typeface="Avenir Next"/>
                <a:ea typeface="Avenir Next"/>
                <a:cs typeface="Avenir Next"/>
              </a:rPr>
              <a:t>Local intelligence</a:t>
            </a:r>
          </a:p>
        </p:txBody>
      </p:sp>
      <p:sp>
        <p:nvSpPr>
          <p:cNvPr id="12" name="">
            <a:extLst xmlns:a="http://schemas.openxmlformats.org/drawingml/2006/main">
              <a:ext uri="{FF2B5EF4-FFF2-40B4-BE49-F238E27FC236}">
                <a16:creationId xmlns:a16="http://schemas.microsoft.com/office/drawing/2014/main" id="{5762A269-9C26-4476-A03E-D078D6219667}"/>
              </a:ext>
            </a:extLst>
          </p:cNvPr>
          <p:cNvSpPr>
            <a:spLocks xmlns:a="http://schemas.openxmlformats.org/drawingml/2006/main" noGrp="1"/>
          </p:cNvSpPr>
          <p:nvPr/>
        </p:nvSpPr>
        <p:spPr>
          <a:xfrm xmlns:a="http://schemas.openxmlformats.org/drawingml/2006/main">
            <a:off x="7200900" y="38481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Deterministic Clean formatting</a:t>
            </a:r>
          </a:p>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Guarded on-device Smart refinement</a:t>
            </a:r>
          </a:p>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Encrypted correction rules</a:t>
            </a:r>
          </a:p>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 Memory-only next-dictation context</a:t>
            </a:r>
          </a:p>
        </p:txBody>
      </p:sp>
      <p:sp>
        <p:nvSpPr>
          <p:cNvPr id="13" name="">
            <a:extLst xmlns:a="http://schemas.openxmlformats.org/drawingml/2006/main">
              <a:ext uri="{FF2B5EF4-FFF2-40B4-BE49-F238E27FC236}">
                <a16:creationId xmlns:a16="http://schemas.microsoft.com/office/drawing/2014/main" id="{B3D5B361-DF72-4913-AB75-8DE36F93BE07}"/>
              </a:ext>
            </a:extLst>
          </p:cNvPr>
          <p:cNvSpPr>
            <a:spLocks xmlns:a="http://schemas.openxmlformats.org/drawingml/2006/main" noGrp="1"/>
          </p:cNvSpPr>
          <p:nvPr/>
        </p:nvSpPr>
        <p:spPr>
          <a:xfrm xmlns:a="http://schemas.openxmlformats.org/drawingml/2006/main">
            <a:off x="704850" y="57912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F0C47C"/>
                </a:solidFill>
                <a:latin typeface="Avenir Next"/>
                <a:ea typeface="Avenir Next"/>
                <a:cs typeface="Avenir Next"/>
              </a:defRPr>
            </a:pPr>
            <a:r>
              <a:rPr sz="1650" b="1" i="0">
                <a:solidFill>
                  <a:srgbClr val="F0C47C"/>
                </a:solidFill>
                <a:latin typeface="Avenir Next"/>
                <a:ea typeface="Avenir Next"/>
                <a:cs typeface="Avenir Next"/>
              </a:rPr>
              <a:t>The Voice Profile summarizes language use. It is explicitly not a biometric profile.</a:t>
            </a:r>
          </a:p>
        </p:txBody>
      </p:sp>
      <p:sp>
        <p:nvSpPr>
          <p:cNvPr id="14" name="">
            <a:extLst xmlns:a="http://schemas.openxmlformats.org/drawingml/2006/main">
              <a:ext uri="{FF2B5EF4-FFF2-40B4-BE49-F238E27FC236}">
                <a16:creationId xmlns:a16="http://schemas.microsoft.com/office/drawing/2014/main" id="{D2C91B5B-B3BB-4230-9A59-364CCF969D70}"/>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5" name="">
            <a:extLst xmlns:a="http://schemas.openxmlformats.org/drawingml/2006/main">
              <a:ext uri="{FF2B5EF4-FFF2-40B4-BE49-F238E27FC236}">
                <a16:creationId xmlns:a16="http://schemas.microsoft.com/office/drawing/2014/main" id="{5CA036C0-DABB-4C73-AAE3-5459BD82095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6" name="">
            <a:extLst xmlns:a="http://schemas.openxmlformats.org/drawingml/2006/main">
              <a:ext uri="{FF2B5EF4-FFF2-40B4-BE49-F238E27FC236}">
                <a16:creationId xmlns:a16="http://schemas.microsoft.com/office/drawing/2014/main" id="{C8C2F59E-23E4-4F38-9AE8-04A47FD32C82}"/>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07</a:t>
            </a:r>
          </a:p>
        </p:txBody>
      </p:sp>
    </p:spTree>
    <p:extLst>
      <p:ext uri="{BB962C8B-B14F-4D97-AF65-F5344CB8AC3E}">
        <p14:creationId xmlns:p14="http://schemas.microsoft.com/office/powerpoint/2010/main" val="1230875277"/>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8.xml><?xml version="1.0" encoding="utf-8"?>
<p:sld xmlns:p="http://schemas.openxmlformats.org/presentationml/2006/main">
  <p:cSld>
    <p:bg>
      <p:bgPr>
        <a:gradFill xmlns:a="http://schemas.openxmlformats.org/drawingml/2006/main">
          <a:gsLst>
            <a:gs pos="0">
              <a:srgbClr val="08080A"/>
            </a:gs>
            <a:gs pos="52000">
              <a:srgbClr val="15121B"/>
            </a:gs>
            <a:gs pos="100000">
              <a:srgbClr val="08080A"/>
            </a:gs>
          </a:gsLst>
          <a:lin ang="8100000"/>
        </a:gra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0EA5BC2-812C-4DAB-986E-755E7A8A916F}"/>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08  /  ARCHITECTURE</a:t>
            </a:r>
          </a:p>
        </p:txBody>
      </p:sp>
      <p:sp>
        <p:nvSpPr>
          <p:cNvPr id="2" name="">
            <a:extLst xmlns:a="http://schemas.openxmlformats.org/drawingml/2006/main">
              <a:ext uri="{FF2B5EF4-FFF2-40B4-BE49-F238E27FC236}">
                <a16:creationId xmlns:a16="http://schemas.microsoft.com/office/drawing/2014/main" id="{BC1833BD-5C7B-401A-A199-0C2E403FA15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One local path. Five controlled stages.</a:t>
            </a:r>
          </a:p>
        </p:txBody>
      </p:sp>
      <p:sp>
        <p:nvSpPr>
          <p:cNvPr id="3" name="">
            <a:extLst xmlns:a="http://schemas.openxmlformats.org/drawingml/2006/main">
              <a:ext uri="{FF2B5EF4-FFF2-40B4-BE49-F238E27FC236}">
                <a16:creationId xmlns:a16="http://schemas.microsoft.com/office/drawing/2014/main" id="{41E70BBD-96F4-4264-A624-10094629051E}"/>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The engine can change without changing the privacy contract or the user’s workflow.</a:t>
            </a:r>
          </a:p>
        </p:txBody>
      </p:sp>
      <p:sp>
        <p:nvSpPr>
          <p:cNvPr id="4" name="">
            <a:extLst xmlns:a="http://schemas.openxmlformats.org/drawingml/2006/main">
              <a:ext uri="{FF2B5EF4-FFF2-40B4-BE49-F238E27FC236}">
                <a16:creationId xmlns:a16="http://schemas.microsoft.com/office/drawing/2014/main" id="{DA4DB4DD-7429-4787-A70E-1370AAE79D67}"/>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CFB90C4B-0BBD-43C5-B51F-6F16E049DA5A}"/>
              </a:ext>
            </a:extLst>
          </p:cNvPr>
          <p:cNvSpPr>
            <a:spLocks xmlns:a="http://schemas.openxmlformats.org/drawingml/2006/main" noGrp="1"/>
          </p:cNvSpPr>
          <p:nvPr/>
        </p:nvSpPr>
        <p:spPr>
          <a:xfrm xmlns:a="http://schemas.openxmlformats.org/drawingml/2006/main">
            <a:off x="226695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6" name="">
            <a:extLst xmlns:a="http://schemas.openxmlformats.org/drawingml/2006/main">
              <a:ext uri="{FF2B5EF4-FFF2-40B4-BE49-F238E27FC236}">
                <a16:creationId xmlns:a16="http://schemas.microsoft.com/office/drawing/2014/main" id="{878F1799-8F24-4130-A515-862CA54FA784}"/>
              </a:ext>
            </a:extLst>
          </p:cNvPr>
          <p:cNvSpPr>
            <a:spLocks xmlns:a="http://schemas.openxmlformats.org/drawingml/2006/main" noGrp="1"/>
          </p:cNvSpPr>
          <p:nvPr/>
        </p:nvSpPr>
        <p:spPr>
          <a:xfrm xmlns:a="http://schemas.openxmlformats.org/drawingml/2006/main">
            <a:off x="453390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7" name="">
            <a:extLst xmlns:a="http://schemas.openxmlformats.org/drawingml/2006/main">
              <a:ext uri="{FF2B5EF4-FFF2-40B4-BE49-F238E27FC236}">
                <a16:creationId xmlns:a16="http://schemas.microsoft.com/office/drawing/2014/main" id="{BB2202B0-3D08-41D7-8032-B229EF9F0B5E}"/>
              </a:ext>
            </a:extLst>
          </p:cNvPr>
          <p:cNvSpPr>
            <a:spLocks xmlns:a="http://schemas.openxmlformats.org/drawingml/2006/main" noGrp="1"/>
          </p:cNvSpPr>
          <p:nvPr/>
        </p:nvSpPr>
        <p:spPr>
          <a:xfrm xmlns:a="http://schemas.openxmlformats.org/drawingml/2006/main">
            <a:off x="680085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8" name="">
            <a:extLst xmlns:a="http://schemas.openxmlformats.org/drawingml/2006/main">
              <a:ext uri="{FF2B5EF4-FFF2-40B4-BE49-F238E27FC236}">
                <a16:creationId xmlns:a16="http://schemas.microsoft.com/office/drawing/2014/main" id="{F414F40D-E124-4F82-A298-F41CB9BFE9C9}"/>
              </a:ext>
            </a:extLst>
          </p:cNvPr>
          <p:cNvSpPr>
            <a:spLocks xmlns:a="http://schemas.openxmlformats.org/drawingml/2006/main" noGrp="1"/>
          </p:cNvSpPr>
          <p:nvPr/>
        </p:nvSpPr>
        <p:spPr>
          <a:xfrm xmlns:a="http://schemas.openxmlformats.org/drawingml/2006/main">
            <a:off x="9067800" y="3924300"/>
            <a:ext cx="438150" cy="171450"/>
          </a:xfrm>
          <a:prstGeom xmlns:a="http://schemas.openxmlformats.org/drawingml/2006/main" prst="rightArrow">
            <a:avLst/>
          </a:prstGeom>
          <a:solidFill xmlns:a="http://schemas.openxmlformats.org/drawingml/2006/main">
            <a:srgbClr val="D7A75E"/>
          </a:solidFill>
          <a:ln xmlns:a="http://schemas.openxmlformats.org/drawingml/2006/main" w="0">
            <a:solidFill>
              <a:srgbClr val="D7A75E"/>
            </a:solidFill>
            <a:prstDash val="solid"/>
          </a:ln>
        </p:spPr>
      </p:sp>
      <p:sp>
        <p:nvSpPr>
          <p:cNvPr id="9" name="">
            <a:extLst xmlns:a="http://schemas.openxmlformats.org/drawingml/2006/main">
              <a:ext uri="{FF2B5EF4-FFF2-40B4-BE49-F238E27FC236}">
                <a16:creationId xmlns:a16="http://schemas.microsoft.com/office/drawing/2014/main" id="{CADE0F7E-ADA6-4CE5-A7D9-1850DA3D9EEB}"/>
              </a:ext>
            </a:extLst>
          </p:cNvPr>
          <p:cNvSpPr>
            <a:spLocks xmlns:a="http://schemas.openxmlformats.org/drawingml/2006/main" noGrp="1"/>
          </p:cNvSpPr>
          <p:nvPr/>
        </p:nvSpPr>
        <p:spPr>
          <a:xfrm xmlns:a="http://schemas.openxmlformats.org/drawingml/2006/main">
            <a:off x="6096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D7A75E"/>
            </a:solidFill>
            <a:prstDash val="solid"/>
          </a:ln>
        </p:spPr>
      </p:sp>
      <p:sp>
        <p:nvSpPr>
          <p:cNvPr id="10" name="">
            <a:extLst xmlns:a="http://schemas.openxmlformats.org/drawingml/2006/main">
              <a:ext uri="{FF2B5EF4-FFF2-40B4-BE49-F238E27FC236}">
                <a16:creationId xmlns:a16="http://schemas.microsoft.com/office/drawing/2014/main" id="{1B1E08E1-9C7C-4441-8AF2-6792F278CF20}"/>
              </a:ext>
            </a:extLst>
          </p:cNvPr>
          <p:cNvSpPr>
            <a:spLocks xmlns:a="http://schemas.openxmlformats.org/drawingml/2006/main" noGrp="1"/>
          </p:cNvSpPr>
          <p:nvPr/>
        </p:nvSpPr>
        <p:spPr>
          <a:xfrm xmlns:a="http://schemas.openxmlformats.org/drawingml/2006/main">
            <a:off x="7810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11" name="anim-1-stage">
            <a:extLst xmlns:a="http://schemas.openxmlformats.org/drawingml/2006/main">
              <a:ext uri="{FF2B5EF4-FFF2-40B4-BE49-F238E27FC236}">
                <a16:creationId xmlns:a16="http://schemas.microsoft.com/office/drawing/2014/main" id="{E6559327-CD66-46C3-A1EB-996DC47BB6B7}"/>
              </a:ext>
            </a:extLst>
          </p:cNvPr>
          <p:cNvSpPr>
            <a:spLocks xmlns:a="http://schemas.openxmlformats.org/drawingml/2006/main" noGrp="1"/>
          </p:cNvSpPr>
          <p:nvPr/>
        </p:nvSpPr>
        <p:spPr>
          <a:xfrm xmlns:a="http://schemas.openxmlformats.org/drawingml/2006/main">
            <a:off x="7810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Shortcut</a:t>
            </a:r>
          </a:p>
        </p:txBody>
      </p:sp>
      <p:sp>
        <p:nvSpPr>
          <p:cNvPr id="12" name="">
            <a:extLst xmlns:a="http://schemas.openxmlformats.org/drawingml/2006/main">
              <a:ext uri="{FF2B5EF4-FFF2-40B4-BE49-F238E27FC236}">
                <a16:creationId xmlns:a16="http://schemas.microsoft.com/office/drawing/2014/main" id="{AA57D6F9-6542-4DE3-BE94-3FDF38975F64}"/>
              </a:ext>
            </a:extLst>
          </p:cNvPr>
          <p:cNvSpPr>
            <a:spLocks xmlns:a="http://schemas.openxmlformats.org/drawingml/2006/main" noGrp="1"/>
          </p:cNvSpPr>
          <p:nvPr/>
        </p:nvSpPr>
        <p:spPr>
          <a:xfrm xmlns:a="http://schemas.openxmlformats.org/drawingml/2006/main">
            <a:off x="7810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Global hotkey</a:t>
            </a:r>
          </a:p>
        </p:txBody>
      </p:sp>
      <p:sp>
        <p:nvSpPr>
          <p:cNvPr id="13" name="">
            <a:extLst xmlns:a="http://schemas.openxmlformats.org/drawingml/2006/main">
              <a:ext uri="{FF2B5EF4-FFF2-40B4-BE49-F238E27FC236}">
                <a16:creationId xmlns:a16="http://schemas.microsoft.com/office/drawing/2014/main" id="{C9332D6D-EEDE-40AF-AAD8-5CECC0EAFFDB}"/>
              </a:ext>
            </a:extLst>
          </p:cNvPr>
          <p:cNvSpPr>
            <a:spLocks xmlns:a="http://schemas.openxmlformats.org/drawingml/2006/main" noGrp="1"/>
          </p:cNvSpPr>
          <p:nvPr/>
        </p:nvSpPr>
        <p:spPr>
          <a:xfrm xmlns:a="http://schemas.openxmlformats.org/drawingml/2006/main">
            <a:off x="287655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4B9CF5"/>
            </a:solidFill>
            <a:prstDash val="solid"/>
          </a:ln>
        </p:spPr>
      </p:sp>
      <p:sp>
        <p:nvSpPr>
          <p:cNvPr id="14" name="">
            <a:extLst xmlns:a="http://schemas.openxmlformats.org/drawingml/2006/main">
              <a:ext uri="{FF2B5EF4-FFF2-40B4-BE49-F238E27FC236}">
                <a16:creationId xmlns:a16="http://schemas.microsoft.com/office/drawing/2014/main" id="{26DB71B9-5821-4D74-AF78-4EE7A1581EFE}"/>
              </a:ext>
            </a:extLst>
          </p:cNvPr>
          <p:cNvSpPr>
            <a:spLocks xmlns:a="http://schemas.openxmlformats.org/drawingml/2006/main" noGrp="1"/>
          </p:cNvSpPr>
          <p:nvPr/>
        </p:nvSpPr>
        <p:spPr>
          <a:xfrm xmlns:a="http://schemas.openxmlformats.org/drawingml/2006/main">
            <a:off x="304800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02</a:t>
            </a:r>
          </a:p>
        </p:txBody>
      </p:sp>
      <p:sp>
        <p:nvSpPr>
          <p:cNvPr id="15" name="anim-2-stage">
            <a:extLst xmlns:a="http://schemas.openxmlformats.org/drawingml/2006/main">
              <a:ext uri="{FF2B5EF4-FFF2-40B4-BE49-F238E27FC236}">
                <a16:creationId xmlns:a16="http://schemas.microsoft.com/office/drawing/2014/main" id="{462F8321-0ACD-471A-A10A-2C99E9FB0A67}"/>
              </a:ext>
            </a:extLst>
          </p:cNvPr>
          <p:cNvSpPr>
            <a:spLocks xmlns:a="http://schemas.openxmlformats.org/drawingml/2006/main" noGrp="1"/>
          </p:cNvSpPr>
          <p:nvPr/>
        </p:nvSpPr>
        <p:spPr>
          <a:xfrm xmlns:a="http://schemas.openxmlformats.org/drawingml/2006/main">
            <a:off x="304800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Mic</a:t>
            </a:r>
          </a:p>
        </p:txBody>
      </p:sp>
      <p:sp>
        <p:nvSpPr>
          <p:cNvPr id="16" name="">
            <a:extLst xmlns:a="http://schemas.openxmlformats.org/drawingml/2006/main">
              <a:ext uri="{FF2B5EF4-FFF2-40B4-BE49-F238E27FC236}">
                <a16:creationId xmlns:a16="http://schemas.microsoft.com/office/drawing/2014/main" id="{101F83E4-226B-4C76-8D58-FA8629BC6981}"/>
              </a:ext>
            </a:extLst>
          </p:cNvPr>
          <p:cNvSpPr>
            <a:spLocks xmlns:a="http://schemas.openxmlformats.org/drawingml/2006/main" noGrp="1"/>
          </p:cNvSpPr>
          <p:nvPr/>
        </p:nvSpPr>
        <p:spPr>
          <a:xfrm xmlns:a="http://schemas.openxmlformats.org/drawingml/2006/main">
            <a:off x="304800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16 kHz mono</a:t>
            </a:r>
          </a:p>
        </p:txBody>
      </p:sp>
      <p:sp>
        <p:nvSpPr>
          <p:cNvPr id="17" name="">
            <a:extLst xmlns:a="http://schemas.openxmlformats.org/drawingml/2006/main">
              <a:ext uri="{FF2B5EF4-FFF2-40B4-BE49-F238E27FC236}">
                <a16:creationId xmlns:a16="http://schemas.microsoft.com/office/drawing/2014/main" id="{007CA856-7C36-4E24-9876-C9D855D1802B}"/>
              </a:ext>
            </a:extLst>
          </p:cNvPr>
          <p:cNvSpPr>
            <a:spLocks xmlns:a="http://schemas.openxmlformats.org/drawingml/2006/main" noGrp="1"/>
          </p:cNvSpPr>
          <p:nvPr/>
        </p:nvSpPr>
        <p:spPr>
          <a:xfrm xmlns:a="http://schemas.openxmlformats.org/drawingml/2006/main">
            <a:off x="51435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7667F2"/>
            </a:solidFill>
            <a:prstDash val="solid"/>
          </a:ln>
        </p:spPr>
      </p:sp>
      <p:sp>
        <p:nvSpPr>
          <p:cNvPr id="18" name="">
            <a:extLst xmlns:a="http://schemas.openxmlformats.org/drawingml/2006/main">
              <a:ext uri="{FF2B5EF4-FFF2-40B4-BE49-F238E27FC236}">
                <a16:creationId xmlns:a16="http://schemas.microsoft.com/office/drawing/2014/main" id="{E64AAABB-C685-4864-A316-185D44E603CA}"/>
              </a:ext>
            </a:extLst>
          </p:cNvPr>
          <p:cNvSpPr>
            <a:spLocks xmlns:a="http://schemas.openxmlformats.org/drawingml/2006/main" noGrp="1"/>
          </p:cNvSpPr>
          <p:nvPr/>
        </p:nvSpPr>
        <p:spPr>
          <a:xfrm xmlns:a="http://schemas.openxmlformats.org/drawingml/2006/main">
            <a:off x="53149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03</a:t>
            </a:r>
          </a:p>
        </p:txBody>
      </p:sp>
      <p:sp>
        <p:nvSpPr>
          <p:cNvPr id="19" name="anim-3-stage">
            <a:extLst xmlns:a="http://schemas.openxmlformats.org/drawingml/2006/main">
              <a:ext uri="{FF2B5EF4-FFF2-40B4-BE49-F238E27FC236}">
                <a16:creationId xmlns:a16="http://schemas.microsoft.com/office/drawing/2014/main" id="{D134F5A3-5B78-480A-A7EE-204FCF98E997}"/>
              </a:ext>
            </a:extLst>
          </p:cNvPr>
          <p:cNvSpPr>
            <a:spLocks xmlns:a="http://schemas.openxmlformats.org/drawingml/2006/main" noGrp="1"/>
          </p:cNvSpPr>
          <p:nvPr/>
        </p:nvSpPr>
        <p:spPr>
          <a:xfrm xmlns:a="http://schemas.openxmlformats.org/drawingml/2006/main">
            <a:off x="53149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AI engine</a:t>
            </a:r>
          </a:p>
        </p:txBody>
      </p:sp>
      <p:sp>
        <p:nvSpPr>
          <p:cNvPr id="20" name="">
            <a:extLst xmlns:a="http://schemas.openxmlformats.org/drawingml/2006/main">
              <a:ext uri="{FF2B5EF4-FFF2-40B4-BE49-F238E27FC236}">
                <a16:creationId xmlns:a16="http://schemas.microsoft.com/office/drawing/2014/main" id="{E6EC36E9-417D-48D0-AA29-9B84BC82B178}"/>
              </a:ext>
            </a:extLst>
          </p:cNvPr>
          <p:cNvSpPr>
            <a:spLocks xmlns:a="http://schemas.openxmlformats.org/drawingml/2006/main" noGrp="1"/>
          </p:cNvSpPr>
          <p:nvPr/>
        </p:nvSpPr>
        <p:spPr>
          <a:xfrm xmlns:a="http://schemas.openxmlformats.org/drawingml/2006/main">
            <a:off x="53149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Whisper / Parakeet / Apple</a:t>
            </a:r>
          </a:p>
        </p:txBody>
      </p:sp>
      <p:sp>
        <p:nvSpPr>
          <p:cNvPr id="21" name="">
            <a:extLst xmlns:a="http://schemas.openxmlformats.org/drawingml/2006/main">
              <a:ext uri="{FF2B5EF4-FFF2-40B4-BE49-F238E27FC236}">
                <a16:creationId xmlns:a16="http://schemas.microsoft.com/office/drawing/2014/main" id="{32F7229D-B737-46FA-BC82-FE35FB25E44F}"/>
              </a:ext>
            </a:extLst>
          </p:cNvPr>
          <p:cNvSpPr>
            <a:spLocks xmlns:a="http://schemas.openxmlformats.org/drawingml/2006/main" noGrp="1"/>
          </p:cNvSpPr>
          <p:nvPr/>
        </p:nvSpPr>
        <p:spPr>
          <a:xfrm xmlns:a="http://schemas.openxmlformats.org/drawingml/2006/main">
            <a:off x="741045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52B788"/>
            </a:solidFill>
            <a:prstDash val="solid"/>
          </a:ln>
        </p:spPr>
      </p:sp>
      <p:sp>
        <p:nvSpPr>
          <p:cNvPr id="22" name="">
            <a:extLst xmlns:a="http://schemas.openxmlformats.org/drawingml/2006/main">
              <a:ext uri="{FF2B5EF4-FFF2-40B4-BE49-F238E27FC236}">
                <a16:creationId xmlns:a16="http://schemas.microsoft.com/office/drawing/2014/main" id="{7A5F0652-4C52-4577-9E47-01F28C6FB2C1}"/>
              </a:ext>
            </a:extLst>
          </p:cNvPr>
          <p:cNvSpPr>
            <a:spLocks xmlns:a="http://schemas.openxmlformats.org/drawingml/2006/main" noGrp="1"/>
          </p:cNvSpPr>
          <p:nvPr/>
        </p:nvSpPr>
        <p:spPr>
          <a:xfrm xmlns:a="http://schemas.openxmlformats.org/drawingml/2006/main">
            <a:off x="758190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2B788"/>
                </a:solidFill>
                <a:latin typeface="Avenir Next"/>
                <a:ea typeface="Avenir Next"/>
                <a:cs typeface="Avenir Next"/>
              </a:defRPr>
            </a:pPr>
            <a:r>
              <a:rPr sz="975" b="1" i="0">
                <a:solidFill>
                  <a:srgbClr val="52B788"/>
                </a:solidFill>
                <a:latin typeface="Avenir Next"/>
                <a:ea typeface="Avenir Next"/>
                <a:cs typeface="Avenir Next"/>
              </a:rPr>
              <a:t>04</a:t>
            </a:r>
          </a:p>
        </p:txBody>
      </p:sp>
      <p:sp>
        <p:nvSpPr>
          <p:cNvPr id="23" name="anim-4-stage">
            <a:extLst xmlns:a="http://schemas.openxmlformats.org/drawingml/2006/main">
              <a:ext uri="{FF2B5EF4-FFF2-40B4-BE49-F238E27FC236}">
                <a16:creationId xmlns:a16="http://schemas.microsoft.com/office/drawing/2014/main" id="{8E14403B-0335-4FEF-8532-DDEC94C8BB95}"/>
              </a:ext>
            </a:extLst>
          </p:cNvPr>
          <p:cNvSpPr>
            <a:spLocks xmlns:a="http://schemas.openxmlformats.org/drawingml/2006/main" noGrp="1"/>
          </p:cNvSpPr>
          <p:nvPr/>
        </p:nvSpPr>
        <p:spPr>
          <a:xfrm xmlns:a="http://schemas.openxmlformats.org/drawingml/2006/main">
            <a:off x="758190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Cleanup</a:t>
            </a:r>
          </a:p>
        </p:txBody>
      </p:sp>
      <p:sp>
        <p:nvSpPr>
          <p:cNvPr id="24" name="">
            <a:extLst xmlns:a="http://schemas.openxmlformats.org/drawingml/2006/main">
              <a:ext uri="{FF2B5EF4-FFF2-40B4-BE49-F238E27FC236}">
                <a16:creationId xmlns:a16="http://schemas.microsoft.com/office/drawing/2014/main" id="{F05CDB09-C77B-4143-8653-F3720C686A3F}"/>
              </a:ext>
            </a:extLst>
          </p:cNvPr>
          <p:cNvSpPr>
            <a:spLocks xmlns:a="http://schemas.openxmlformats.org/drawingml/2006/main" noGrp="1"/>
          </p:cNvSpPr>
          <p:nvPr/>
        </p:nvSpPr>
        <p:spPr>
          <a:xfrm xmlns:a="http://schemas.openxmlformats.org/drawingml/2006/main">
            <a:off x="758190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Formatting + corrections</a:t>
            </a:r>
          </a:p>
        </p:txBody>
      </p:sp>
      <p:sp>
        <p:nvSpPr>
          <p:cNvPr id="25" name="">
            <a:extLst xmlns:a="http://schemas.openxmlformats.org/drawingml/2006/main">
              <a:ext uri="{FF2B5EF4-FFF2-40B4-BE49-F238E27FC236}">
                <a16:creationId xmlns:a16="http://schemas.microsoft.com/office/drawing/2014/main" id="{1AAF9C2B-8CC4-4691-8B7F-19BDA7EEE687}"/>
              </a:ext>
            </a:extLst>
          </p:cNvPr>
          <p:cNvSpPr>
            <a:spLocks xmlns:a="http://schemas.openxmlformats.org/drawingml/2006/main" noGrp="1"/>
          </p:cNvSpPr>
          <p:nvPr/>
        </p:nvSpPr>
        <p:spPr>
          <a:xfrm xmlns:a="http://schemas.openxmlformats.org/drawingml/2006/main">
            <a:off x="9677400" y="3143250"/>
            <a:ext cx="1657350" cy="1790700"/>
          </a:xfrm>
          <a:prstGeom xmlns:a="http://schemas.openxmlformats.org/drawingml/2006/main" prst="roundRect">
            <a:avLst>
              <a:gd name="adj" fmla="val 12644"/>
            </a:avLst>
          </a:prstGeom>
          <a:solidFill xmlns:a="http://schemas.openxmlformats.org/drawingml/2006/main">
            <a:srgbClr val="17171E"/>
          </a:solidFill>
          <a:ln xmlns:a="http://schemas.openxmlformats.org/drawingml/2006/main" w="9525">
            <a:solidFill>
              <a:srgbClr val="D7A75E"/>
            </a:solidFill>
            <a:prstDash val="solid"/>
          </a:ln>
        </p:spPr>
      </p:sp>
      <p:sp>
        <p:nvSpPr>
          <p:cNvPr id="26" name="">
            <a:extLst xmlns:a="http://schemas.openxmlformats.org/drawingml/2006/main">
              <a:ext uri="{FF2B5EF4-FFF2-40B4-BE49-F238E27FC236}">
                <a16:creationId xmlns:a16="http://schemas.microsoft.com/office/drawing/2014/main" id="{5F4AA8E6-C3FD-460F-A942-C73371366A0B}"/>
              </a:ext>
            </a:extLst>
          </p:cNvPr>
          <p:cNvSpPr>
            <a:spLocks xmlns:a="http://schemas.openxmlformats.org/drawingml/2006/main" noGrp="1"/>
          </p:cNvSpPr>
          <p:nvPr/>
        </p:nvSpPr>
        <p:spPr>
          <a:xfrm xmlns:a="http://schemas.openxmlformats.org/drawingml/2006/main">
            <a:off x="9848850" y="333375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05</a:t>
            </a:r>
          </a:p>
        </p:txBody>
      </p:sp>
      <p:sp>
        <p:nvSpPr>
          <p:cNvPr id="27" name="anim-5-stage">
            <a:extLst xmlns:a="http://schemas.openxmlformats.org/drawingml/2006/main">
              <a:ext uri="{FF2B5EF4-FFF2-40B4-BE49-F238E27FC236}">
                <a16:creationId xmlns:a16="http://schemas.microsoft.com/office/drawing/2014/main" id="{D5E76B7F-35A1-4D10-9AB6-81827A738657}"/>
              </a:ext>
            </a:extLst>
          </p:cNvPr>
          <p:cNvSpPr>
            <a:spLocks xmlns:a="http://schemas.openxmlformats.org/drawingml/2006/main" noGrp="1"/>
          </p:cNvSpPr>
          <p:nvPr/>
        </p:nvSpPr>
        <p:spPr>
          <a:xfrm xmlns:a="http://schemas.openxmlformats.org/drawingml/2006/main">
            <a:off x="9848850" y="37719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Insert</a:t>
            </a:r>
          </a:p>
        </p:txBody>
      </p:sp>
      <p:sp>
        <p:nvSpPr>
          <p:cNvPr id="28" name="">
            <a:extLst xmlns:a="http://schemas.openxmlformats.org/drawingml/2006/main">
              <a:ext uri="{FF2B5EF4-FFF2-40B4-BE49-F238E27FC236}">
                <a16:creationId xmlns:a16="http://schemas.microsoft.com/office/drawing/2014/main" id="{BF7EF51F-359E-4AD5-A919-A43319978D75}"/>
              </a:ext>
            </a:extLst>
          </p:cNvPr>
          <p:cNvSpPr>
            <a:spLocks xmlns:a="http://schemas.openxmlformats.org/drawingml/2006/main" noGrp="1"/>
          </p:cNvSpPr>
          <p:nvPr/>
        </p:nvSpPr>
        <p:spPr>
          <a:xfrm xmlns:a="http://schemas.openxmlformats.org/drawingml/2006/main">
            <a:off x="9848850" y="4248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3CED0"/>
                </a:solidFill>
                <a:latin typeface="Avenir Next"/>
                <a:ea typeface="Avenir Next"/>
                <a:cs typeface="Avenir Next"/>
              </a:defRPr>
            </a:pPr>
            <a:r>
              <a:rPr sz="1275" b="0" i="0">
                <a:solidFill>
                  <a:srgbClr val="D3CED0"/>
                </a:solidFill>
                <a:latin typeface="Avenir Next"/>
                <a:ea typeface="Avenir Next"/>
                <a:cs typeface="Avenir Next"/>
              </a:rPr>
              <a:t>Clipboard + Accessibility</a:t>
            </a:r>
          </a:p>
        </p:txBody>
      </p:sp>
      <p:sp>
        <p:nvSpPr>
          <p:cNvPr id="29" name="">
            <a:extLst xmlns:a="http://schemas.openxmlformats.org/drawingml/2006/main">
              <a:ext uri="{FF2B5EF4-FFF2-40B4-BE49-F238E27FC236}">
                <a16:creationId xmlns:a16="http://schemas.microsoft.com/office/drawing/2014/main" id="{7BE00560-0CF8-4D05-AB86-6AE9986E4E59}"/>
              </a:ext>
            </a:extLst>
          </p:cNvPr>
          <p:cNvSpPr>
            <a:spLocks xmlns:a="http://schemas.openxmlformats.org/drawingml/2006/main" noGrp="1"/>
          </p:cNvSpPr>
          <p:nvPr/>
        </p:nvSpPr>
        <p:spPr>
          <a:xfrm xmlns:a="http://schemas.openxmlformats.org/drawingml/2006/main">
            <a:off x="819150" y="5543550"/>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Storage is separate: encrypted local History can be on, paused, or bypassed with Private Dictation.</a:t>
            </a:r>
          </a:p>
        </p:txBody>
      </p:sp>
      <p:sp>
        <p:nvSpPr>
          <p:cNvPr id="30" name="">
            <a:extLst xmlns:a="http://schemas.openxmlformats.org/drawingml/2006/main">
              <a:ext uri="{FF2B5EF4-FFF2-40B4-BE49-F238E27FC236}">
                <a16:creationId xmlns:a16="http://schemas.microsoft.com/office/drawing/2014/main" id="{DB4A1602-584C-4F2C-9337-84BEBC9319D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31" name="">
            <a:extLst xmlns:a="http://schemas.openxmlformats.org/drawingml/2006/main">
              <a:ext uri="{FF2B5EF4-FFF2-40B4-BE49-F238E27FC236}">
                <a16:creationId xmlns:a16="http://schemas.microsoft.com/office/drawing/2014/main" id="{49E3BCCF-1AAC-4ED2-8125-536CBD196BDE}"/>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32" name="">
            <a:extLst xmlns:a="http://schemas.openxmlformats.org/drawingml/2006/main">
              <a:ext uri="{FF2B5EF4-FFF2-40B4-BE49-F238E27FC236}">
                <a16:creationId xmlns:a16="http://schemas.microsoft.com/office/drawing/2014/main" id="{58DC4EEC-1BC6-493A-84AB-0BDDB3D5582F}"/>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08</a:t>
            </a:r>
          </a:p>
        </p:txBody>
      </p:sp>
    </p:spTree>
    <p:extLst>
      <p:ext uri="{BB962C8B-B14F-4D97-AF65-F5344CB8AC3E}">
        <p14:creationId xmlns:p14="http://schemas.microsoft.com/office/powerpoint/2010/main" val="1357200750"/>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45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450"/>
                                        <p:tgtEl>
                                          <p:spTgt spid="27"/>
                                        </p:tgtEl>
                                      </p:cBhvr>
                                    </p:animEffect>
                                  </p:childTnLst>
                                </p:cTn>
                              </p:par>
                            </p:childTnLst>
                          </p:cTn>
                        </p:par>
                      </p:childTnLst>
                    </p:cTn>
                  </p:par>
                </p:childTnLst>
              </p:cTn>
            </p:seq>
          </p:childTnLst>
        </p:cTn>
      </p:par>
    </p:tnLst>
  </p:timing>
</p:sld>
</file>

<file path=ppt/slides/slide9.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01AEC32-CED1-400E-8491-12598499D296}"/>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09  /  LOCAL AI STRATEGY</a:t>
            </a:r>
          </a:p>
        </p:txBody>
      </p:sp>
      <p:sp>
        <p:nvSpPr>
          <p:cNvPr id="2" name="">
            <a:extLst xmlns:a="http://schemas.openxmlformats.org/drawingml/2006/main">
              <a:ext uri="{FF2B5EF4-FFF2-40B4-BE49-F238E27FC236}">
                <a16:creationId xmlns:a16="http://schemas.microsoft.com/office/drawing/2014/main" id="{D0D61358-59B7-4859-BEA0-8D8571CA611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The app chooses for the Mac you have.</a:t>
            </a:r>
          </a:p>
        </p:txBody>
      </p:sp>
      <p:sp>
        <p:nvSpPr>
          <p:cNvPr id="3" name="">
            <a:extLst xmlns:a="http://schemas.openxmlformats.org/drawingml/2006/main">
              <a:ext uri="{FF2B5EF4-FFF2-40B4-BE49-F238E27FC236}">
                <a16:creationId xmlns:a16="http://schemas.microsoft.com/office/drawing/2014/main" id="{314BD1A4-3DA7-4AD8-B9FA-2772FCFF08D2}"/>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verified catalogue connects language, hardware, and task to a compatible engine + model pair.</a:t>
            </a:r>
          </a:p>
        </p:txBody>
      </p:sp>
      <p:sp>
        <p:nvSpPr>
          <p:cNvPr id="4" name="">
            <a:extLst xmlns:a="http://schemas.openxmlformats.org/drawingml/2006/main">
              <a:ext uri="{FF2B5EF4-FFF2-40B4-BE49-F238E27FC236}">
                <a16:creationId xmlns:a16="http://schemas.microsoft.com/office/drawing/2014/main" id="{9B202F2B-97CC-476D-86C4-52990B31C41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E68ED42C-7109-4446-B1E7-BEAC27A1F5CE}"/>
              </a:ext>
            </a:extLst>
          </p:cNvPr>
          <p:cNvSpPr>
            <a:spLocks xmlns:a="http://schemas.openxmlformats.org/drawingml/2006/main" noGrp="1"/>
          </p:cNvSpPr>
          <p:nvPr/>
        </p:nvSpPr>
        <p:spPr>
          <a:xfrm xmlns:a="http://schemas.openxmlformats.org/drawingml/2006/main">
            <a:off x="60960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6" name="">
            <a:extLst xmlns:a="http://schemas.openxmlformats.org/drawingml/2006/main">
              <a:ext uri="{FF2B5EF4-FFF2-40B4-BE49-F238E27FC236}">
                <a16:creationId xmlns:a16="http://schemas.microsoft.com/office/drawing/2014/main" id="{C818C4B7-2D78-4E63-B2A0-8C2AA9528E79}"/>
              </a:ext>
            </a:extLst>
          </p:cNvPr>
          <p:cNvSpPr>
            <a:spLocks xmlns:a="http://schemas.openxmlformats.org/drawingml/2006/main" noGrp="1"/>
          </p:cNvSpPr>
          <p:nvPr/>
        </p:nvSpPr>
        <p:spPr>
          <a:xfrm xmlns:a="http://schemas.openxmlformats.org/drawingml/2006/main">
            <a:off x="609600" y="2971800"/>
            <a:ext cx="3124200" cy="95250"/>
          </a:xfrm>
          <a:prstGeom xmlns:a="http://schemas.openxmlformats.org/drawingml/2006/main" prst="rect">
            <a:avLst/>
          </a:prstGeom>
          <a:solidFill xmlns:a="http://schemas.openxmlformats.org/drawingml/2006/main">
            <a:srgbClr val="D7A75E"/>
          </a:solidFill>
          <a:ln xmlns:a="http://schemas.openxmlformats.org/drawingml/2006/main" w="0">
            <a:solidFill>
              <a:srgbClr val="D7A75E"/>
            </a:solidFill>
            <a:prstDash val="solid"/>
          </a:ln>
        </p:spPr>
      </p:sp>
      <p:sp>
        <p:nvSpPr>
          <p:cNvPr id="7" name="anim-1-model">
            <a:extLst xmlns:a="http://schemas.openxmlformats.org/drawingml/2006/main">
              <a:ext uri="{FF2B5EF4-FFF2-40B4-BE49-F238E27FC236}">
                <a16:creationId xmlns:a16="http://schemas.microsoft.com/office/drawing/2014/main" id="{BB54DCD5-9CC2-434A-8BA7-8612089432C6}"/>
              </a:ext>
            </a:extLst>
          </p:cNvPr>
          <p:cNvSpPr>
            <a:spLocks xmlns:a="http://schemas.openxmlformats.org/drawingml/2006/main" noGrp="1"/>
          </p:cNvSpPr>
          <p:nvPr/>
        </p:nvSpPr>
        <p:spPr>
          <a:xfrm xmlns:a="http://schemas.openxmlformats.org/drawingml/2006/main">
            <a:off x="87630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PARAKEET</a:t>
            </a:r>
          </a:p>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TDT v3</a:t>
            </a:r>
          </a:p>
        </p:txBody>
      </p:sp>
      <p:sp>
        <p:nvSpPr>
          <p:cNvPr id="8" name="">
            <a:extLst xmlns:a="http://schemas.openxmlformats.org/drawingml/2006/main">
              <a:ext uri="{FF2B5EF4-FFF2-40B4-BE49-F238E27FC236}">
                <a16:creationId xmlns:a16="http://schemas.microsoft.com/office/drawing/2014/main" id="{8B9E0638-CBDE-4305-BEBD-D4E50A0D4494}"/>
              </a:ext>
            </a:extLst>
          </p:cNvPr>
          <p:cNvSpPr>
            <a:spLocks xmlns:a="http://schemas.openxmlformats.org/drawingml/2006/main" noGrp="1"/>
          </p:cNvSpPr>
          <p:nvPr/>
        </p:nvSpPr>
        <p:spPr>
          <a:xfrm xmlns:a="http://schemas.openxmlformats.org/drawingml/2006/main">
            <a:off x="87630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D7A75E"/>
                </a:solidFill>
                <a:latin typeface="Avenir Next"/>
                <a:ea typeface="Avenir Next"/>
                <a:cs typeface="Avenir Next"/>
              </a:defRPr>
            </a:pPr>
            <a:r>
              <a:rPr sz="1425" b="1" i="0">
                <a:solidFill>
                  <a:srgbClr val="D7A75E"/>
                </a:solidFill>
                <a:latin typeface="Avenir Next"/>
                <a:ea typeface="Avenir Next"/>
                <a:cs typeface="Avenir Next"/>
              </a:rPr>
              <a:t>Recommended final insert</a:t>
            </a:r>
          </a:p>
        </p:txBody>
      </p:sp>
      <p:sp>
        <p:nvSpPr>
          <p:cNvPr id="9" name="">
            <a:extLst xmlns:a="http://schemas.openxmlformats.org/drawingml/2006/main">
              <a:ext uri="{FF2B5EF4-FFF2-40B4-BE49-F238E27FC236}">
                <a16:creationId xmlns:a16="http://schemas.microsoft.com/office/drawing/2014/main" id="{81A9A64A-B06A-4B36-A636-509E50991AE8}"/>
              </a:ext>
            </a:extLst>
          </p:cNvPr>
          <p:cNvSpPr>
            <a:spLocks xmlns:a="http://schemas.openxmlformats.org/drawingml/2006/main" noGrp="1"/>
          </p:cNvSpPr>
          <p:nvPr/>
        </p:nvSpPr>
        <p:spPr>
          <a:xfrm xmlns:a="http://schemas.openxmlformats.org/drawingml/2006/main">
            <a:off x="87630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25 languages</a:t>
            </a:r>
          </a:p>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a:t>
            </a:r>
          </a:p>
        </p:txBody>
      </p:sp>
      <p:sp>
        <p:nvSpPr>
          <p:cNvPr id="10" name="">
            <a:extLst xmlns:a="http://schemas.openxmlformats.org/drawingml/2006/main">
              <a:ext uri="{FF2B5EF4-FFF2-40B4-BE49-F238E27FC236}">
                <a16:creationId xmlns:a16="http://schemas.microsoft.com/office/drawing/2014/main" id="{DCFDBB37-3D06-4D14-91A6-872C1BEEB613}"/>
              </a:ext>
            </a:extLst>
          </p:cNvPr>
          <p:cNvSpPr>
            <a:spLocks xmlns:a="http://schemas.openxmlformats.org/drawingml/2006/main" noGrp="1"/>
          </p:cNvSpPr>
          <p:nvPr/>
        </p:nvSpPr>
        <p:spPr>
          <a:xfrm xmlns:a="http://schemas.openxmlformats.org/drawingml/2006/main">
            <a:off x="436245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2C7FA676-A573-43F4-BD3F-334AD36EC986}"/>
              </a:ext>
            </a:extLst>
          </p:cNvPr>
          <p:cNvSpPr>
            <a:spLocks xmlns:a="http://schemas.openxmlformats.org/drawingml/2006/main" noGrp="1"/>
          </p:cNvSpPr>
          <p:nvPr/>
        </p:nvSpPr>
        <p:spPr>
          <a:xfrm xmlns:a="http://schemas.openxmlformats.org/drawingml/2006/main">
            <a:off x="4362450" y="2971800"/>
            <a:ext cx="3124200" cy="95250"/>
          </a:xfrm>
          <a:prstGeom xmlns:a="http://schemas.openxmlformats.org/drawingml/2006/main" prst="rect">
            <a:avLst/>
          </a:prstGeom>
          <a:solidFill xmlns:a="http://schemas.openxmlformats.org/drawingml/2006/main">
            <a:srgbClr val="7667F2"/>
          </a:solidFill>
          <a:ln xmlns:a="http://schemas.openxmlformats.org/drawingml/2006/main" w="0">
            <a:solidFill>
              <a:srgbClr val="7667F2"/>
            </a:solidFill>
            <a:prstDash val="solid"/>
          </a:ln>
        </p:spPr>
      </p:sp>
      <p:sp>
        <p:nvSpPr>
          <p:cNvPr id="12" name="anim-2-model">
            <a:extLst xmlns:a="http://schemas.openxmlformats.org/drawingml/2006/main">
              <a:ext uri="{FF2B5EF4-FFF2-40B4-BE49-F238E27FC236}">
                <a16:creationId xmlns:a16="http://schemas.microsoft.com/office/drawing/2014/main" id="{08D23635-9DDC-47C8-8B56-BCFECFF7124C}"/>
              </a:ext>
            </a:extLst>
          </p:cNvPr>
          <p:cNvSpPr>
            <a:spLocks xmlns:a="http://schemas.openxmlformats.org/drawingml/2006/main" noGrp="1"/>
          </p:cNvSpPr>
          <p:nvPr/>
        </p:nvSpPr>
        <p:spPr>
          <a:xfrm xmlns:a="http://schemas.openxmlformats.org/drawingml/2006/main">
            <a:off x="462915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WHISPER</a:t>
            </a:r>
          </a:p>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TURBO</a:t>
            </a:r>
          </a:p>
        </p:txBody>
      </p:sp>
      <p:sp>
        <p:nvSpPr>
          <p:cNvPr id="13" name="">
            <a:extLst xmlns:a="http://schemas.openxmlformats.org/drawingml/2006/main">
              <a:ext uri="{FF2B5EF4-FFF2-40B4-BE49-F238E27FC236}">
                <a16:creationId xmlns:a16="http://schemas.microsoft.com/office/drawing/2014/main" id="{59F11CE1-5FD3-4A57-B9BC-4F6182546373}"/>
              </a:ext>
            </a:extLst>
          </p:cNvPr>
          <p:cNvSpPr>
            <a:spLocks xmlns:a="http://schemas.openxmlformats.org/drawingml/2006/main" noGrp="1"/>
          </p:cNvSpPr>
          <p:nvPr/>
        </p:nvSpPr>
        <p:spPr>
          <a:xfrm xmlns:a="http://schemas.openxmlformats.org/drawingml/2006/main">
            <a:off x="462915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7667F2"/>
                </a:solidFill>
                <a:latin typeface="Avenir Next"/>
                <a:ea typeface="Avenir Next"/>
                <a:cs typeface="Avenir Next"/>
              </a:defRPr>
            </a:pPr>
            <a:r>
              <a:rPr sz="1425" b="1" i="0">
                <a:solidFill>
                  <a:srgbClr val="7667F2"/>
                </a:solidFill>
                <a:latin typeface="Avenir Next"/>
                <a:ea typeface="Avenir Next"/>
                <a:cs typeface="Avenir Next"/>
              </a:rPr>
              <a:t>Multilingual + auto-detect</a:t>
            </a:r>
          </a:p>
        </p:txBody>
      </p:sp>
      <p:sp>
        <p:nvSpPr>
          <p:cNvPr id="14" name="">
            <a:extLst xmlns:a="http://schemas.openxmlformats.org/drawingml/2006/main">
              <a:ext uri="{FF2B5EF4-FFF2-40B4-BE49-F238E27FC236}">
                <a16:creationId xmlns:a16="http://schemas.microsoft.com/office/drawing/2014/main" id="{C0BB82BC-4ED7-4BD3-BB2D-6A1BE5F454B5}"/>
              </a:ext>
            </a:extLst>
          </p:cNvPr>
          <p:cNvSpPr>
            <a:spLocks xmlns:a="http://schemas.openxmlformats.org/drawingml/2006/main" noGrp="1"/>
          </p:cNvSpPr>
          <p:nvPr/>
        </p:nvSpPr>
        <p:spPr>
          <a:xfrm xmlns:a="http://schemas.openxmlformats.org/drawingml/2006/main">
            <a:off x="462915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Up to 99 languages</a:t>
            </a:r>
          </a:p>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a:t>
            </a:r>
          </a:p>
        </p:txBody>
      </p:sp>
      <p:sp>
        <p:nvSpPr>
          <p:cNvPr id="15" name="">
            <a:extLst xmlns:a="http://schemas.openxmlformats.org/drawingml/2006/main">
              <a:ext uri="{FF2B5EF4-FFF2-40B4-BE49-F238E27FC236}">
                <a16:creationId xmlns:a16="http://schemas.microsoft.com/office/drawing/2014/main" id="{44DC70A2-A595-4570-9468-361E94863BE8}"/>
              </a:ext>
            </a:extLst>
          </p:cNvPr>
          <p:cNvSpPr>
            <a:spLocks xmlns:a="http://schemas.openxmlformats.org/drawingml/2006/main" noGrp="1"/>
          </p:cNvSpPr>
          <p:nvPr/>
        </p:nvSpPr>
        <p:spPr>
          <a:xfrm xmlns:a="http://schemas.openxmlformats.org/drawingml/2006/main">
            <a:off x="8115300" y="2971800"/>
            <a:ext cx="3124200" cy="2705100"/>
          </a:xfrm>
          <a:prstGeom xmlns:a="http://schemas.openxmlformats.org/drawingml/2006/main" prst="rect">
            <a:avLst/>
          </a:prstGeom>
          <a:solidFill xmlns:a="http://schemas.openxmlformats.org/drawingml/2006/main">
            <a:srgbClr val="141419"/>
          </a:solidFill>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8759D7AF-95F3-4FEC-96B5-04EDD4A15988}"/>
              </a:ext>
            </a:extLst>
          </p:cNvPr>
          <p:cNvSpPr>
            <a:spLocks xmlns:a="http://schemas.openxmlformats.org/drawingml/2006/main" noGrp="1"/>
          </p:cNvSpPr>
          <p:nvPr/>
        </p:nvSpPr>
        <p:spPr>
          <a:xfrm xmlns:a="http://schemas.openxmlformats.org/drawingml/2006/main">
            <a:off x="8115300" y="2971800"/>
            <a:ext cx="3124200" cy="95250"/>
          </a:xfrm>
          <a:prstGeom xmlns:a="http://schemas.openxmlformats.org/drawingml/2006/main" prst="rect">
            <a:avLst/>
          </a:prstGeom>
          <a:solidFill xmlns:a="http://schemas.openxmlformats.org/drawingml/2006/main">
            <a:srgbClr val="4B9CF5"/>
          </a:solidFill>
          <a:ln xmlns:a="http://schemas.openxmlformats.org/drawingml/2006/main" w="0">
            <a:solidFill>
              <a:srgbClr val="4B9CF5"/>
            </a:solidFill>
            <a:prstDash val="solid"/>
          </a:ln>
        </p:spPr>
      </p:sp>
      <p:sp>
        <p:nvSpPr>
          <p:cNvPr id="17" name="anim-3-model">
            <a:extLst xmlns:a="http://schemas.openxmlformats.org/drawingml/2006/main">
              <a:ext uri="{FF2B5EF4-FFF2-40B4-BE49-F238E27FC236}">
                <a16:creationId xmlns:a16="http://schemas.microsoft.com/office/drawing/2014/main" id="{C35CFD77-91C3-48C3-BDFB-D20A8F9E085D}"/>
              </a:ext>
            </a:extLst>
          </p:cNvPr>
          <p:cNvSpPr>
            <a:spLocks xmlns:a="http://schemas.openxmlformats.org/drawingml/2006/main" noGrp="1"/>
          </p:cNvSpPr>
          <p:nvPr/>
        </p:nvSpPr>
        <p:spPr>
          <a:xfrm xmlns:a="http://schemas.openxmlformats.org/drawingml/2006/main">
            <a:off x="8382000" y="331470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APPLE</a:t>
            </a:r>
          </a:p>
          <a:p xmlns:a="http://schemas.openxmlformats.org/drawingml/2006/main">
            <a:pPr algn="l">
              <a:defRPr sz="2700" b="1" i="0">
                <a:solidFill>
                  <a:srgbClr val="F7F4EF"/>
                </a:solidFill>
                <a:latin typeface="Avenir Next"/>
                <a:ea typeface="Avenir Next"/>
                <a:cs typeface="Avenir Next"/>
              </a:defRPr>
            </a:pPr>
            <a:r>
              <a:rPr sz="2700" b="1" i="0">
                <a:solidFill>
                  <a:srgbClr val="F7F4EF"/>
                </a:solidFill>
                <a:latin typeface="Avenir Next"/>
                <a:ea typeface="Avenir Next"/>
                <a:cs typeface="Avenir Next"/>
              </a:rPr>
              <a:t>SPEECH</a:t>
            </a:r>
          </a:p>
        </p:txBody>
      </p:sp>
      <p:sp>
        <p:nvSpPr>
          <p:cNvPr id="18" name="">
            <a:extLst xmlns:a="http://schemas.openxmlformats.org/drawingml/2006/main">
              <a:ext uri="{FF2B5EF4-FFF2-40B4-BE49-F238E27FC236}">
                <a16:creationId xmlns:a16="http://schemas.microsoft.com/office/drawing/2014/main" id="{E740C5DA-8394-4218-B2DD-9218719BE4EC}"/>
              </a:ext>
            </a:extLst>
          </p:cNvPr>
          <p:cNvSpPr>
            <a:spLocks xmlns:a="http://schemas.openxmlformats.org/drawingml/2006/main" noGrp="1"/>
          </p:cNvSpPr>
          <p:nvPr/>
        </p:nvSpPr>
        <p:spPr>
          <a:xfrm xmlns:a="http://schemas.openxmlformats.org/drawingml/2006/main">
            <a:off x="8382000" y="4457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4B9CF5"/>
                </a:solidFill>
                <a:latin typeface="Avenir Next"/>
                <a:ea typeface="Avenir Next"/>
                <a:cs typeface="Avenir Next"/>
              </a:defRPr>
            </a:pPr>
            <a:r>
              <a:rPr sz="1425" b="1" i="0">
                <a:solidFill>
                  <a:srgbClr val="4B9CF5"/>
                </a:solidFill>
                <a:latin typeface="Avenir Next"/>
                <a:ea typeface="Avenir Next"/>
                <a:cs typeface="Avenir Next"/>
              </a:rPr>
              <a:t>Zero-download fallback</a:t>
            </a:r>
          </a:p>
        </p:txBody>
      </p:sp>
      <p:sp>
        <p:nvSpPr>
          <p:cNvPr id="19" name="">
            <a:extLst xmlns:a="http://schemas.openxmlformats.org/drawingml/2006/main">
              <a:ext uri="{FF2B5EF4-FFF2-40B4-BE49-F238E27FC236}">
                <a16:creationId xmlns:a16="http://schemas.microsoft.com/office/drawing/2014/main" id="{CFC849BD-0DB5-4692-B562-27FE07D8A120}"/>
              </a:ext>
            </a:extLst>
          </p:cNvPr>
          <p:cNvSpPr>
            <a:spLocks xmlns:a="http://schemas.openxmlformats.org/drawingml/2006/main" noGrp="1"/>
          </p:cNvSpPr>
          <p:nvPr/>
        </p:nvSpPr>
        <p:spPr>
          <a:xfrm xmlns:a="http://schemas.openxmlformats.org/drawingml/2006/main">
            <a:off x="8382000" y="495300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System languages</a:t>
            </a:r>
          </a:p>
          <a:p xmlns:a="http://schemas.openxmlformats.org/drawingml/2006/main">
            <a:pPr algn="l">
              <a:defRPr sz="1500" b="0" i="0">
                <a:solidFill>
                  <a:srgbClr val="D3CED0"/>
                </a:solidFill>
                <a:latin typeface="Avenir Next"/>
                <a:ea typeface="Avenir Next"/>
                <a:cs typeface="Avenir Next"/>
              </a:defRPr>
            </a:pPr>
            <a:r>
              <a:rPr sz="1500" b="0" i="0">
                <a:solidFill>
                  <a:srgbClr val="D3CED0"/>
                </a:solidFill>
                <a:latin typeface="Avenir Next"/>
                <a:ea typeface="Avenir Next"/>
                <a:cs typeface="Avenir Next"/>
              </a:rPr>
              <a:t>Apple Silicon + Intel</a:t>
            </a:r>
          </a:p>
        </p:txBody>
      </p:sp>
      <p:sp>
        <p:nvSpPr>
          <p:cNvPr id="20" name="">
            <a:extLst xmlns:a="http://schemas.openxmlformats.org/drawingml/2006/main">
              <a:ext uri="{FF2B5EF4-FFF2-40B4-BE49-F238E27FC236}">
                <a16:creationId xmlns:a16="http://schemas.microsoft.com/office/drawing/2014/main" id="{05288E00-BDEB-4CDE-AAF4-8D29DA206A54}"/>
              </a:ext>
            </a:extLst>
          </p:cNvPr>
          <p:cNvSpPr>
            <a:spLocks xmlns:a="http://schemas.openxmlformats.org/drawingml/2006/main" noGrp="1"/>
          </p:cNvSpPr>
          <p:nvPr/>
        </p:nvSpPr>
        <p:spPr>
          <a:xfrm xmlns:a="http://schemas.openxmlformats.org/drawingml/2006/main">
            <a:off x="609600" y="59531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96909A"/>
                </a:solidFill>
                <a:latin typeface="Avenir Next"/>
                <a:ea typeface="Avenir Next"/>
                <a:cs typeface="Avenir Next"/>
              </a:defRPr>
            </a:pPr>
            <a:r>
              <a:rPr sz="1500" b="0" i="0">
                <a:solidFill>
                  <a:srgbClr val="96909A"/>
                </a:solidFill>
                <a:latin typeface="Avenir Next"/>
                <a:ea typeface="Avenir Next"/>
                <a:cs typeface="Avenir Next"/>
              </a:rPr>
              <a:t>Engine ≠ model file. ZenVoice downloads, verifies, selects, and removes compatible model assets explicitly.</a:t>
            </a:r>
          </a:p>
        </p:txBody>
      </p:sp>
      <p:sp>
        <p:nvSpPr>
          <p:cNvPr id="21" name="">
            <a:extLst xmlns:a="http://schemas.openxmlformats.org/drawingml/2006/main">
              <a:ext uri="{FF2B5EF4-FFF2-40B4-BE49-F238E27FC236}">
                <a16:creationId xmlns:a16="http://schemas.microsoft.com/office/drawing/2014/main" id="{039F7A3B-280D-47C3-9990-889FD1CB382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22" name="">
            <a:extLst xmlns:a="http://schemas.openxmlformats.org/drawingml/2006/main">
              <a:ext uri="{FF2B5EF4-FFF2-40B4-BE49-F238E27FC236}">
                <a16:creationId xmlns:a16="http://schemas.microsoft.com/office/drawing/2014/main" id="{FEA8FB44-BDAB-4A39-A8A3-9DCF6E31CFA7}"/>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23" name="">
            <a:extLst xmlns:a="http://schemas.openxmlformats.org/drawingml/2006/main">
              <a:ext uri="{FF2B5EF4-FFF2-40B4-BE49-F238E27FC236}">
                <a16:creationId xmlns:a16="http://schemas.microsoft.com/office/drawing/2014/main" id="{62446C59-7374-4E1D-A518-C2A0BDE8CE8E}"/>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09</a:t>
            </a:r>
          </a:p>
        </p:txBody>
      </p:sp>
    </p:spTree>
    <p:extLst>
      <p:ext uri="{BB962C8B-B14F-4D97-AF65-F5344CB8AC3E}">
        <p14:creationId xmlns:p14="http://schemas.microsoft.com/office/powerpoint/2010/main" val="763585640"/>
      </p:ext>
    </p:extLst>
  </p:cSld>
  <p:transition spd="med"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7"/>
                                        </p:tgtEl>
                                      </p:cBhvr>
                                    </p:animEffect>
                                  </p:childTnLst>
                                </p:cTn>
                              </p:par>
                            </p:childTnLst>
                          </p:cTn>
                        </p:par>
                      </p:childTnLst>
                    </p:cTn>
                  </p:par>
                </p:childTnLst>
              </p:cTn>
            </p:seq>
          </p:childTnLst>
        </p:cTn>
      </p:par>
    </p:tnLst>
  </p:timing>
</p:sld>
</file>

<file path=ppt/slides/slide10.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214947-196B-4D5E-8280-5B809A35BD50}"/>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10  /  EVIDENCE</a:t>
            </a:r>
          </a:p>
        </p:txBody>
      </p:sp>
      <p:sp>
        <p:nvSpPr>
          <p:cNvPr id="2" name="">
            <a:extLst xmlns:a="http://schemas.openxmlformats.org/drawingml/2006/main">
              <a:ext uri="{FF2B5EF4-FFF2-40B4-BE49-F238E27FC236}">
                <a16:creationId xmlns:a16="http://schemas.microsoft.com/office/drawing/2014/main" id="{9CA52B20-0921-4D53-9313-8D8D678BF4A7}"/>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Parakeet leads on accuracy and speed.</a:t>
            </a:r>
          </a:p>
        </p:txBody>
      </p:sp>
      <p:sp>
        <p:nvSpPr>
          <p:cNvPr id="3" name="">
            <a:extLst xmlns:a="http://schemas.openxmlformats.org/drawingml/2006/main">
              <a:ext uri="{FF2B5EF4-FFF2-40B4-BE49-F238E27FC236}">
                <a16:creationId xmlns:a16="http://schemas.microsoft.com/office/drawing/2014/main" id="{233A084A-46BF-4342-8758-C65A19EEAED0}"/>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Frozen spontaneous-speech benchmarks guide the recommendation; they do not replace representative user data.</a:t>
            </a:r>
          </a:p>
        </p:txBody>
      </p:sp>
      <p:sp>
        <p:nvSpPr>
          <p:cNvPr id="4" name="">
            <a:extLst xmlns:a="http://schemas.openxmlformats.org/drawingml/2006/main">
              <a:ext uri="{FF2B5EF4-FFF2-40B4-BE49-F238E27FC236}">
                <a16:creationId xmlns:a16="http://schemas.microsoft.com/office/drawing/2014/main" id="{B79174DB-8546-4EC5-8385-EE6D848A93CD}"/>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wer">
            <a:extLst xmlns:a="http://schemas.openxmlformats.org/drawingml/2006/main">
              <a:ext uri="{FF2B5EF4-FFF2-40B4-BE49-F238E27FC236}">
                <a16:creationId xmlns:a16="http://schemas.microsoft.com/office/drawing/2014/main" id="{D6425DFE-669D-4B4D-80C3-6818125CB7FB}"/>
              </a:ext>
            </a:extLst>
          </p:cNvPr>
          <p:cNvSpPr>
            <a:spLocks xmlns:a="http://schemas.openxmlformats.org/drawingml/2006/main" noGrp="1"/>
          </p:cNvSpPr>
          <p:nvPr/>
        </p:nvSpPr>
        <p:spPr>
          <a:xfrm xmlns:a="http://schemas.openxmlformats.org/drawingml/2006/main">
            <a:off x="609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0C47C"/>
                </a:solidFill>
                <a:latin typeface="Avenir Next"/>
                <a:ea typeface="Avenir Next"/>
                <a:cs typeface="Avenir Next"/>
              </a:defRPr>
            </a:pPr>
            <a:r>
              <a:rPr sz="1200" b="1" i="0">
                <a:solidFill>
                  <a:srgbClr val="F0C47C"/>
                </a:solidFill>
                <a:latin typeface="Avenir Next"/>
                <a:ea typeface="Avenir Next"/>
                <a:cs typeface="Avenir Next"/>
              </a:rPr>
              <a:t>WORD ERROR RATE  /  LOWER IS BETTER</a:t>
            </a:r>
          </a:p>
        </p:txBody>
      </p:sp>
      <p:sp>
        <p:nvSpPr>
          <p:cNvPr id="6" name="anim-2-speed">
            <a:extLst xmlns:a="http://schemas.openxmlformats.org/drawingml/2006/main">
              <a:ext uri="{FF2B5EF4-FFF2-40B4-BE49-F238E27FC236}">
                <a16:creationId xmlns:a16="http://schemas.microsoft.com/office/drawing/2014/main" id="{B4DF977A-4679-469C-A665-8F4D3E0688EE}"/>
              </a:ext>
            </a:extLst>
          </p:cNvPr>
          <p:cNvSpPr>
            <a:spLocks xmlns:a="http://schemas.openxmlformats.org/drawingml/2006/main" noGrp="1"/>
          </p:cNvSpPr>
          <p:nvPr/>
        </p:nvSpPr>
        <p:spPr>
          <a:xfrm xmlns:a="http://schemas.openxmlformats.org/drawingml/2006/main">
            <a:off x="6324600" y="2857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7667F2"/>
                </a:solidFill>
                <a:latin typeface="Avenir Next"/>
                <a:ea typeface="Avenir Next"/>
                <a:cs typeface="Avenir Next"/>
              </a:defRPr>
            </a:pPr>
            <a:r>
              <a:rPr sz="1200" b="1" i="0">
                <a:solidFill>
                  <a:srgbClr val="7667F2"/>
                </a:solidFill>
                <a:latin typeface="Avenir Next"/>
                <a:ea typeface="Avenir Next"/>
                <a:cs typeface="Avenir Next"/>
              </a:rPr>
              <a:t>REAL-TIME MULTIPLE  /  HIGHER IS BETTER</a:t>
            </a:r>
          </a:p>
        </p:txBody>
      </p:sp>
      <p:graphicFrame>
        <p:nvGraphicFramePr>
          <p:cNvPr id="19" name="Chart"/>
          <p:cNvGraphicFramePr/>
          <p:nvPr/>
        </p:nvGraphicFramePr>
        <p:xfrm>
          <a:off xmlns:a="http://schemas.openxmlformats.org/drawingml/2006/main" x="609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a9cdaea22da047c6"/>
          </a:graphicData>
        </a:graphic>
      </p:graphicFrame>
      <p:graphicFrame>
        <p:nvGraphicFramePr>
          <p:cNvPr id="20" name="Chart"/>
          <p:cNvGraphicFramePr/>
          <p:nvPr/>
        </p:nvGraphicFramePr>
        <p:xfrm>
          <a:off xmlns:a="http://schemas.openxmlformats.org/drawingml/2006/main" x="6324600" y="3276600"/>
          <a:ext xmlns:a="http://schemas.openxmlformats.org/drawingml/2006/main" cx="4762500" cy="2190750"/>
        </p:xfrm>
        <a:graphic xmlns:a="http://schemas.openxmlformats.org/drawingml/2006/main">
          <a:graphicData uri="http://schemas.openxmlformats.org/drawingml/2006/chart">
            <c:chart xmlns:r="http://schemas.openxmlformats.org/officeDocument/2006/relationships" xmlns:c="http://schemas.openxmlformats.org/drawingml/2006/chart" r:id="Re9f415934bcc4aae"/>
          </a:graphicData>
        </a:graphic>
      </p:graphicFrame>
      <p:sp>
        <p:nvSpPr>
          <p:cNvPr id="9" name="">
            <a:extLst xmlns:a="http://schemas.openxmlformats.org/drawingml/2006/main">
              <a:ext uri="{FF2B5EF4-FFF2-40B4-BE49-F238E27FC236}">
                <a16:creationId xmlns:a16="http://schemas.microsoft.com/office/drawing/2014/main" id="{EA96890C-2A19-46E0-BFF0-B4FCF7194F50}"/>
              </a:ext>
            </a:extLst>
          </p:cNvPr>
          <p:cNvSpPr>
            <a:spLocks xmlns:a="http://schemas.openxmlformats.org/drawingml/2006/main" noGrp="1"/>
          </p:cNvSpPr>
          <p:nvPr/>
        </p:nvSpPr>
        <p:spPr>
          <a:xfrm xmlns:a="http://schemas.openxmlformats.org/drawingml/2006/main">
            <a:off x="609600" y="57912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96909A"/>
                </a:solidFill>
                <a:latin typeface="Avenir Next"/>
                <a:ea typeface="Avenir Next"/>
                <a:cs typeface="Avenir Next"/>
              </a:defRPr>
            </a:pPr>
            <a:r>
              <a:rPr sz="1275" b="0" i="0">
                <a:solidFill>
                  <a:srgbClr val="96909A"/>
                </a:solidFill>
                <a:latin typeface="Avenir Next"/>
                <a:ea typeface="Avenir Next"/>
                <a:cs typeface="Avenir Next"/>
              </a:rPr>
              <a:t>262 frozen Common Voice Spontaneous English clips • 3,084 s • MacBook Pro M5 • measured 2026-08-18</a:t>
            </a:r>
          </a:p>
        </p:txBody>
      </p:sp>
      <p:sp>
        <p:nvSpPr>
          <p:cNvPr id="10" name="">
            <a:extLst xmlns:a="http://schemas.openxmlformats.org/drawingml/2006/main">
              <a:ext uri="{FF2B5EF4-FFF2-40B4-BE49-F238E27FC236}">
                <a16:creationId xmlns:a16="http://schemas.microsoft.com/office/drawing/2014/main" id="{A399015B-62FF-40B0-BB3A-7165755B86D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1" name="">
            <a:extLst xmlns:a="http://schemas.openxmlformats.org/drawingml/2006/main">
              <a:ext uri="{FF2B5EF4-FFF2-40B4-BE49-F238E27FC236}">
                <a16:creationId xmlns:a16="http://schemas.microsoft.com/office/drawing/2014/main" id="{DE5DF3E3-FEFC-4A20-8256-D7CC8C1F6391}"/>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2" name="">
            <a:extLst xmlns:a="http://schemas.openxmlformats.org/drawingml/2006/main">
              <a:ext uri="{FF2B5EF4-FFF2-40B4-BE49-F238E27FC236}">
                <a16:creationId xmlns:a16="http://schemas.microsoft.com/office/drawing/2014/main" id="{A577227F-D37D-4E05-9E5C-22A467DA921C}"/>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10</a:t>
            </a:r>
          </a:p>
        </p:txBody>
      </p:sp>
    </p:spTree>
    <p:extLst>
      <p:ext uri="{BB962C8B-B14F-4D97-AF65-F5344CB8AC3E}">
        <p14:creationId xmlns:p14="http://schemas.microsoft.com/office/powerpoint/2010/main" val="98581233"/>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6"/>
                                        </p:tgtEl>
                                      </p:cBhvr>
                                    </p:animEffect>
                                  </p:childTnLst>
                                </p:cTn>
                              </p:par>
                            </p:childTnLst>
                          </p:cTn>
                        </p:par>
                      </p:childTnLst>
                    </p:cTn>
                  </p:par>
                </p:childTnLst>
              </p:cTn>
            </p:seq>
          </p:childTnLst>
        </p:cTn>
      </p:par>
    </p:tnLst>
  </p:timing>
</p:sld>
</file>

<file path=ppt/slides/slide11.xml><?xml version="1.0" encoding="utf-8"?>
<p:sld xmlns:p="http://schemas.openxmlformats.org/presentationml/2006/main">
  <p:cSld>
    <p:bg>
      <p:bgPr>
        <a:gradFill xmlns:a="http://schemas.openxmlformats.org/drawingml/2006/main">
          <a:gsLst>
            <a:gs pos="0">
              <a:srgbClr val="08080A"/>
            </a:gs>
            <a:gs pos="65000">
              <a:srgbClr val="131019"/>
            </a:gs>
            <a:gs pos="100000">
              <a:srgbClr val="08080A"/>
            </a:gs>
          </a:gsLst>
          <a:lin ang="72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B4DC1C7-B79F-44A4-BFBB-1D2B4165644E}"/>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11  /  VALUE</a:t>
            </a:r>
          </a:p>
        </p:txBody>
      </p:sp>
      <p:sp>
        <p:nvSpPr>
          <p:cNvPr id="2" name="">
            <a:extLst xmlns:a="http://schemas.openxmlformats.org/drawingml/2006/main">
              <a:ext uri="{FF2B5EF4-FFF2-40B4-BE49-F238E27FC236}">
                <a16:creationId xmlns:a16="http://schemas.microsoft.com/office/drawing/2014/main" id="{14C067B4-BF29-4436-A539-B192D02B1001}"/>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One core. Three real-world wins.</a:t>
            </a:r>
          </a:p>
        </p:txBody>
      </p:sp>
      <p:sp>
        <p:nvSpPr>
          <p:cNvPr id="3" name="">
            <a:extLst xmlns:a="http://schemas.openxmlformats.org/drawingml/2006/main">
              <a:ext uri="{FF2B5EF4-FFF2-40B4-BE49-F238E27FC236}">
                <a16:creationId xmlns:a16="http://schemas.microsoft.com/office/drawing/2014/main" id="{A11235D4-E54D-4747-A173-1D79FD85AF41}"/>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Different users gain value from the same local-first workflow.</a:t>
            </a:r>
          </a:p>
        </p:txBody>
      </p:sp>
      <p:sp>
        <p:nvSpPr>
          <p:cNvPr id="4" name="">
            <a:extLst xmlns:a="http://schemas.openxmlformats.org/drawingml/2006/main">
              <a:ext uri="{FF2B5EF4-FFF2-40B4-BE49-F238E27FC236}">
                <a16:creationId xmlns:a16="http://schemas.microsoft.com/office/drawing/2014/main" id="{F61132D9-2357-491C-9305-BC77B7EA8BC5}"/>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anim-1-value">
            <a:extLst xmlns:a="http://schemas.openxmlformats.org/drawingml/2006/main">
              <a:ext uri="{FF2B5EF4-FFF2-40B4-BE49-F238E27FC236}">
                <a16:creationId xmlns:a16="http://schemas.microsoft.com/office/drawing/2014/main" id="{F8C7C5EE-7CA7-4C94-97A7-17663BC15693}"/>
              </a:ext>
            </a:extLst>
          </p:cNvPr>
          <p:cNvSpPr>
            <a:spLocks xmlns:a="http://schemas.openxmlformats.org/drawingml/2006/main" noGrp="1"/>
          </p:cNvSpPr>
          <p:nvPr/>
        </p:nvSpPr>
        <p:spPr>
          <a:xfrm xmlns:a="http://schemas.openxmlformats.org/drawingml/2006/main">
            <a:off x="609600" y="31051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i="0">
                <a:solidFill>
                  <a:srgbClr val="D7A75E"/>
                </a:solidFill>
                <a:latin typeface="Avenir Next"/>
                <a:ea typeface="Avenir Next"/>
                <a:cs typeface="Avenir Next"/>
              </a:defRPr>
            </a:pPr>
            <a:r>
              <a:rPr sz="3525" b="1" i="0">
                <a:solidFill>
                  <a:srgbClr val="D7A75E"/>
                </a:solidFill>
                <a:latin typeface="Avenir Next"/>
                <a:ea typeface="Avenir Next"/>
                <a:cs typeface="Avenir Next"/>
              </a:rPr>
              <a:t>LEARN</a:t>
            </a:r>
          </a:p>
        </p:txBody>
      </p:sp>
      <p:sp>
        <p:nvSpPr>
          <p:cNvPr id="6" name="">
            <a:extLst xmlns:a="http://schemas.openxmlformats.org/drawingml/2006/main">
              <a:ext uri="{FF2B5EF4-FFF2-40B4-BE49-F238E27FC236}">
                <a16:creationId xmlns:a16="http://schemas.microsoft.com/office/drawing/2014/main" id="{8C706B05-3FF4-4704-BC89-06C802E08319}"/>
              </a:ext>
            </a:extLst>
          </p:cNvPr>
          <p:cNvSpPr>
            <a:spLocks xmlns:a="http://schemas.openxmlformats.org/drawingml/2006/main" noGrp="1"/>
          </p:cNvSpPr>
          <p:nvPr/>
        </p:nvSpPr>
        <p:spPr>
          <a:xfrm xmlns:a="http://schemas.openxmlformats.org/drawingml/2006/main">
            <a:off x="609600" y="4000500"/>
            <a:ext cx="3048000" cy="0"/>
          </a:xfrm>
          <a:prstGeom xmlns:a="http://schemas.openxmlformats.org/drawingml/2006/main" prst="line">
            <a:avLst/>
          </a:prstGeom>
          <a:noFill xmlns:a="http://schemas.openxmlformats.org/drawingml/2006/main"/>
          <a:ln xmlns:a="http://schemas.openxmlformats.org/drawingml/2006/main" w="28575">
            <a:solidFill>
              <a:srgbClr val="D7A75E"/>
            </a:solidFill>
            <a:prstDash val="solid"/>
          </a:ln>
        </p:spPr>
      </p:sp>
      <p:sp>
        <p:nvSpPr>
          <p:cNvPr id="7" name="">
            <a:extLst xmlns:a="http://schemas.openxmlformats.org/drawingml/2006/main">
              <a:ext uri="{FF2B5EF4-FFF2-40B4-BE49-F238E27FC236}">
                <a16:creationId xmlns:a16="http://schemas.microsoft.com/office/drawing/2014/main" id="{E1CBF7FD-510B-4A62-9B1A-C1BB43088C57}"/>
              </a:ext>
            </a:extLst>
          </p:cNvPr>
          <p:cNvSpPr>
            <a:spLocks xmlns:a="http://schemas.openxmlformats.org/drawingml/2006/main" noGrp="1"/>
          </p:cNvSpPr>
          <p:nvPr/>
        </p:nvSpPr>
        <p:spPr>
          <a:xfrm xmlns:a="http://schemas.openxmlformats.org/drawingml/2006/main">
            <a:off x="609600" y="43434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AI/ML integration, evaluation, native macOS engineering, and responsible data design.</a:t>
            </a:r>
          </a:p>
        </p:txBody>
      </p:sp>
      <p:sp>
        <p:nvSpPr>
          <p:cNvPr id="8" name="anim-2-value">
            <a:extLst xmlns:a="http://schemas.openxmlformats.org/drawingml/2006/main">
              <a:ext uri="{FF2B5EF4-FFF2-40B4-BE49-F238E27FC236}">
                <a16:creationId xmlns:a16="http://schemas.microsoft.com/office/drawing/2014/main" id="{C4A63236-2ADA-4609-BCED-6F39C1F403F4}"/>
              </a:ext>
            </a:extLst>
          </p:cNvPr>
          <p:cNvSpPr>
            <a:spLocks xmlns:a="http://schemas.openxmlformats.org/drawingml/2006/main" noGrp="1"/>
          </p:cNvSpPr>
          <p:nvPr/>
        </p:nvSpPr>
        <p:spPr>
          <a:xfrm xmlns:a="http://schemas.openxmlformats.org/drawingml/2006/main">
            <a:off x="4324350" y="31051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i="0">
                <a:solidFill>
                  <a:srgbClr val="7667F2"/>
                </a:solidFill>
                <a:latin typeface="Avenir Next"/>
                <a:ea typeface="Avenir Next"/>
                <a:cs typeface="Avenir Next"/>
              </a:defRPr>
            </a:pPr>
            <a:r>
              <a:rPr sz="3525" b="1" i="0">
                <a:solidFill>
                  <a:srgbClr val="7667F2"/>
                </a:solidFill>
                <a:latin typeface="Avenir Next"/>
                <a:ea typeface="Avenir Next"/>
                <a:cs typeface="Avenir Next"/>
              </a:rPr>
              <a:t>WORK</a:t>
            </a:r>
          </a:p>
        </p:txBody>
      </p:sp>
      <p:sp>
        <p:nvSpPr>
          <p:cNvPr id="9" name="">
            <a:extLst xmlns:a="http://schemas.openxmlformats.org/drawingml/2006/main">
              <a:ext uri="{FF2B5EF4-FFF2-40B4-BE49-F238E27FC236}">
                <a16:creationId xmlns:a16="http://schemas.microsoft.com/office/drawing/2014/main" id="{3B6D61DD-86A0-4986-9CC4-A27A7C0FFECA}"/>
              </a:ext>
            </a:extLst>
          </p:cNvPr>
          <p:cNvSpPr>
            <a:spLocks xmlns:a="http://schemas.openxmlformats.org/drawingml/2006/main" noGrp="1"/>
          </p:cNvSpPr>
          <p:nvPr/>
        </p:nvSpPr>
        <p:spPr>
          <a:xfrm xmlns:a="http://schemas.openxmlformats.org/drawingml/2006/main">
            <a:off x="4324350" y="4000500"/>
            <a:ext cx="3048000" cy="0"/>
          </a:xfrm>
          <a:prstGeom xmlns:a="http://schemas.openxmlformats.org/drawingml/2006/main" prst="line">
            <a:avLst/>
          </a:prstGeom>
          <a:noFill xmlns:a="http://schemas.openxmlformats.org/drawingml/2006/main"/>
          <a:ln xmlns:a="http://schemas.openxmlformats.org/drawingml/2006/main" w="28575">
            <a:solidFill>
              <a:srgbClr val="7667F2"/>
            </a:solidFill>
            <a:prstDash val="solid"/>
          </a:ln>
        </p:spPr>
      </p:sp>
      <p:sp>
        <p:nvSpPr>
          <p:cNvPr id="10" name="">
            <a:extLst xmlns:a="http://schemas.openxmlformats.org/drawingml/2006/main">
              <a:ext uri="{FF2B5EF4-FFF2-40B4-BE49-F238E27FC236}">
                <a16:creationId xmlns:a16="http://schemas.microsoft.com/office/drawing/2014/main" id="{2F45D675-F17D-4E76-8A84-1FE0F7BE68AF}"/>
              </a:ext>
            </a:extLst>
          </p:cNvPr>
          <p:cNvSpPr>
            <a:spLocks xmlns:a="http://schemas.openxmlformats.org/drawingml/2006/main" noGrp="1"/>
          </p:cNvSpPr>
          <p:nvPr/>
        </p:nvSpPr>
        <p:spPr>
          <a:xfrm xmlns:a="http://schemas.openxmlformats.org/drawingml/2006/main">
            <a:off x="4324350" y="43434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Emails, reports, tickets, documentation, and notes without switching tools.</a:t>
            </a:r>
          </a:p>
        </p:txBody>
      </p:sp>
      <p:sp>
        <p:nvSpPr>
          <p:cNvPr id="11" name="anim-3-value">
            <a:extLst xmlns:a="http://schemas.openxmlformats.org/drawingml/2006/main">
              <a:ext uri="{FF2B5EF4-FFF2-40B4-BE49-F238E27FC236}">
                <a16:creationId xmlns:a16="http://schemas.microsoft.com/office/drawing/2014/main" id="{063CEB6A-0370-4F49-95B0-F9517597EC34}"/>
              </a:ext>
            </a:extLst>
          </p:cNvPr>
          <p:cNvSpPr>
            <a:spLocks xmlns:a="http://schemas.openxmlformats.org/drawingml/2006/main" noGrp="1"/>
          </p:cNvSpPr>
          <p:nvPr/>
        </p:nvSpPr>
        <p:spPr>
          <a:xfrm xmlns:a="http://schemas.openxmlformats.org/drawingml/2006/main">
            <a:off x="8039100" y="3105150"/>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i="0">
                <a:solidFill>
                  <a:srgbClr val="4B9CF5"/>
                </a:solidFill>
                <a:latin typeface="Avenir Next"/>
                <a:ea typeface="Avenir Next"/>
                <a:cs typeface="Avenir Next"/>
              </a:defRPr>
            </a:pPr>
            <a:r>
              <a:rPr sz="3525" b="1" i="0">
                <a:solidFill>
                  <a:srgbClr val="4B9CF5"/>
                </a:solidFill>
                <a:latin typeface="Avenir Next"/>
                <a:ea typeface="Avenir Next"/>
                <a:cs typeface="Avenir Next"/>
              </a:rPr>
              <a:t>CONTROL</a:t>
            </a:r>
          </a:p>
        </p:txBody>
      </p:sp>
      <p:sp>
        <p:nvSpPr>
          <p:cNvPr id="12" name="">
            <a:extLst xmlns:a="http://schemas.openxmlformats.org/drawingml/2006/main">
              <a:ext uri="{FF2B5EF4-FFF2-40B4-BE49-F238E27FC236}">
                <a16:creationId xmlns:a16="http://schemas.microsoft.com/office/drawing/2014/main" id="{3B076D8C-36CB-41A7-8FE8-982884326C5A}"/>
              </a:ext>
            </a:extLst>
          </p:cNvPr>
          <p:cNvSpPr>
            <a:spLocks xmlns:a="http://schemas.openxmlformats.org/drawingml/2006/main" noGrp="1"/>
          </p:cNvSpPr>
          <p:nvPr/>
        </p:nvSpPr>
        <p:spPr>
          <a:xfrm xmlns:a="http://schemas.openxmlformats.org/drawingml/2006/main">
            <a:off x="8039100" y="4000500"/>
            <a:ext cx="3048000" cy="0"/>
          </a:xfrm>
          <a:prstGeom xmlns:a="http://schemas.openxmlformats.org/drawingml/2006/main" prst="line">
            <a:avLst/>
          </a:prstGeom>
          <a:noFill xmlns:a="http://schemas.openxmlformats.org/drawingml/2006/main"/>
          <a:ln xmlns:a="http://schemas.openxmlformats.org/drawingml/2006/main" w="28575">
            <a:solidFill>
              <a:srgbClr val="4B9CF5"/>
            </a:solidFill>
            <a:prstDash val="solid"/>
          </a:ln>
        </p:spPr>
      </p:sp>
      <p:sp>
        <p:nvSpPr>
          <p:cNvPr id="13" name="">
            <a:extLst xmlns:a="http://schemas.openxmlformats.org/drawingml/2006/main">
              <a:ext uri="{FF2B5EF4-FFF2-40B4-BE49-F238E27FC236}">
                <a16:creationId xmlns:a16="http://schemas.microsoft.com/office/drawing/2014/main" id="{48D33E77-B50C-4A50-9BFF-7C61E117AD95}"/>
              </a:ext>
            </a:extLst>
          </p:cNvPr>
          <p:cNvSpPr>
            <a:spLocks xmlns:a="http://schemas.openxmlformats.org/drawingml/2006/main" noGrp="1"/>
          </p:cNvSpPr>
          <p:nvPr/>
        </p:nvSpPr>
        <p:spPr>
          <a:xfrm xmlns:a="http://schemas.openxmlformats.org/drawingml/2006/main">
            <a:off x="8039100" y="4343400"/>
            <a:ext cx="3048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D3CED0"/>
                </a:solidFill>
                <a:latin typeface="Avenir Next"/>
                <a:ea typeface="Avenir Next"/>
                <a:cs typeface="Avenir Next"/>
              </a:defRPr>
            </a:pPr>
            <a:r>
              <a:rPr sz="1575" b="0" i="0">
                <a:solidFill>
                  <a:srgbClr val="D3CED0"/>
                </a:solidFill>
                <a:latin typeface="Avenir Next"/>
                <a:ea typeface="Avenir Next"/>
                <a:cs typeface="Avenir Next"/>
              </a:rPr>
              <a:t>Shortcuts, language, correction rules, History, and whether anything is saved.</a:t>
            </a:r>
          </a:p>
        </p:txBody>
      </p:sp>
      <p:sp>
        <p:nvSpPr>
          <p:cNvPr id="14" name="">
            <a:extLst xmlns:a="http://schemas.openxmlformats.org/drawingml/2006/main">
              <a:ext uri="{FF2B5EF4-FFF2-40B4-BE49-F238E27FC236}">
                <a16:creationId xmlns:a16="http://schemas.microsoft.com/office/drawing/2014/main" id="{335C01BF-4BE9-4512-8AFE-7822391BA290}"/>
              </a:ext>
            </a:extLst>
          </p:cNvPr>
          <p:cNvSpPr>
            <a:spLocks xmlns:a="http://schemas.openxmlformats.org/drawingml/2006/main" noGrp="1"/>
          </p:cNvSpPr>
          <p:nvPr/>
        </p:nvSpPr>
        <p:spPr>
          <a:xfrm xmlns:a="http://schemas.openxmlformats.org/drawingml/2006/main">
            <a:off x="609600" y="58102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F7F4EF"/>
                </a:solidFill>
                <a:latin typeface="Avenir Next"/>
                <a:ea typeface="Avenir Next"/>
                <a:cs typeface="Avenir Next"/>
              </a:defRPr>
            </a:pPr>
            <a:r>
              <a:rPr sz="1650" b="1" i="0">
                <a:solidFill>
                  <a:srgbClr val="F7F4EF"/>
                </a:solidFill>
                <a:latin typeface="Avenir Next"/>
                <a:ea typeface="Avenir Next"/>
                <a:cs typeface="Avenir Next"/>
              </a:rPr>
              <a:t>Company product × college project: one codebase creates product value and learning evidence.</a:t>
            </a:r>
          </a:p>
        </p:txBody>
      </p:sp>
      <p:sp>
        <p:nvSpPr>
          <p:cNvPr id="15" name="">
            <a:extLst xmlns:a="http://schemas.openxmlformats.org/drawingml/2006/main">
              <a:ext uri="{FF2B5EF4-FFF2-40B4-BE49-F238E27FC236}">
                <a16:creationId xmlns:a16="http://schemas.microsoft.com/office/drawing/2014/main" id="{01D91A55-0B0A-4969-931F-DC5494418BFC}"/>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6" name="">
            <a:extLst xmlns:a="http://schemas.openxmlformats.org/drawingml/2006/main">
              <a:ext uri="{FF2B5EF4-FFF2-40B4-BE49-F238E27FC236}">
                <a16:creationId xmlns:a16="http://schemas.microsoft.com/office/drawing/2014/main" id="{718A8D7C-8CA3-42C7-B5C4-31BF0BEB866F}"/>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7" name="">
            <a:extLst xmlns:a="http://schemas.openxmlformats.org/drawingml/2006/main">
              <a:ext uri="{FF2B5EF4-FFF2-40B4-BE49-F238E27FC236}">
                <a16:creationId xmlns:a16="http://schemas.microsoft.com/office/drawing/2014/main" id="{66233C18-A1B2-4AD7-B744-A43E8787E419}"/>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11</a:t>
            </a:r>
          </a:p>
        </p:txBody>
      </p:sp>
    </p:spTree>
    <p:extLst>
      <p:ext uri="{BB962C8B-B14F-4D97-AF65-F5344CB8AC3E}">
        <p14:creationId xmlns:p14="http://schemas.microsoft.com/office/powerpoint/2010/main" val="1626776976"/>
      </p:ext>
    </p:extLst>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1"/>
                                        </p:tgtEl>
                                      </p:cBhvr>
                                    </p:animEffect>
                                  </p:childTnLst>
                                </p:cTn>
                              </p:par>
                            </p:childTnLst>
                          </p:cTn>
                        </p:par>
                      </p:childTnLst>
                    </p:cTn>
                  </p:par>
                </p:childTnLst>
              </p:cTn>
            </p:seq>
          </p:childTnLst>
        </p:cTn>
      </p:par>
    </p:tnLst>
  </p:timing>
</p:sld>
</file>

<file path=ppt/slides/slide1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11185ff9e424ca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286CDD-2D96-4748-B837-E16A258F712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080A">
              <a:alpha val="88000"/>
            </a:srgbClr>
          </a:solidFill>
          <a:ln xmlns:a="http://schemas.openxmlformats.org/drawingml/2006/main" w="0">
            <a:solidFill>
              <a:srgbClr val="08080A">
                <a:alpha val="88000"/>
              </a:srgbClr>
            </a:solidFill>
            <a:prstDash val="solid"/>
          </a:ln>
        </p:spPr>
      </p:sp>
      <p:sp>
        <p:nvSpPr>
          <p:cNvPr id="3" name="">
            <a:extLst xmlns:a="http://schemas.openxmlformats.org/drawingml/2006/main">
              <a:ext uri="{FF2B5EF4-FFF2-40B4-BE49-F238E27FC236}">
                <a16:creationId xmlns:a16="http://schemas.microsoft.com/office/drawing/2014/main" id="{2A411A8D-9521-4782-9638-8BBCFA36487E}"/>
              </a:ext>
            </a:extLst>
          </p:cNvPr>
          <p:cNvSpPr>
            <a:spLocks xmlns:a="http://schemas.openxmlformats.org/drawingml/2006/main" noGrp="1"/>
          </p:cNvSpPr>
          <p:nvPr/>
        </p:nvSpPr>
        <p:spPr>
          <a:xfrm xmlns:a="http://schemas.openxmlformats.org/drawingml/2006/main">
            <a:off x="609600" y="4381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12  /  EDUCATION DIRECTION</a:t>
            </a:r>
          </a:p>
        </p:txBody>
      </p:sp>
      <p:sp>
        <p:nvSpPr>
          <p:cNvPr id="4" name="">
            <a:extLst xmlns:a="http://schemas.openxmlformats.org/drawingml/2006/main">
              <a:ext uri="{FF2B5EF4-FFF2-40B4-BE49-F238E27FC236}">
                <a16:creationId xmlns:a16="http://schemas.microsoft.com/office/drawing/2014/main" id="{EF3EDC44-FC80-495D-BD05-BA8471A0E4D4}"/>
              </a:ext>
            </a:extLst>
          </p:cNvPr>
          <p:cNvSpPr>
            <a:spLocks xmlns:a="http://schemas.openxmlformats.org/drawingml/2006/main" noGrp="1"/>
          </p:cNvSpPr>
          <p:nvPr/>
        </p:nvSpPr>
        <p:spPr>
          <a:xfrm xmlns:a="http://schemas.openxmlformats.org/drawingml/2006/main">
            <a:off x="609600" y="876300"/>
            <a:ext cx="590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Capture the lecture.</a:t>
            </a:r>
          </a:p>
          <a:p xmlns:a="http://schemas.openxmlformats.org/drawingml/2006/main">
            <a:pPr algn="l">
              <a:defRPr sz="3900" b="1" i="0">
                <a:solidFill>
                  <a:srgbClr val="F7F4EF"/>
                </a:solidFill>
                <a:latin typeface="Avenir Next"/>
                <a:ea typeface="Avenir Next"/>
                <a:cs typeface="Avenir Next"/>
              </a:defRPr>
            </a:pPr>
            <a:r>
              <a:rPr sz="3900" b="1" i="0">
                <a:solidFill>
                  <a:srgbClr val="F7F4EF"/>
                </a:solidFill>
                <a:latin typeface="Avenir Next"/>
                <a:ea typeface="Avenir Next"/>
                <a:cs typeface="Avenir Next"/>
              </a:rPr>
              <a:t>Protect the people.</a:t>
            </a:r>
          </a:p>
        </p:txBody>
      </p:sp>
      <p:sp>
        <p:nvSpPr>
          <p:cNvPr id="5" name="">
            <a:extLst xmlns:a="http://schemas.openxmlformats.org/drawingml/2006/main">
              <a:ext uri="{FF2B5EF4-FFF2-40B4-BE49-F238E27FC236}">
                <a16:creationId xmlns:a16="http://schemas.microsoft.com/office/drawing/2014/main" id="{B1157C46-D91B-4706-9E54-8E897FCAB0CA}"/>
              </a:ext>
            </a:extLst>
          </p:cNvPr>
          <p:cNvSpPr>
            <a:spLocks xmlns:a="http://schemas.openxmlformats.org/drawingml/2006/main" noGrp="1"/>
          </p:cNvSpPr>
          <p:nvPr/>
        </p:nvSpPr>
        <p:spPr>
          <a:xfrm xmlns:a="http://schemas.openxmlformats.org/drawingml/2006/main">
            <a:off x="609600" y="226695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useful classroom feature must preserve the original and refuse unreliable identity labels.</a:t>
            </a:r>
          </a:p>
        </p:txBody>
      </p:sp>
      <p:sp>
        <p:nvSpPr>
          <p:cNvPr id="6" name="">
            <a:extLst xmlns:a="http://schemas.openxmlformats.org/drawingml/2006/main">
              <a:ext uri="{FF2B5EF4-FFF2-40B4-BE49-F238E27FC236}">
                <a16:creationId xmlns:a16="http://schemas.microsoft.com/office/drawing/2014/main" id="{BE035594-9C29-43E9-A6F6-C22209F70664}"/>
              </a:ext>
            </a:extLst>
          </p:cNvPr>
          <p:cNvSpPr>
            <a:spLocks xmlns:a="http://schemas.openxmlformats.org/drawingml/2006/main" noGrp="1"/>
          </p:cNvSpPr>
          <p:nvPr/>
        </p:nvSpPr>
        <p:spPr>
          <a:xfrm xmlns:a="http://schemas.openxmlformats.org/drawingml/2006/main">
            <a:off x="609600" y="33337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7A75E"/>
                </a:solidFill>
                <a:latin typeface="Avenir Next"/>
                <a:ea typeface="Avenir Next"/>
                <a:cs typeface="Avenir Next"/>
              </a:defRPr>
            </a:pPr>
            <a:r>
              <a:rPr sz="975" b="1" i="0">
                <a:solidFill>
                  <a:srgbClr val="D7A75E"/>
                </a:solidFill>
                <a:latin typeface="Avenir Next"/>
                <a:ea typeface="Avenir Next"/>
                <a:cs typeface="Avenir Next"/>
              </a:rPr>
              <a:t>01</a:t>
            </a:r>
          </a:p>
        </p:txBody>
      </p:sp>
      <p:sp>
        <p:nvSpPr>
          <p:cNvPr id="7" name="anim-1-lecture">
            <a:extLst xmlns:a="http://schemas.openxmlformats.org/drawingml/2006/main">
              <a:ext uri="{FF2B5EF4-FFF2-40B4-BE49-F238E27FC236}">
                <a16:creationId xmlns:a16="http://schemas.microsoft.com/office/drawing/2014/main" id="{F9B66753-9168-4036-8761-680198601891}"/>
              </a:ext>
            </a:extLst>
          </p:cNvPr>
          <p:cNvSpPr>
            <a:spLocks xmlns:a="http://schemas.openxmlformats.org/drawingml/2006/main" noGrp="1"/>
          </p:cNvSpPr>
          <p:nvPr/>
        </p:nvSpPr>
        <p:spPr>
          <a:xfrm xmlns:a="http://schemas.openxmlformats.org/drawingml/2006/main">
            <a:off x="1123950" y="33051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Capture</a:t>
            </a:r>
          </a:p>
        </p:txBody>
      </p:sp>
      <p:sp>
        <p:nvSpPr>
          <p:cNvPr id="8" name="">
            <a:extLst xmlns:a="http://schemas.openxmlformats.org/drawingml/2006/main">
              <a:ext uri="{FF2B5EF4-FFF2-40B4-BE49-F238E27FC236}">
                <a16:creationId xmlns:a16="http://schemas.microsoft.com/office/drawing/2014/main" id="{78B693C9-D886-4683-91F9-3CCA51CCE161}"/>
              </a:ext>
            </a:extLst>
          </p:cNvPr>
          <p:cNvSpPr>
            <a:spLocks xmlns:a="http://schemas.openxmlformats.org/drawingml/2006/main" noGrp="1"/>
          </p:cNvSpPr>
          <p:nvPr/>
        </p:nvSpPr>
        <p:spPr>
          <a:xfrm xmlns:a="http://schemas.openxmlformats.org/drawingml/2006/main">
            <a:off x="2724150" y="3333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Local 16 kHz WAV</a:t>
            </a:r>
          </a:p>
        </p:txBody>
      </p:sp>
      <p:sp>
        <p:nvSpPr>
          <p:cNvPr id="9" name="">
            <a:extLst xmlns:a="http://schemas.openxmlformats.org/drawingml/2006/main">
              <a:ext uri="{FF2B5EF4-FFF2-40B4-BE49-F238E27FC236}">
                <a16:creationId xmlns:a16="http://schemas.microsoft.com/office/drawing/2014/main" id="{17143E14-F26D-421C-8BC9-B4A215DFCEF1}"/>
              </a:ext>
            </a:extLst>
          </p:cNvPr>
          <p:cNvSpPr>
            <a:spLocks xmlns:a="http://schemas.openxmlformats.org/drawingml/2006/main" noGrp="1"/>
          </p:cNvSpPr>
          <p:nvPr/>
        </p:nvSpPr>
        <p:spPr>
          <a:xfrm xmlns:a="http://schemas.openxmlformats.org/drawingml/2006/main">
            <a:off x="609600" y="411480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7667F2"/>
                </a:solidFill>
                <a:latin typeface="Avenir Next"/>
                <a:ea typeface="Avenir Next"/>
                <a:cs typeface="Avenir Next"/>
              </a:defRPr>
            </a:pPr>
            <a:r>
              <a:rPr sz="975" b="1" i="0">
                <a:solidFill>
                  <a:srgbClr val="7667F2"/>
                </a:solidFill>
                <a:latin typeface="Avenir Next"/>
                <a:ea typeface="Avenir Next"/>
                <a:cs typeface="Avenir Next"/>
              </a:rPr>
              <a:t>02</a:t>
            </a:r>
          </a:p>
        </p:txBody>
      </p:sp>
      <p:sp>
        <p:nvSpPr>
          <p:cNvPr id="10" name="anim-2-lecture">
            <a:extLst xmlns:a="http://schemas.openxmlformats.org/drawingml/2006/main">
              <a:ext uri="{FF2B5EF4-FFF2-40B4-BE49-F238E27FC236}">
                <a16:creationId xmlns:a16="http://schemas.microsoft.com/office/drawing/2014/main" id="{58ADF724-C7CE-4BC7-ACDD-805BDA290703}"/>
              </a:ext>
            </a:extLst>
          </p:cNvPr>
          <p:cNvSpPr>
            <a:spLocks xmlns:a="http://schemas.openxmlformats.org/drawingml/2006/main" noGrp="1"/>
          </p:cNvSpPr>
          <p:nvPr/>
        </p:nvSpPr>
        <p:spPr>
          <a:xfrm xmlns:a="http://schemas.openxmlformats.org/drawingml/2006/main">
            <a:off x="1123950" y="40862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Transcribe</a:t>
            </a:r>
          </a:p>
        </p:txBody>
      </p:sp>
      <p:sp>
        <p:nvSpPr>
          <p:cNvPr id="11" name="">
            <a:extLst xmlns:a="http://schemas.openxmlformats.org/drawingml/2006/main">
              <a:ext uri="{FF2B5EF4-FFF2-40B4-BE49-F238E27FC236}">
                <a16:creationId xmlns:a16="http://schemas.microsoft.com/office/drawing/2014/main" id="{FA16502C-E3CA-474D-BACA-7FA4FD17CA25}"/>
              </a:ext>
            </a:extLst>
          </p:cNvPr>
          <p:cNvSpPr>
            <a:spLocks xmlns:a="http://schemas.openxmlformats.org/drawingml/2006/main" noGrp="1"/>
          </p:cNvSpPr>
          <p:nvPr/>
        </p:nvSpPr>
        <p:spPr>
          <a:xfrm xmlns:a="http://schemas.openxmlformats.org/drawingml/2006/main">
            <a:off x="2724150" y="41148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Immutable local original</a:t>
            </a:r>
          </a:p>
        </p:txBody>
      </p:sp>
      <p:sp>
        <p:nvSpPr>
          <p:cNvPr id="12" name="">
            <a:extLst xmlns:a="http://schemas.openxmlformats.org/drawingml/2006/main">
              <a:ext uri="{FF2B5EF4-FFF2-40B4-BE49-F238E27FC236}">
                <a16:creationId xmlns:a16="http://schemas.microsoft.com/office/drawing/2014/main" id="{E6D717F8-2EE5-4533-B025-4F2BCF3FA495}"/>
              </a:ext>
            </a:extLst>
          </p:cNvPr>
          <p:cNvSpPr>
            <a:spLocks xmlns:a="http://schemas.openxmlformats.org/drawingml/2006/main" noGrp="1"/>
          </p:cNvSpPr>
          <p:nvPr/>
        </p:nvSpPr>
        <p:spPr>
          <a:xfrm xmlns:a="http://schemas.openxmlformats.org/drawingml/2006/main">
            <a:off x="609600" y="48958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4B9CF5"/>
                </a:solidFill>
                <a:latin typeface="Avenir Next"/>
                <a:ea typeface="Avenir Next"/>
                <a:cs typeface="Avenir Next"/>
              </a:defRPr>
            </a:pPr>
            <a:r>
              <a:rPr sz="975" b="1" i="0">
                <a:solidFill>
                  <a:srgbClr val="4B9CF5"/>
                </a:solidFill>
                <a:latin typeface="Avenir Next"/>
                <a:ea typeface="Avenir Next"/>
                <a:cs typeface="Avenir Next"/>
              </a:rPr>
              <a:t>03</a:t>
            </a:r>
          </a:p>
        </p:txBody>
      </p:sp>
      <p:sp>
        <p:nvSpPr>
          <p:cNvPr id="13" name="anim-3-lecture">
            <a:extLst xmlns:a="http://schemas.openxmlformats.org/drawingml/2006/main">
              <a:ext uri="{FF2B5EF4-FFF2-40B4-BE49-F238E27FC236}">
                <a16:creationId xmlns:a16="http://schemas.microsoft.com/office/drawing/2014/main" id="{1249B707-40B7-4463-8CC2-459926A0C857}"/>
              </a:ext>
            </a:extLst>
          </p:cNvPr>
          <p:cNvSpPr>
            <a:spLocks xmlns:a="http://schemas.openxmlformats.org/drawingml/2006/main" noGrp="1"/>
          </p:cNvSpPr>
          <p:nvPr/>
        </p:nvSpPr>
        <p:spPr>
          <a:xfrm xmlns:a="http://schemas.openxmlformats.org/drawingml/2006/main">
            <a:off x="1123950" y="48672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F7F4EF"/>
                </a:solidFill>
                <a:latin typeface="Avenir Next"/>
                <a:ea typeface="Avenir Next"/>
                <a:cs typeface="Avenir Next"/>
              </a:defRPr>
            </a:pPr>
            <a:r>
              <a:rPr sz="1800" b="1" i="0">
                <a:solidFill>
                  <a:srgbClr val="F7F4EF"/>
                </a:solidFill>
                <a:latin typeface="Avenir Next"/>
                <a:ea typeface="Avenir Next"/>
                <a:cs typeface="Avenir Next"/>
              </a:rPr>
              <a:t>Summarize</a:t>
            </a:r>
          </a:p>
        </p:txBody>
      </p:sp>
      <p:sp>
        <p:nvSpPr>
          <p:cNvPr id="14" name="">
            <a:extLst xmlns:a="http://schemas.openxmlformats.org/drawingml/2006/main">
              <a:ext uri="{FF2B5EF4-FFF2-40B4-BE49-F238E27FC236}">
                <a16:creationId xmlns:a16="http://schemas.microsoft.com/office/drawing/2014/main" id="{7627D6F9-96E6-4A2D-B148-6B1622416099}"/>
              </a:ext>
            </a:extLst>
          </p:cNvPr>
          <p:cNvSpPr>
            <a:spLocks xmlns:a="http://schemas.openxmlformats.org/drawingml/2006/main" noGrp="1"/>
          </p:cNvSpPr>
          <p:nvPr/>
        </p:nvSpPr>
        <p:spPr>
          <a:xfrm xmlns:a="http://schemas.openxmlformats.org/drawingml/2006/main">
            <a:off x="2724150" y="4895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D3CED0"/>
                </a:solidFill>
                <a:latin typeface="Avenir Next"/>
                <a:ea typeface="Avenir Next"/>
                <a:cs typeface="Avenir Next"/>
              </a:defRPr>
            </a:pPr>
            <a:r>
              <a:rPr sz="1425" b="0" i="0">
                <a:solidFill>
                  <a:srgbClr val="D3CED0"/>
                </a:solidFill>
                <a:latin typeface="Avenir Next"/>
                <a:ea typeface="Avenir Next"/>
                <a:cs typeface="Avenir Next"/>
              </a:rPr>
              <a:t>Optional text-only BYO-key path</a:t>
            </a:r>
          </a:p>
        </p:txBody>
      </p:sp>
      <p:sp>
        <p:nvSpPr>
          <p:cNvPr id="15" name="">
            <a:extLst xmlns:a="http://schemas.openxmlformats.org/drawingml/2006/main">
              <a:ext uri="{FF2B5EF4-FFF2-40B4-BE49-F238E27FC236}">
                <a16:creationId xmlns:a16="http://schemas.microsoft.com/office/drawing/2014/main" id="{0840CFD0-FB1B-4D48-9C58-2145FD85ADDA}"/>
              </a:ext>
            </a:extLst>
          </p:cNvPr>
          <p:cNvSpPr>
            <a:spLocks xmlns:a="http://schemas.openxmlformats.org/drawingml/2006/main" noGrp="1"/>
          </p:cNvSpPr>
          <p:nvPr/>
        </p:nvSpPr>
        <p:spPr>
          <a:xfrm xmlns:a="http://schemas.openxmlformats.org/drawingml/2006/main">
            <a:off x="609600" y="5829300"/>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EF6A5B"/>
                </a:solidFill>
                <a:latin typeface="Avenir Next"/>
                <a:ea typeface="Avenir Next"/>
                <a:cs typeface="Avenir Next"/>
              </a:defRPr>
            </a:pPr>
            <a:r>
              <a:rPr sz="1500" b="1" i="0">
                <a:solidFill>
                  <a:srgbClr val="EF6A5B"/>
                </a:solidFill>
                <a:latin typeface="Avenir Next"/>
                <a:ea typeface="Avenir Next"/>
                <a:cs typeface="Avenir Next"/>
              </a:rPr>
              <a:t>Speaker diarization remains gated: tested candidates did not meet the reliability threshold.</a:t>
            </a:r>
          </a:p>
        </p:txBody>
      </p:sp>
      <p:sp>
        <p:nvSpPr>
          <p:cNvPr id="16" name="">
            <a:extLst xmlns:a="http://schemas.openxmlformats.org/drawingml/2006/main">
              <a:ext uri="{FF2B5EF4-FFF2-40B4-BE49-F238E27FC236}">
                <a16:creationId xmlns:a16="http://schemas.microsoft.com/office/drawing/2014/main" id="{4A42A901-ACD2-4CE0-BE25-7F8EAEA0427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5D73A88C-9850-4222-A61B-F61781B66886}"/>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6E3989E8-6B3C-49D8-B2E2-0D33B261CF2B}"/>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12</a:t>
            </a:r>
          </a:p>
        </p:txBody>
      </p:sp>
    </p:spTree>
    <p:extLst>
      <p:ext uri="{BB962C8B-B14F-4D97-AF65-F5344CB8AC3E}">
        <p14:creationId xmlns:p14="http://schemas.microsoft.com/office/powerpoint/2010/main" val="394065892"/>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5FF880-34EE-4659-9ACA-8ED24BED6747}"/>
              </a:ext>
            </a:extLst>
          </p:cNvPr>
          <p:cNvSpPr>
            <a:spLocks xmlns:a="http://schemas.openxmlformats.org/drawingml/2006/main" noGrp="1"/>
          </p:cNvSpPr>
          <p:nvPr/>
        </p:nvSpPr>
        <p:spPr>
          <a:xfrm xmlns:a="http://schemas.openxmlformats.org/drawingml/2006/main">
            <a:off x="609600" y="4000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0C47C"/>
                </a:solidFill>
                <a:latin typeface="Avenir Next"/>
                <a:ea typeface="Avenir Next"/>
                <a:cs typeface="Avenir Next"/>
              </a:defRPr>
            </a:pPr>
            <a:r>
              <a:rPr sz="1050" b="1" i="0">
                <a:solidFill>
                  <a:srgbClr val="F0C47C"/>
                </a:solidFill>
                <a:latin typeface="Avenir Next"/>
                <a:ea typeface="Avenir Next"/>
                <a:cs typeface="Avenir Next"/>
              </a:rPr>
              <a:t>13  /  ROADMAP</a:t>
            </a:r>
          </a:p>
        </p:txBody>
      </p:sp>
      <p:sp>
        <p:nvSpPr>
          <p:cNvPr id="2" name="">
            <a:extLst xmlns:a="http://schemas.openxmlformats.org/drawingml/2006/main">
              <a:ext uri="{FF2B5EF4-FFF2-40B4-BE49-F238E27FC236}">
                <a16:creationId xmlns:a16="http://schemas.microsoft.com/office/drawing/2014/main" id="{10381254-9658-472F-8D93-5AA455A9F094}"/>
              </a:ext>
            </a:extLst>
          </p:cNvPr>
          <p:cNvSpPr>
            <a:spLocks xmlns:a="http://schemas.openxmlformats.org/drawingml/2006/main" noGrp="1"/>
          </p:cNvSpPr>
          <p:nvPr/>
        </p:nvSpPr>
        <p:spPr>
          <a:xfrm xmlns:a="http://schemas.openxmlformats.org/drawingml/2006/main">
            <a:off x="609600" y="800100"/>
            <a:ext cx="10934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7F4EF"/>
                </a:solidFill>
                <a:latin typeface="Avenir Next"/>
                <a:ea typeface="Avenir Next"/>
                <a:cs typeface="Avenir Next"/>
              </a:defRPr>
            </a:pPr>
            <a:r>
              <a:rPr sz="3600" b="1" i="0">
                <a:solidFill>
                  <a:srgbClr val="F7F4EF"/>
                </a:solidFill>
                <a:latin typeface="Avenir Next"/>
                <a:ea typeface="Avenir Next"/>
                <a:cs typeface="Avenir Next"/>
              </a:rPr>
              <a:t>Working alpha. Evidence-gated release.</a:t>
            </a:r>
          </a:p>
        </p:txBody>
      </p:sp>
      <p:sp>
        <p:nvSpPr>
          <p:cNvPr id="3" name="">
            <a:extLst xmlns:a="http://schemas.openxmlformats.org/drawingml/2006/main">
              <a:ext uri="{FF2B5EF4-FFF2-40B4-BE49-F238E27FC236}">
                <a16:creationId xmlns:a16="http://schemas.microsoft.com/office/drawing/2014/main" id="{387B0302-6607-4582-98AE-F8EAEEA78294}"/>
              </a:ext>
            </a:extLst>
          </p:cNvPr>
          <p:cNvSpPr>
            <a:spLocks xmlns:a="http://schemas.openxmlformats.org/drawingml/2006/main" noGrp="1"/>
          </p:cNvSpPr>
          <p:nvPr/>
        </p:nvSpPr>
        <p:spPr>
          <a:xfrm xmlns:a="http://schemas.openxmlformats.org/drawingml/2006/main">
            <a:off x="609600" y="17526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3CED0"/>
                </a:solidFill>
                <a:latin typeface="Avenir Next"/>
                <a:ea typeface="Avenir Next"/>
                <a:cs typeface="Avenir Next"/>
              </a:defRPr>
            </a:pPr>
            <a:r>
              <a:rPr sz="1650" b="0" i="0">
                <a:solidFill>
                  <a:srgbClr val="D3CED0"/>
                </a:solidFill>
                <a:latin typeface="Avenir Next"/>
                <a:ea typeface="Avenir Next"/>
                <a:cs typeface="Avenir Next"/>
              </a:rPr>
              <a:t>A running app is real progress; shipping needs a verified package and a clean-device experience.</a:t>
            </a:r>
          </a:p>
        </p:txBody>
      </p:sp>
      <p:sp>
        <p:nvSpPr>
          <p:cNvPr id="4" name="">
            <a:extLst xmlns:a="http://schemas.openxmlformats.org/drawingml/2006/main">
              <a:ext uri="{FF2B5EF4-FFF2-40B4-BE49-F238E27FC236}">
                <a16:creationId xmlns:a16="http://schemas.microsoft.com/office/drawing/2014/main" id="{2CC75169-0F6D-4D02-9D34-6FC72E7B70F8}"/>
              </a:ext>
            </a:extLst>
          </p:cNvPr>
          <p:cNvSpPr>
            <a:spLocks xmlns:a="http://schemas.openxmlformats.org/drawingml/2006/main" noGrp="1"/>
          </p:cNvSpPr>
          <p:nvPr/>
        </p:nvSpPr>
        <p:spPr>
          <a:xfrm xmlns:a="http://schemas.openxmlformats.org/drawingml/2006/main">
            <a:off x="609600" y="241935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5" name="">
            <a:extLst xmlns:a="http://schemas.openxmlformats.org/drawingml/2006/main">
              <a:ext uri="{FF2B5EF4-FFF2-40B4-BE49-F238E27FC236}">
                <a16:creationId xmlns:a16="http://schemas.microsoft.com/office/drawing/2014/main" id="{F4FAFF02-54FB-4625-9B0D-15ECB08AE141}"/>
              </a:ext>
            </a:extLst>
          </p:cNvPr>
          <p:cNvSpPr>
            <a:spLocks xmlns:a="http://schemas.openxmlformats.org/drawingml/2006/main" noGrp="1"/>
          </p:cNvSpPr>
          <p:nvPr/>
        </p:nvSpPr>
        <p:spPr>
          <a:xfrm xmlns:a="http://schemas.openxmlformats.org/drawingml/2006/main">
            <a:off x="1428750" y="4057650"/>
            <a:ext cx="9239250" cy="0"/>
          </a:xfrm>
          <a:prstGeom xmlns:a="http://schemas.openxmlformats.org/drawingml/2006/main" prst="line">
            <a:avLst/>
          </a:prstGeom>
          <a:noFill xmlns:a="http://schemas.openxmlformats.org/drawingml/2006/main"/>
          <a:ln xmlns:a="http://schemas.openxmlformats.org/drawingml/2006/main" w="38100">
            <a:solidFill>
              <a:srgbClr val="36333E"/>
            </a:solidFill>
            <a:prstDash val="solid"/>
          </a:ln>
        </p:spPr>
      </p:sp>
      <p:sp>
        <p:nvSpPr>
          <p:cNvPr id="6" name="motion-dot-1">
            <a:extLst xmlns:a="http://schemas.openxmlformats.org/drawingml/2006/main">
              <a:ext uri="{FF2B5EF4-FFF2-40B4-BE49-F238E27FC236}">
                <a16:creationId xmlns:a16="http://schemas.microsoft.com/office/drawing/2014/main" id="{0AC28F54-D79A-414F-800C-FCE656FFD592}"/>
              </a:ext>
            </a:extLst>
          </p:cNvPr>
          <p:cNvSpPr>
            <a:spLocks xmlns:a="http://schemas.openxmlformats.org/drawingml/2006/main" noGrp="1"/>
          </p:cNvSpPr>
          <p:nvPr/>
        </p:nvSpPr>
        <p:spPr>
          <a:xfrm xmlns:a="http://schemas.openxmlformats.org/drawingml/2006/main">
            <a:off x="1638300" y="3714750"/>
            <a:ext cx="685800" cy="685800"/>
          </a:xfrm>
          <a:prstGeom xmlns:a="http://schemas.openxmlformats.org/drawingml/2006/main" prst="ellipse">
            <a:avLst/>
          </a:prstGeom>
          <a:solidFill xmlns:a="http://schemas.openxmlformats.org/drawingml/2006/main">
            <a:srgbClr val="52B788"/>
          </a:solidFill>
          <a:ln xmlns:a="http://schemas.openxmlformats.org/drawingml/2006/main" w="0">
            <a:solidFill>
              <a:srgbClr val="52B788"/>
            </a:solidFill>
            <a:prstDash val="solid"/>
          </a:ln>
        </p:spPr>
      </p:sp>
      <p:sp>
        <p:nvSpPr>
          <p:cNvPr id="7" name="anim-1-roadmap">
            <a:extLst xmlns:a="http://schemas.openxmlformats.org/drawingml/2006/main">
              <a:ext uri="{FF2B5EF4-FFF2-40B4-BE49-F238E27FC236}">
                <a16:creationId xmlns:a16="http://schemas.microsoft.com/office/drawing/2014/main" id="{91D59AC8-DC00-4730-A31E-994ADB5DB603}"/>
              </a:ext>
            </a:extLst>
          </p:cNvPr>
          <p:cNvSpPr>
            <a:spLocks xmlns:a="http://schemas.openxmlformats.org/drawingml/2006/main" noGrp="1"/>
          </p:cNvSpPr>
          <p:nvPr/>
        </p:nvSpPr>
        <p:spPr>
          <a:xfrm xmlns:a="http://schemas.openxmlformats.org/drawingml/2006/main">
            <a:off x="118110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52B788"/>
                </a:solidFill>
                <a:latin typeface="Avenir Next"/>
                <a:ea typeface="Avenir Next"/>
                <a:cs typeface="Avenir Next"/>
              </a:defRPr>
            </a:pPr>
            <a:r>
              <a:rPr sz="1725" b="1" i="0">
                <a:solidFill>
                  <a:srgbClr val="52B788"/>
                </a:solidFill>
                <a:latin typeface="Avenir Next"/>
                <a:ea typeface="Avenir Next"/>
                <a:cs typeface="Avenir Next"/>
              </a:rPr>
              <a:t>NOW</a:t>
            </a:r>
          </a:p>
        </p:txBody>
      </p:sp>
      <p:sp>
        <p:nvSpPr>
          <p:cNvPr id="8" name="">
            <a:extLst xmlns:a="http://schemas.openxmlformats.org/drawingml/2006/main">
              <a:ext uri="{FF2B5EF4-FFF2-40B4-BE49-F238E27FC236}">
                <a16:creationId xmlns:a16="http://schemas.microsoft.com/office/drawing/2014/main" id="{934E655C-FB27-42FA-A07F-9897B2C46060}"/>
              </a:ext>
            </a:extLst>
          </p:cNvPr>
          <p:cNvSpPr>
            <a:spLocks xmlns:a="http://schemas.openxmlformats.org/drawingml/2006/main" noGrp="1"/>
          </p:cNvSpPr>
          <p:nvPr/>
        </p:nvSpPr>
        <p:spPr>
          <a:xfrm xmlns:a="http://schemas.openxmlformats.org/drawingml/2006/main">
            <a:off x="66675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Native menu-bar app</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Local engines</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Encrypted History</a:t>
            </a:r>
          </a:p>
        </p:txBody>
      </p:sp>
      <p:sp>
        <p:nvSpPr>
          <p:cNvPr id="9" name="motion-dot-2">
            <a:extLst xmlns:a="http://schemas.openxmlformats.org/drawingml/2006/main">
              <a:ext uri="{FF2B5EF4-FFF2-40B4-BE49-F238E27FC236}">
                <a16:creationId xmlns:a16="http://schemas.microsoft.com/office/drawing/2014/main" id="{05F0B9E0-253C-4D6F-B045-0D57E8F2E84D}"/>
              </a:ext>
            </a:extLst>
          </p:cNvPr>
          <p:cNvSpPr>
            <a:spLocks xmlns:a="http://schemas.openxmlformats.org/drawingml/2006/main" noGrp="1"/>
          </p:cNvSpPr>
          <p:nvPr/>
        </p:nvSpPr>
        <p:spPr>
          <a:xfrm xmlns:a="http://schemas.openxmlformats.org/drawingml/2006/main">
            <a:off x="5572125" y="3714750"/>
            <a:ext cx="685800" cy="685800"/>
          </a:xfrm>
          <a:prstGeom xmlns:a="http://schemas.openxmlformats.org/drawingml/2006/main" prst="ellipse">
            <a:avLst/>
          </a:prstGeom>
          <a:solidFill xmlns:a="http://schemas.openxmlformats.org/drawingml/2006/main">
            <a:srgbClr val="D7A75E"/>
          </a:solidFill>
          <a:ln xmlns:a="http://schemas.openxmlformats.org/drawingml/2006/main" w="0">
            <a:solidFill>
              <a:srgbClr val="D7A75E"/>
            </a:solidFill>
            <a:prstDash val="solid"/>
          </a:ln>
        </p:spPr>
      </p:sp>
      <p:sp>
        <p:nvSpPr>
          <p:cNvPr id="10" name="anim-2-roadmap">
            <a:extLst xmlns:a="http://schemas.openxmlformats.org/drawingml/2006/main">
              <a:ext uri="{FF2B5EF4-FFF2-40B4-BE49-F238E27FC236}">
                <a16:creationId xmlns:a16="http://schemas.microsoft.com/office/drawing/2014/main" id="{1C6FDA90-5B37-4CE5-9220-0A36EB7FE940}"/>
              </a:ext>
            </a:extLst>
          </p:cNvPr>
          <p:cNvSpPr>
            <a:spLocks xmlns:a="http://schemas.openxmlformats.org/drawingml/2006/main" noGrp="1"/>
          </p:cNvSpPr>
          <p:nvPr/>
        </p:nvSpPr>
        <p:spPr>
          <a:xfrm xmlns:a="http://schemas.openxmlformats.org/drawingml/2006/main">
            <a:off x="5114925"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D7A75E"/>
                </a:solidFill>
                <a:latin typeface="Avenir Next"/>
                <a:ea typeface="Avenir Next"/>
                <a:cs typeface="Avenir Next"/>
              </a:defRPr>
            </a:pPr>
            <a:r>
              <a:rPr sz="1725" b="1" i="0">
                <a:solidFill>
                  <a:srgbClr val="D7A75E"/>
                </a:solidFill>
                <a:latin typeface="Avenir Next"/>
                <a:ea typeface="Avenir Next"/>
                <a:cs typeface="Avenir Next"/>
              </a:rPr>
              <a:t>NEXT</a:t>
            </a:r>
          </a:p>
        </p:txBody>
      </p:sp>
      <p:sp>
        <p:nvSpPr>
          <p:cNvPr id="11" name="">
            <a:extLst xmlns:a="http://schemas.openxmlformats.org/drawingml/2006/main">
              <a:ext uri="{FF2B5EF4-FFF2-40B4-BE49-F238E27FC236}">
                <a16:creationId xmlns:a16="http://schemas.microsoft.com/office/drawing/2014/main" id="{323C86DF-DFED-4801-B167-65F5BA52C543}"/>
              </a:ext>
            </a:extLst>
          </p:cNvPr>
          <p:cNvSpPr>
            <a:spLocks xmlns:a="http://schemas.openxmlformats.org/drawingml/2006/main" noGrp="1"/>
          </p:cNvSpPr>
          <p:nvPr/>
        </p:nvSpPr>
        <p:spPr>
          <a:xfrm xmlns:a="http://schemas.openxmlformats.org/drawingml/2006/main">
            <a:off x="4600575"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Daily reliability</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Lifecycle coverage</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Manual QA</a:t>
            </a:r>
          </a:p>
        </p:txBody>
      </p:sp>
      <p:sp>
        <p:nvSpPr>
          <p:cNvPr id="12" name="motion-dot-3">
            <a:extLst xmlns:a="http://schemas.openxmlformats.org/drawingml/2006/main">
              <a:ext uri="{FF2B5EF4-FFF2-40B4-BE49-F238E27FC236}">
                <a16:creationId xmlns:a16="http://schemas.microsoft.com/office/drawing/2014/main" id="{9CBAD509-69A3-4083-9CDB-EDDC32C761AA}"/>
              </a:ext>
            </a:extLst>
          </p:cNvPr>
          <p:cNvSpPr>
            <a:spLocks xmlns:a="http://schemas.openxmlformats.org/drawingml/2006/main" noGrp="1"/>
          </p:cNvSpPr>
          <p:nvPr/>
        </p:nvSpPr>
        <p:spPr>
          <a:xfrm xmlns:a="http://schemas.openxmlformats.org/drawingml/2006/main">
            <a:off x="9505950" y="3714750"/>
            <a:ext cx="685800" cy="685800"/>
          </a:xfrm>
          <a:prstGeom xmlns:a="http://schemas.openxmlformats.org/drawingml/2006/main" prst="ellipse">
            <a:avLst/>
          </a:prstGeom>
          <a:solidFill xmlns:a="http://schemas.openxmlformats.org/drawingml/2006/main">
            <a:srgbClr val="EF6A5B"/>
          </a:solidFill>
          <a:ln xmlns:a="http://schemas.openxmlformats.org/drawingml/2006/main" w="0">
            <a:solidFill>
              <a:srgbClr val="EF6A5B"/>
            </a:solidFill>
            <a:prstDash val="solid"/>
          </a:ln>
        </p:spPr>
      </p:sp>
      <p:sp>
        <p:nvSpPr>
          <p:cNvPr id="13" name="anim-3-roadmap">
            <a:extLst xmlns:a="http://schemas.openxmlformats.org/drawingml/2006/main">
              <a:ext uri="{FF2B5EF4-FFF2-40B4-BE49-F238E27FC236}">
                <a16:creationId xmlns:a16="http://schemas.microsoft.com/office/drawing/2014/main" id="{3AC46DC1-685E-4E6C-9CDE-B16FA7BDC680}"/>
              </a:ext>
            </a:extLst>
          </p:cNvPr>
          <p:cNvSpPr>
            <a:spLocks xmlns:a="http://schemas.openxmlformats.org/drawingml/2006/main" noGrp="1"/>
          </p:cNvSpPr>
          <p:nvPr/>
        </p:nvSpPr>
        <p:spPr>
          <a:xfrm xmlns:a="http://schemas.openxmlformats.org/drawingml/2006/main">
            <a:off x="9048750" y="4648200"/>
            <a:ext cx="1600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EF6A5B"/>
                </a:solidFill>
                <a:latin typeface="Avenir Next"/>
                <a:ea typeface="Avenir Next"/>
                <a:cs typeface="Avenir Next"/>
              </a:defRPr>
            </a:pPr>
            <a:r>
              <a:rPr sz="1725" b="1" i="0">
                <a:solidFill>
                  <a:srgbClr val="EF6A5B"/>
                </a:solidFill>
                <a:latin typeface="Avenir Next"/>
                <a:ea typeface="Avenir Next"/>
                <a:cs typeface="Avenir Next"/>
              </a:rPr>
              <a:t>SHIP</a:t>
            </a:r>
          </a:p>
        </p:txBody>
      </p:sp>
      <p:sp>
        <p:nvSpPr>
          <p:cNvPr id="14" name="">
            <a:extLst xmlns:a="http://schemas.openxmlformats.org/drawingml/2006/main">
              <a:ext uri="{FF2B5EF4-FFF2-40B4-BE49-F238E27FC236}">
                <a16:creationId xmlns:a16="http://schemas.microsoft.com/office/drawing/2014/main" id="{926D1340-D623-4A63-9959-6453F8C8EBD9}"/>
              </a:ext>
            </a:extLst>
          </p:cNvPr>
          <p:cNvSpPr>
            <a:spLocks xmlns:a="http://schemas.openxmlformats.org/drawingml/2006/main" noGrp="1"/>
          </p:cNvSpPr>
          <p:nvPr/>
        </p:nvSpPr>
        <p:spPr>
          <a:xfrm xmlns:a="http://schemas.openxmlformats.org/drawingml/2006/main">
            <a:off x="8534400" y="5105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Developer ID signing</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Notarization</a:t>
            </a:r>
          </a:p>
          <a:p xmlns:a="http://schemas.openxmlformats.org/drawingml/2006/main">
            <a:pPr algn="ctr">
              <a:defRPr sz="1350" b="0" i="0">
                <a:solidFill>
                  <a:srgbClr val="D3CED0"/>
                </a:solidFill>
                <a:latin typeface="Avenir Next"/>
                <a:ea typeface="Avenir Next"/>
                <a:cs typeface="Avenir Next"/>
              </a:defRPr>
            </a:pPr>
            <a:r>
              <a:rPr sz="1350" b="0" i="0">
                <a:solidFill>
                  <a:srgbClr val="D3CED0"/>
                </a:solidFill>
                <a:latin typeface="Avenir Next"/>
                <a:ea typeface="Avenir Next"/>
                <a:cs typeface="Avenir Next"/>
              </a:rPr>
              <a:t>Clean-device + accessibility QA</a:t>
            </a:r>
          </a:p>
        </p:txBody>
      </p:sp>
      <p:sp>
        <p:nvSpPr>
          <p:cNvPr id="15" name="">
            <a:extLst xmlns:a="http://schemas.openxmlformats.org/drawingml/2006/main">
              <a:ext uri="{FF2B5EF4-FFF2-40B4-BE49-F238E27FC236}">
                <a16:creationId xmlns:a16="http://schemas.microsoft.com/office/drawing/2014/main" id="{CEF32FE9-4124-46BC-9E69-AC9575AE824B}"/>
              </a:ext>
            </a:extLst>
          </p:cNvPr>
          <p:cNvSpPr>
            <a:spLocks xmlns:a="http://schemas.openxmlformats.org/drawingml/2006/main" noGrp="1"/>
          </p:cNvSpPr>
          <p:nvPr/>
        </p:nvSpPr>
        <p:spPr>
          <a:xfrm xmlns:a="http://schemas.openxmlformats.org/drawingml/2006/main">
            <a:off x="800100" y="2914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F7F4EF"/>
                </a:solidFill>
                <a:latin typeface="Avenir Next"/>
                <a:ea typeface="Avenir Next"/>
                <a:cs typeface="Avenir Next"/>
              </a:defRPr>
            </a:pPr>
            <a:r>
              <a:rPr sz="1950" b="1" i="0">
                <a:solidFill>
                  <a:srgbClr val="F7F4EF"/>
                </a:solidFill>
                <a:latin typeface="Avenir Next"/>
                <a:ea typeface="Avenir Next"/>
                <a:cs typeface="Avenir Next"/>
              </a:rPr>
              <a:t>Guiding rule: never call a green build a finished release without delivery evidence.</a:t>
            </a:r>
          </a:p>
        </p:txBody>
      </p:sp>
      <p:sp>
        <p:nvSpPr>
          <p:cNvPr id="16" name="">
            <a:extLst xmlns:a="http://schemas.openxmlformats.org/drawingml/2006/main">
              <a:ext uri="{FF2B5EF4-FFF2-40B4-BE49-F238E27FC236}">
                <a16:creationId xmlns:a16="http://schemas.microsoft.com/office/drawing/2014/main" id="{39D1684B-151B-447C-9ACE-0B2942565B4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36333E"/>
            </a:solidFill>
            <a:prstDash val="solid"/>
          </a:ln>
        </p:spPr>
      </p:sp>
      <p:sp>
        <p:nvSpPr>
          <p:cNvPr id="17" name="">
            <a:extLst xmlns:a="http://schemas.openxmlformats.org/drawingml/2006/main">
              <a:ext uri="{FF2B5EF4-FFF2-40B4-BE49-F238E27FC236}">
                <a16:creationId xmlns:a16="http://schemas.microsoft.com/office/drawing/2014/main" id="{94C13F73-0AFD-4BBD-91D2-9DABBF7DF2CC}"/>
              </a:ext>
            </a:extLst>
          </p:cNvPr>
          <p:cNvSpPr>
            <a:spLocks xmlns:a="http://schemas.openxmlformats.org/drawingml/2006/main" noGrp="1"/>
          </p:cNvSpPr>
          <p:nvPr/>
        </p:nvSpPr>
        <p:spPr>
          <a:xfrm xmlns:a="http://schemas.openxmlformats.org/drawingml/2006/main">
            <a:off x="609600" y="65722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ZENVOICE  /  MACOS LOCAL AI</a:t>
            </a:r>
          </a:p>
        </p:txBody>
      </p:sp>
      <p:sp>
        <p:nvSpPr>
          <p:cNvPr id="18" name="">
            <a:extLst xmlns:a="http://schemas.openxmlformats.org/drawingml/2006/main">
              <a:ext uri="{FF2B5EF4-FFF2-40B4-BE49-F238E27FC236}">
                <a16:creationId xmlns:a16="http://schemas.microsoft.com/office/drawing/2014/main" id="{C4B4603F-704B-4630-9F34-21A82170DBA7}"/>
              </a:ext>
            </a:extLst>
          </p:cNvPr>
          <p:cNvSpPr>
            <a:spLocks xmlns:a="http://schemas.openxmlformats.org/drawingml/2006/main" noGrp="1"/>
          </p:cNvSpPr>
          <p:nvPr/>
        </p:nvSpPr>
        <p:spPr>
          <a:xfrm xmlns:a="http://schemas.openxmlformats.org/drawingml/2006/main">
            <a:off x="10858500" y="65722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96909A"/>
                </a:solidFill>
                <a:latin typeface="Avenir Next"/>
                <a:ea typeface="Avenir Next"/>
                <a:cs typeface="Avenir Next"/>
              </a:defRPr>
            </a:pPr>
            <a:r>
              <a:rPr sz="825" b="1" i="0">
                <a:solidFill>
                  <a:srgbClr val="96909A"/>
                </a:solidFill>
                <a:latin typeface="Avenir Next"/>
                <a:ea typeface="Avenir Next"/>
                <a:cs typeface="Avenir Next"/>
              </a:rPr>
              <a:t>13</a:t>
            </a:r>
          </a:p>
        </p:txBody>
      </p:sp>
    </p:spTree>
    <p:extLst>
      <p:ext uri="{BB962C8B-B14F-4D97-AF65-F5344CB8AC3E}">
        <p14:creationId xmlns:p14="http://schemas.microsoft.com/office/powerpoint/2010/main" val="1716940578"/>
      </p:ext>
    </p:extLst>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animEffect transition="in" filter="fade">
                                      <p:cBhvr>
                                        <p:cTn id="13" dur="4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animEffect transition="in" filter="fade">
                                      <p:cBhvr>
                                        <p:cTn id="23" dur="4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animEffect transition="in" filter="fade">
                                      <p:cBhvr>
                                        <p:cTn id="33" dur="450"/>
                                        <p:tgtEl>
                                          <p:spTgt spid="13"/>
                                        </p:tgtEl>
                                      </p:cBhvr>
                                    </p:animEffect>
                                  </p:childTnLst>
                                </p:cTn>
                              </p:par>
                            </p:childTnLst>
                          </p:cTn>
                        </p:par>
                      </p:childTnLst>
                    </p:cTn>
                  </p:par>
                </p:childTnLst>
              </p:cTn>
            </p:seq>
          </p:childTnLst>
        </p:cTn>
      </p:par>
    </p:tnLst>
  </p:timing>
</p:sld>
</file>

<file path=ppt/slides/slide1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342adac198245d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F3EE0D-9796-48DF-A6D6-B372AD91ABCB}"/>
              </a:ext>
            </a:extLst>
          </p:cNvPr>
          <p:cNvSpPr>
            <a:spLocks xmlns:a="http://schemas.openxmlformats.org/drawingml/2006/main" noGrp="1"/>
          </p:cNvSpPr>
          <p:nvPr/>
        </p:nvSpPr>
        <p:spPr>
          <a:xfrm xmlns:a="http://schemas.openxmlformats.org/drawingml/2006/main">
            <a:off x="0" y="0"/>
            <a:ext cx="7620000" cy="6858000"/>
          </a:xfrm>
          <a:prstGeom xmlns:a="http://schemas.openxmlformats.org/drawingml/2006/main" prst="rect">
            <a:avLst/>
          </a:prstGeom>
          <a:solidFill xmlns:a="http://schemas.openxmlformats.org/drawingml/2006/main">
            <a:srgbClr val="08080A">
              <a:alpha val="82000"/>
            </a:srgbClr>
          </a:solidFill>
          <a:ln xmlns:a="http://schemas.openxmlformats.org/drawingml/2006/main" w="0">
            <a:solidFill>
              <a:srgbClr val="08080A">
                <a:alpha val="82000"/>
              </a:srgbClr>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986c1c02474d2d"/>
          <a:stretch xmlns:a="http://schemas.openxmlformats.org/drawingml/2006/main"/>
        </p:blipFill>
        <p:spPr>
          <a:xfrm xmlns:a="http://schemas.openxmlformats.org/drawingml/2006/main">
            <a:off x="647700" y="571500"/>
            <a:ext cx="647700" cy="64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A79282-4140-42FA-9224-D240242AA883}"/>
              </a:ext>
            </a:extLst>
          </p:cNvPr>
          <p:cNvSpPr>
            <a:spLocks xmlns:a="http://schemas.openxmlformats.org/drawingml/2006/main" noGrp="1"/>
          </p:cNvSpPr>
          <p:nvPr/>
        </p:nvSpPr>
        <p:spPr>
          <a:xfrm xmlns:a="http://schemas.openxmlformats.org/drawingml/2006/main">
            <a:off x="647700" y="1714500"/>
            <a:ext cx="6477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Your voice, written.</a:t>
            </a:r>
          </a:p>
          <a:p xmlns:a="http://schemas.openxmlformats.org/drawingml/2006/main">
            <a:pPr algn="l">
              <a:defRPr sz="4950" b="1" i="0">
                <a:solidFill>
                  <a:srgbClr val="F7F4EF"/>
                </a:solidFill>
                <a:latin typeface="Avenir Next"/>
                <a:ea typeface="Avenir Next"/>
                <a:cs typeface="Avenir Next"/>
              </a:defRPr>
            </a:pPr>
            <a:r>
              <a:rPr sz="4950" b="1" i="0">
                <a:solidFill>
                  <a:srgbClr val="F7F4EF"/>
                </a:solidFill>
                <a:latin typeface="Avenir Next"/>
                <a:ea typeface="Avenir Next"/>
                <a:cs typeface="Avenir Next"/>
              </a:rPr>
              <a:t>On your Mac.</a:t>
            </a:r>
          </a:p>
        </p:txBody>
      </p:sp>
      <p:sp>
        <p:nvSpPr>
          <p:cNvPr id="5" name="">
            <a:extLst xmlns:a="http://schemas.openxmlformats.org/drawingml/2006/main">
              <a:ext uri="{FF2B5EF4-FFF2-40B4-BE49-F238E27FC236}">
                <a16:creationId xmlns:a16="http://schemas.microsoft.com/office/drawing/2014/main" id="{4A3B4381-7D0A-4A58-8840-EEC7FA2D8414}"/>
              </a:ext>
            </a:extLst>
          </p:cNvPr>
          <p:cNvSpPr>
            <a:spLocks xmlns:a="http://schemas.openxmlformats.org/drawingml/2006/main" noGrp="1"/>
          </p:cNvSpPr>
          <p:nvPr/>
        </p:nvSpPr>
        <p:spPr>
          <a:xfrm xmlns:a="http://schemas.openxmlformats.org/drawingml/2006/main">
            <a:off x="685800" y="3733800"/>
            <a:ext cx="571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i="0">
                <a:solidFill>
                  <a:srgbClr val="D3CED0"/>
                </a:solidFill>
                <a:latin typeface="Avenir Next"/>
                <a:ea typeface="Avenir Next"/>
                <a:cs typeface="Avenir Next"/>
              </a:defRPr>
            </a:pPr>
            <a:r>
              <a:rPr sz="1950" b="0" i="0">
                <a:solidFill>
                  <a:srgbClr val="D3CED0"/>
                </a:solidFill>
                <a:latin typeface="Avenir Next"/>
                <a:ea typeface="Avenir Next"/>
                <a:cs typeface="Avenir Next"/>
              </a:rPr>
              <a:t>Native workflow. Local AI. Measurable quality. Honest boundaries.</a:t>
            </a:r>
          </a:p>
        </p:txBody>
      </p:sp>
      <p:sp>
        <p:nvSpPr>
          <p:cNvPr id="6" name="">
            <a:extLst xmlns:a="http://schemas.openxmlformats.org/drawingml/2006/main">
              <a:ext uri="{FF2B5EF4-FFF2-40B4-BE49-F238E27FC236}">
                <a16:creationId xmlns:a16="http://schemas.microsoft.com/office/drawing/2014/main" id="{DDC7BEB0-B84B-492E-A334-4E6000BC6996}"/>
              </a:ext>
            </a:extLst>
          </p:cNvPr>
          <p:cNvSpPr>
            <a:spLocks xmlns:a="http://schemas.openxmlformats.org/drawingml/2006/main" noGrp="1"/>
          </p:cNvSpPr>
          <p:nvPr/>
        </p:nvSpPr>
        <p:spPr>
          <a:xfrm xmlns:a="http://schemas.openxmlformats.org/drawingml/2006/main">
            <a:off x="6858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0C47C"/>
                </a:solidFill>
                <a:latin typeface="Avenir Next"/>
                <a:ea typeface="Avenir Next"/>
                <a:cs typeface="Avenir Next"/>
              </a:defRPr>
            </a:pPr>
            <a:r>
              <a:rPr sz="1350" b="1" i="0">
                <a:solidFill>
                  <a:srgbClr val="F0C47C"/>
                </a:solidFill>
                <a:latin typeface="Avenir Next"/>
                <a:ea typeface="Avenir Next"/>
                <a:cs typeface="Avenir Next"/>
              </a:rPr>
              <a:t>QUESTIONS  /  LIVE DEMO</a:t>
            </a:r>
          </a:p>
        </p:txBody>
      </p:sp>
      <p:sp>
        <p:nvSpPr>
          <p:cNvPr id="7" name="">
            <a:extLst xmlns:a="http://schemas.openxmlformats.org/drawingml/2006/main">
              <a:ext uri="{FF2B5EF4-FFF2-40B4-BE49-F238E27FC236}">
                <a16:creationId xmlns:a16="http://schemas.microsoft.com/office/drawing/2014/main" id="{EBF70303-9B29-459D-A037-8FD6A4E129A9}"/>
              </a:ext>
            </a:extLst>
          </p:cNvPr>
          <p:cNvSpPr>
            <a:spLocks xmlns:a="http://schemas.openxmlformats.org/drawingml/2006/main" noGrp="1"/>
          </p:cNvSpPr>
          <p:nvPr/>
        </p:nvSpPr>
        <p:spPr>
          <a:xfrm xmlns:a="http://schemas.openxmlformats.org/drawingml/2006/main">
            <a:off x="685800" y="58674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96909A"/>
                </a:solidFill>
                <a:latin typeface="Avenir Next"/>
                <a:ea typeface="Avenir Next"/>
                <a:cs typeface="Avenir Next"/>
              </a:defRPr>
            </a:pPr>
            <a:r>
              <a:rPr sz="1350" b="0" i="0">
                <a:solidFill>
                  <a:srgbClr val="96909A"/>
                </a:solidFill>
                <a:latin typeface="Avenir Next"/>
                <a:ea typeface="Avenir Next"/>
                <a:cs typeface="Avenir Next"/>
              </a:rPr>
              <a:t>Control + Option + Space → speak → insert</a:t>
            </a:r>
          </a:p>
        </p:txBody>
      </p:sp>
    </p:spTree>
    <p:extLst>
      <p:ext uri="{BB962C8B-B14F-4D97-AF65-F5344CB8AC3E}">
        <p14:creationId xmlns:p14="http://schemas.microsoft.com/office/powerpoint/2010/main" val="327107524"/>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2026-08-23T07:49:37.7500000Z</dcterms:created>
  <dcterms:modified xsi:type="dcterms:W3CDTF">2026-08-23T07:49:37.7500000Z</dcterms:modified>
</coreProperties>
</file>