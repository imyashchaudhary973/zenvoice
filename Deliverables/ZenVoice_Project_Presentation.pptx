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886a2cfa2c419a" /><Relationship Type="http://schemas.openxmlformats.org/officeDocument/2006/relationships/extended-properties" Target="/docProps/app.xml" Id="Rded5c69b7d17462f" /><Relationship Type="http://schemas.openxmlformats.org/officeDocument/2006/relationships/officeDocument" Target="/ppt/presentation.xml" Id="R32f24b66388646be" /></Relationships>
</file>

<file path=ppt/presentation.xml><?xml version="1.0" encoding="utf-8"?>
<p:presentation xmlns:p="http://schemas.openxmlformats.org/presentationml/2006/main">
  <p:sldMasterIdLst>
    <p:sldMasterId xmlns:r="http://schemas.openxmlformats.org/officeDocument/2006/relationships" id="2147483648" r:id="R9da026c99b2243f8"/>
  </p:sldMasterIdLst>
  <p:notesMasterIdLst>
    <p:notesMasterId xmlns:r="http://schemas.openxmlformats.org/officeDocument/2006/relationships" r:id="R50e9a856e9c248cd"/>
  </p:notesMasterIdLst>
  <p:sldIdLst>
    <p:sldId xmlns:r="http://schemas.openxmlformats.org/officeDocument/2006/relationships" id="256" r:id="R6b1e0371f44c4663"/>
    <p:sldId xmlns:r="http://schemas.openxmlformats.org/officeDocument/2006/relationships" id="257" r:id="R9f81430e30b845d5"/>
    <p:sldId xmlns:r="http://schemas.openxmlformats.org/officeDocument/2006/relationships" id="258" r:id="R14c21a2604fe4057"/>
    <p:sldId xmlns:r="http://schemas.openxmlformats.org/officeDocument/2006/relationships" id="259" r:id="R40e7683ddac34c6b"/>
    <p:sldId xmlns:r="http://schemas.openxmlformats.org/officeDocument/2006/relationships" id="260" r:id="R24008ce48c8f4e7e"/>
    <p:sldId xmlns:r="http://schemas.openxmlformats.org/officeDocument/2006/relationships" id="261" r:id="Rb5765b633a744b45"/>
    <p:sldId xmlns:r="http://schemas.openxmlformats.org/officeDocument/2006/relationships" id="262" r:id="R422e7b8efa7244e8"/>
    <p:sldId xmlns:r="http://schemas.openxmlformats.org/officeDocument/2006/relationships" id="263" r:id="Rcf04baedff21408a"/>
    <p:sldId xmlns:r="http://schemas.openxmlformats.org/officeDocument/2006/relationships" id="264" r:id="R6299cc8bbdea4ee1"/>
    <p:sldId xmlns:r="http://schemas.openxmlformats.org/officeDocument/2006/relationships" id="265" r:id="Rba66225e48844293"/>
    <p:sldId xmlns:r="http://schemas.openxmlformats.org/officeDocument/2006/relationships" id="266" r:id="R0f5c5c3b3a764135"/>
    <p:sldId xmlns:r="http://schemas.openxmlformats.org/officeDocument/2006/relationships" id="267" r:id="R1e75aa09628e4ddf"/>
    <p:sldId xmlns:r="http://schemas.openxmlformats.org/officeDocument/2006/relationships" id="268" r:id="R7af507ba9a594c53"/>
    <p:sldId xmlns:r="http://schemas.openxmlformats.org/officeDocument/2006/relationships" id="269" r:id="Re763742cdf694b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78eee94e754da1" /><Relationship Type="http://schemas.openxmlformats.org/officeDocument/2006/relationships/slideMaster" Target="/ppt/slideMasters/slideMaster1.xml" Id="R9da026c99b2243f8" /><Relationship Type="http://schemas.openxmlformats.org/officeDocument/2006/relationships/notesMaster" Target="/ppt/notesMasters/notesMaster1.xml" Id="R50e9a856e9c248cd" /><Relationship Type="http://schemas.openxmlformats.org/officeDocument/2006/relationships/presProps" Target="/ppt/presProps.xml" Id="R918037c730564c82" /><Relationship Type="http://schemas.openxmlformats.org/officeDocument/2006/relationships/tableStyles" Target="/ppt/tableStyles.xml" Id="R3d92f7e2d941410b" /><Relationship Type="http://schemas.openxmlformats.org/officeDocument/2006/relationships/slide" Target="/ppt/slides/slide1.xml" Id="R6b1e0371f44c4663" /><Relationship Type="http://schemas.openxmlformats.org/officeDocument/2006/relationships/slide" Target="/ppt/slides/slide2.xml" Id="R9f81430e30b845d5" /><Relationship Type="http://schemas.openxmlformats.org/officeDocument/2006/relationships/slide" Target="/ppt/slides/slide3.xml" Id="R14c21a2604fe4057" /><Relationship Type="http://schemas.openxmlformats.org/officeDocument/2006/relationships/slide" Target="/ppt/slides/slide4.xml" Id="R40e7683ddac34c6b" /><Relationship Type="http://schemas.openxmlformats.org/officeDocument/2006/relationships/slide" Target="/ppt/slides/slide5.xml" Id="R24008ce48c8f4e7e" /><Relationship Type="http://schemas.openxmlformats.org/officeDocument/2006/relationships/slide" Target="/ppt/slides/slide6.xml" Id="Rb5765b633a744b45" /><Relationship Type="http://schemas.openxmlformats.org/officeDocument/2006/relationships/slide" Target="/ppt/slides/slide7.xml" Id="R422e7b8efa7244e8" /><Relationship Type="http://schemas.openxmlformats.org/officeDocument/2006/relationships/slide" Target="/ppt/slides/slide8.xml" Id="Rcf04baedff21408a" /><Relationship Type="http://schemas.openxmlformats.org/officeDocument/2006/relationships/slide" Target="/ppt/slides/slide9.xml" Id="R6299cc8bbdea4ee1" /><Relationship Type="http://schemas.openxmlformats.org/officeDocument/2006/relationships/slide" Target="/ppt/slides/slide10.xml" Id="Rba66225e48844293" /><Relationship Type="http://schemas.openxmlformats.org/officeDocument/2006/relationships/slide" Target="/ppt/slides/slide11.xml" Id="R0f5c5c3b3a764135" /><Relationship Type="http://schemas.openxmlformats.org/officeDocument/2006/relationships/slide" Target="/ppt/slides/slide12.xml" Id="R1e75aa09628e4ddf" /><Relationship Type="http://schemas.openxmlformats.org/officeDocument/2006/relationships/slide" Target="/ppt/slides/slide13.xml" Id="R7af507ba9a594c53" /><Relationship Type="http://schemas.openxmlformats.org/officeDocument/2006/relationships/slide" Target="/ppt/slides/slide14.xml" Id="Re763742cdf694b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3073a2bc0447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b5339e9fb84408" /><Relationship Type="http://schemas.openxmlformats.org/officeDocument/2006/relationships/notesMaster" Target="/ppt/notesMasters/notesMaster1.xml" Id="R29c13fa6c476482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09096fe57a41a3" /><Relationship Type="http://schemas.openxmlformats.org/officeDocument/2006/relationships/notesMaster" Target="/ppt/notesMasters/notesMaster1.xml" Id="R45b086ccff994c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2e75ec2f4b449ad" /><Relationship Type="http://schemas.openxmlformats.org/officeDocument/2006/relationships/notesMaster" Target="/ppt/notesMasters/notesMaster1.xml" Id="Ra5d27b6be1bc42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32bc0f6f6f4a08" /><Relationship Type="http://schemas.openxmlformats.org/officeDocument/2006/relationships/notesMaster" Target="/ppt/notesMasters/notesMaster1.xml" Id="R3f2617dd9d5040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32032291d1481a" /><Relationship Type="http://schemas.openxmlformats.org/officeDocument/2006/relationships/notesMaster" Target="/ppt/notesMasters/notesMaster1.xml" Id="R378f66fb6a694c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736409bbe14d82" /><Relationship Type="http://schemas.openxmlformats.org/officeDocument/2006/relationships/notesMaster" Target="/ppt/notesMasters/notesMaster1.xml" Id="Rfac6659c87a448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d2c987cb6a4cd0" /><Relationship Type="http://schemas.openxmlformats.org/officeDocument/2006/relationships/notesMaster" Target="/ppt/notesMasters/notesMaster1.xml" Id="Ra779529c134c45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347b1521ac49d2" /><Relationship Type="http://schemas.openxmlformats.org/officeDocument/2006/relationships/notesMaster" Target="/ppt/notesMasters/notesMaster1.xml" Id="Ra13aadb1d18b40c1" /></Relationships>
</file>

<file path=ppt/notesSlides/_rels/notesSlide9.xml.rels>&#65279;<?xml version="1.0" encoding="utf-8"?><Relationships xmlns="http://schemas.openxmlformats.org/package/2006/relationships"><Relationship Type="http://schemas.openxmlformats.org/officeDocument/2006/relationships/slide" Target="/ppt/slides/slide9.xml" Id="Ra621de853e524e47" /><Relationship Type="http://schemas.openxmlformats.org/officeDocument/2006/relationships/notesMaster" Target="/ppt/notesMasters/notesMaster1.xml" Id="Rb8c69d3a5d70480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5f9d565c34a45a0" /><Relationship Type="http://schemas.openxmlformats.org/officeDocument/2006/relationships/notesMaster" Target="/ppt/notesMasters/notesMaster1.xml" Id="Rcc6994aff320416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fdfc80a9c9d473d" /><Relationship Type="http://schemas.openxmlformats.org/officeDocument/2006/relationships/notesMaster" Target="/ppt/notesMasters/notesMaster1.xml" Id="R1e0d69764eed45b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e4fcdd21834390" /><Relationship Type="http://schemas.openxmlformats.org/officeDocument/2006/relationships/notesMaster" Target="/ppt/notesMasters/notesMaster1.xml" Id="Rb4317a3d2bc14a2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17b8854b3e84bd0" /><Relationship Type="http://schemas.openxmlformats.org/officeDocument/2006/relationships/notesMaster" Target="/ppt/notesMasters/notesMaster1.xml" Id="R79380ea130f84e5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8bf8371ad61436c" /><Relationship Type="http://schemas.openxmlformats.org/officeDocument/2006/relationships/notesMaster" Target="/ppt/notesMasters/notesMaster1.xml" Id="R2e84723cccc44e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idea in one sentence: ZenVoice turns speech into text inside the app a person is already using, while keeping the core speech path on their Mac. This deck treats ZenVoice as a working product-in-progress for a company and a college project; it does not claim a completed public release.</a:t>
            </a:r>
          </a:p>
          <a:p xmlns:a="http://schemas.openxmlformats.org/drawingml/2006/main">
            <a:r>
              <a:t/>
            </a:r>
          </a:p>
          <a:p xmlns:a="http://schemas.openxmlformats.org/drawingml/2006/main">
            <a:r>
              <a:t>[Sources]</a:t>
            </a:r>
          </a:p>
          <a:p xmlns:a="http://schemas.openxmlformats.org/drawingml/2006/main">
            <a:r>
              <a:t>ZenVoice README.md; docs/ROADMAP.md; docs/RELEASE_READINESS.md; owned asset: docs/images/hero.jpg; owned asset: Resources/Brand/ZenLogo.png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product problem is not only speech-to-text accuracy. It is also friction: the user should not have to open a separate recorder, copy text manually, or sacrifice control over speech data. ZenVoice is designed around the focused app and a short, repeatable interaction.</a:t>
            </a:r>
          </a:p>
          <a:p xmlns:a="http://schemas.openxmlformats.org/drawingml/2006/main">
            <a:r>
              <a:t/>
            </a:r>
          </a:p>
          <a:p xmlns:a="http://schemas.openxmlformats.org/drawingml/2006/main">
            <a:r>
              <a:t>[Sources]</a:t>
            </a:r>
          </a:p>
          <a:p xmlns:a="http://schemas.openxmlformats.org/drawingml/2006/main">
            <a:r>
              <a:t>ZenVoice README.md; docs/PRIVACY.md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class should leave this slide with the product definition: ZenVoice is native macOS software, not a website or a cloud-only chatbot. It uses a global shortcut, a local ASR engine, and Accessibility insertion to move text into the app where the caret already is.</a:t>
            </a:r>
          </a:p>
          <a:p xmlns:a="http://schemas.openxmlformats.org/drawingml/2006/main">
            <a:r>
              <a:t/>
            </a:r>
          </a:p>
          <a:p xmlns:a="http://schemas.openxmlformats.org/drawingml/2006/main">
            <a:r>
              <a:t>[Sources]</a:t>
            </a:r>
          </a:p>
          <a:p xmlns:a="http://schemas.openxmlformats.org/drawingml/2006/main">
            <a:r>
              <a:t>ZenVoice README.md; Package.swift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this using a simple example: open Notes, put the cursor in a document, press the shortcut, say a sentence, press again, and keep typing. The app does not replace the target application; it augments it. Mention the clipboard fallback because it is an honest accessibility-permission behavior.</a:t>
            </a:r>
          </a:p>
          <a:p xmlns:a="http://schemas.openxmlformats.org/drawingml/2006/main">
            <a:r>
              <a:t/>
            </a:r>
          </a:p>
          <a:p xmlns:a="http://schemas.openxmlformats.org/drawingml/2006/main">
            <a:r>
              <a:t>[Sources]</a:t>
            </a:r>
          </a:p>
          <a:p xmlns:a="http://schemas.openxmlformats.org/drawingml/2006/main">
            <a:r>
              <a:t>ZenVoice README.md — Features, Quick Start, How it works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visible product controls. Explain that ZenBar acts like a lightweight recording status surface rather than a full window. The Audio Doctor is especially useful in a class demo because microphone selection and permission problems are common; the check is local and deletes its temporary fixture immediately.</a:t>
            </a:r>
          </a:p>
          <a:p xmlns:a="http://schemas.openxmlformats.org/drawingml/2006/main">
            <a:r>
              <a:t/>
            </a:r>
          </a:p>
          <a:p xmlns:a="http://schemas.openxmlformats.org/drawingml/2006/main">
            <a:r>
              <a:t>[Sources]</a:t>
            </a:r>
          </a:p>
          <a:p xmlns:a="http://schemas.openxmlformats.org/drawingml/2006/main">
            <a:r>
              <a:t>ZenVoice README.md — Features; docs/PRIVACY.md — Microphone audio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privacy slide to slow down on. The point is not to say that technology is magically private. The point is that the product explicitly separates local default operation from optional cloud formatting. Explain that encrypted transcript history and optional Audio History are different things; the product documents Audio History as an explicit local archive with its own risk.</a:t>
            </a:r>
          </a:p>
          <a:p xmlns:a="http://schemas.openxmlformats.org/drawingml/2006/main">
            <a:r>
              <a:t/>
            </a:r>
          </a:p>
          <a:p xmlns:a="http://schemas.openxmlformats.org/drawingml/2006/main">
            <a:r>
              <a:t>[Sources]</a:t>
            </a:r>
          </a:p>
          <a:p xmlns:a="http://schemas.openxmlformats.org/drawingml/2006/main">
            <a:r>
              <a:t>ZenVoice README.md — Privacy; docs/PRIVACY.md; docs/decisions/0010-audio-history.md; docs/decisions/0011-cloud-ai-enhancement.md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make the AI/ML work concrete without exaggerating it. ZenVoice first applies deterministic cleanup, then can use guarded on-device refinement where supported. A Voice Profile means language-use patterns and explicit corrections stored locally; it is explicitly not a biometric voiceprint. This distinction matters for privacy and consent.</a:t>
            </a:r>
          </a:p>
          <a:p xmlns:a="http://schemas.openxmlformats.org/drawingml/2006/main">
            <a:r>
              <a:t/>
            </a:r>
          </a:p>
          <a:p xmlns:a="http://schemas.openxmlformats.org/drawingml/2006/main">
            <a:r>
              <a:t>[Sources]</a:t>
            </a:r>
          </a:p>
          <a:p xmlns:a="http://schemas.openxmlformats.org/drawingml/2006/main">
            <a:r>
              <a:t>ZenVoice README.md — Formatting, Insights, Voice profile; docs/VOICE_PROFILE.md; docs/INSTANT_REFINE.md; docs/PRIVACY.md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this as a data-flow diagram. The shortcut starts local recording. The selected local engine performs speech recognition. Then controlled cleanup and personal correction rules run before the result is copied and, with Accessibility permission, inserted into the target app. This separation lets the team change the engine without changing the product’s basic privacy behavior.</a:t>
            </a:r>
          </a:p>
          <a:p xmlns:a="http://schemas.openxmlformats.org/drawingml/2006/main">
            <a:r>
              <a:t/>
            </a:r>
          </a:p>
          <a:p xmlns:a="http://schemas.openxmlformats.org/drawingml/2006/main">
            <a:r>
              <a:t>[Sources]</a:t>
            </a:r>
          </a:p>
          <a:p xmlns:a="http://schemas.openxmlformats.org/drawingml/2006/main">
            <a:r>
              <a:t>ZenVoice README.md — How it works and Architecture table; Package.swift;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AI/ML design decision, not just a list of model names. An engine is the code that runs a model. Hardware-aware recommendation matters because a very large model is not always better for latency, memory, or a particular language. The model catalogue keeps compatible family pairs pinned and verified.</a:t>
            </a:r>
          </a:p>
          <a:p xmlns:a="http://schemas.openxmlformats.org/drawingml/2006/main">
            <a:r>
              <a:t/>
            </a:r>
          </a:p>
          <a:p xmlns:a="http://schemas.openxmlformats.org/drawingml/2006/main">
            <a:r>
              <a:t>[Sources]</a:t>
            </a:r>
          </a:p>
          <a:p xmlns:a="http://schemas.openxmlformats.org/drawingml/2006/main">
            <a:r>
              <a:t>ZenVoice README.md — Supported models; docs/MODEL_CATALOG.md; docs/decisions/0005-multi-engine-architecture.md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WER as Word Error Rate: lower is better. Real-time multiple shows the ratio between processing speed and recording duration: 73× means the engine processed the test audio about 73 times faster than real time. Then add the scientific caveat: public spontaneous-speech data is useful for comparison, but it is not treated as representative of real ZenVoice dictation. A product-quality decision must earn that claim through a consented cohort.</a:t>
            </a:r>
          </a:p>
          <a:p xmlns:a="http://schemas.openxmlformats.org/drawingml/2006/main">
            <a:r>
              <a:t/>
            </a:r>
          </a:p>
          <a:p xmlns:a="http://schemas.openxmlformats.org/drawingml/2006/main">
            <a:r>
              <a:t>[Sources]</a:t>
            </a:r>
          </a:p>
          <a:p xmlns:a="http://schemas.openxmlformats.org/drawingml/2006/main">
            <a:r>
              <a:t>docs/REAL_SPEECH_CORPUS.md — Per-engine baselines; docs/PHASE_6.md; docs/CONSENTED_DICTATION_MODEL_CYCLE.md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class, make the link between theory and product work explicit. This is not only a UI project. It includes speech models, performance measurement, encryption at rest, permission design, and the human factors of fitting voice into existing workflows. For a company, the opportunity is reliable text production without a disruptive new workspace.</a:t>
            </a:r>
          </a:p>
          <a:p xmlns:a="http://schemas.openxmlformats.org/drawingml/2006/main">
            <a:r>
              <a:t/>
            </a:r>
          </a:p>
          <a:p xmlns:a="http://schemas.openxmlformats.org/drawingml/2006/main">
            <a:r>
              <a:t>[Sources]</a:t>
            </a:r>
          </a:p>
          <a:p xmlns:a="http://schemas.openxmlformats.org/drawingml/2006/main">
            <a:r>
              <a:t>ZenVoice README.md; docs/ROADMAP.md; Package.swift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mature product thinking. Lecture capture v1 is intentionally narrow: one local audio file, one original transcript, and an optional summary. The team researched two-role diarization but the benchmark did not meet a conservative reliability threshold, so the correct engineering choice is to stop rather than ship incorrect teacher or student labels. That limitation is a strength in a college presentation because it demonstrates evidence-based development.</a:t>
            </a:r>
          </a:p>
          <a:p xmlns:a="http://schemas.openxmlformats.org/drawingml/2006/main">
            <a:r>
              <a:t/>
            </a:r>
          </a:p>
          <a:p xmlns:a="http://schemas.openxmlformats.org/drawingml/2006/main">
            <a:r>
              <a:t>[Sources]</a:t>
            </a:r>
          </a:p>
          <a:p xmlns:a="http://schemas.openxmlformats.org/drawingml/2006/main">
            <a:r>
              <a:t>docs/decisions/0014-lecture-capture-v1.md; docs/decisions/0015-lecture-two-role-diarization.md; docs/DIARIZATION_ENGINE_GATE_2026-08-22.md; docs/TEACHER_REST_ARCHITECTURE_GATE_2026-08-22.md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transparent about status. The codebase has a native menu-bar app, local engines, history, model catalogue, and validation checks. But the project roadmap says public shipping is deferred. A real external release needs Developer ID signing, notarization, exact-package testing on a clean supported Mac, and accessibility QA. In a company setting, this protects user trust; in a college setting, it shows that release engineering is real work.</a:t>
            </a:r>
          </a:p>
          <a:p xmlns:a="http://schemas.openxmlformats.org/drawingml/2006/main">
            <a:r>
              <a:t/>
            </a:r>
          </a:p>
          <a:p xmlns:a="http://schemas.openxmlformats.org/drawingml/2006/main">
            <a:r>
              <a:t>[Sources]</a:t>
            </a:r>
          </a:p>
          <a:p xmlns:a="http://schemas.openxmlformats.org/drawingml/2006/main">
            <a:r>
              <a:t>docs/ROADMAP.md; docs/RELEASE_READINESS.md; docs/RELEASE_QA_RECORD.md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repeating the product outcome rather than the feature list. Invite questions about the local-AI architecture, privacy model, accuracy measurement, or the next milestones. If you are demoing, this is the moment to open an editable text field and show the short dictation loop from slide four.</a:t>
            </a:r>
          </a:p>
          <a:p xmlns:a="http://schemas.openxmlformats.org/drawingml/2006/main">
            <a:r>
              <a:t/>
            </a:r>
          </a:p>
          <a:p xmlns:a="http://schemas.openxmlformats.org/drawingml/2006/main">
            <a:r>
              <a:t>[Sources]</a:t>
            </a:r>
          </a:p>
          <a:p xmlns:a="http://schemas.openxmlformats.org/drawingml/2006/main">
            <a:r>
              <a:t>ZenVoice README.md; docs/ROADMAP.md; owned asset: Resources/Brand/ZenLogo.png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b0fb29a7cc45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61bdad01ec4f5e" /><Relationship Type="http://schemas.openxmlformats.org/officeDocument/2006/relationships/slideLayout" Target="/ppt/slideLayouts/slideLayout1.xml" Id="Refd1e23c4ea54d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d1e23c4ea54d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92a4bd576fe4266" /><Relationship Type="http://schemas.openxmlformats.org/officeDocument/2006/relationships/image" Target="/ppt/media/image.jpeg" Id="R581d0429b79f4950" /><Relationship Type="http://schemas.openxmlformats.org/officeDocument/2006/relationships/image" Target="/ppt/media/image.png" Id="R2422e3f120d04ad3" /><Relationship Type="http://schemas.openxmlformats.org/officeDocument/2006/relationships/notesSlide" Target="/ppt/notesSlides/notesSlide1.xml" Id="Rbdc6367b07b84d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d2c6363899845a5" /><Relationship Type="http://schemas.openxmlformats.org/officeDocument/2006/relationships/notesSlide" Target="/ppt/notesSlides/notesSlide2.xml" Id="R7f2e445b244b41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ce5b7857a0f49a6" /><Relationship Type="http://schemas.openxmlformats.org/officeDocument/2006/relationships/notesSlide" Target="/ppt/notesSlides/notesSlide3.xml" Id="R7106566439b845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a6e6f63710e4760" /><Relationship Type="http://schemas.openxmlformats.org/officeDocument/2006/relationships/notesSlide" Target="/ppt/notesSlides/notesSlide4.xml" Id="R1ffa625000894b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34c726979c94ced" /><Relationship Type="http://schemas.openxmlformats.org/officeDocument/2006/relationships/notesSlide" Target="/ppt/notesSlides/notesSlide5.xml" Id="R2659d7cd54f74d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0b8c5ace0f54268" /><Relationship Type="http://schemas.openxmlformats.org/officeDocument/2006/relationships/notesSlide" Target="/ppt/notesSlides/notesSlide6.xml" Id="R47ace1a489ed433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3d64ca17e2b4c54" /><Relationship Type="http://schemas.openxmlformats.org/officeDocument/2006/relationships/notesSlide" Target="/ppt/notesSlides/notesSlide7.xml" Id="R4953d3f090b843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44726952da94da9" /><Relationship Type="http://schemas.openxmlformats.org/officeDocument/2006/relationships/notesSlide" Target="/ppt/notesSlides/notesSlide8.xml" Id="R38e9d71e14d643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f1bedcb8cc64297" /><Relationship Type="http://schemas.openxmlformats.org/officeDocument/2006/relationships/notesSlide" Target="/ppt/notesSlides/notesSlide9.xml" Id="Rfe336ee77b7d42d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eed246e8dec46c6" /><Relationship Type="http://schemas.openxmlformats.org/officeDocument/2006/relationships/chart" Target="/ppt/slides/charts/chart1.xml" Id="R48322a7e2a1c4bb0" /><Relationship Type="http://schemas.openxmlformats.org/officeDocument/2006/relationships/chart" Target="/ppt/slides/charts/chart2.xml" Id="R5bd3235b1e8f43c7" /><Relationship Type="http://schemas.openxmlformats.org/officeDocument/2006/relationships/notesSlide" Target="/ppt/notesSlides/notesSlide10.xml" Id="R5072e67c7b5e44b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411d3226a664887" /><Relationship Type="http://schemas.openxmlformats.org/officeDocument/2006/relationships/notesSlide" Target="/ppt/notesSlides/notesSlide11.xml" Id="Rf8c5b8b0a9264f6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672d14cd3554599" /><Relationship Type="http://schemas.openxmlformats.org/officeDocument/2006/relationships/notesSlide" Target="/ppt/notesSlides/notesSlide12.xml" Id="R19e70d3dc9fd4f3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3ca30e8ac324d7b" /><Relationship Type="http://schemas.openxmlformats.org/officeDocument/2006/relationships/notesSlide" Target="/ppt/notesSlides/notesSlide13.xml" Id="R0db51facc5a0486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1138d4051f14384" /><Relationship Type="http://schemas.openxmlformats.org/officeDocument/2006/relationships/image" Target="/ppt/media/image2.png" Id="R18e32c26a94b4209" /><Relationship Type="http://schemas.openxmlformats.org/officeDocument/2006/relationships/notesSlide" Target="/ppt/notesSlides/notesSlide14.xml" Id="R64ffca8e9c2646db" /></Relationships>
</file>

<file path=ppt/slides/charts/chart1.xml><?xml version="1.0" encoding="utf-8"?>
<c:chartSpace xmlns:c="http://schemas.openxmlformats.org/drawingml/2006/chart">
  <c:lang val="en-US"/>
  <c:chart>
    <c:plotArea>
      <c:barChart>
        <c:barDir val="bar"/>
        <c:grouping val="clustered"/>
        <c:varyColors val="0"/>
        <c:ser>
          <c:idx val="0"/>
          <c:order val="0"/>
          <c:tx>
            <c:v>Whole WER %</c:v>
          </c:tx>
          <c:spPr>
            <a:solidFill xmlns:a="http://schemas.openxmlformats.org/drawingml/2006/main">
              <a:srgbClr val="B58A4A"/>
            </a:solidFill>
          </c:spPr>
          <c:dPt>
            <c:idx val="1"/>
            <c:invertIfNegative val="0"/>
            <c:spPr>
              <a:solidFill xmlns:a="http://schemas.openxmlformats.org/drawingml/2006/main">
                <a:srgbClr val="256B5B"/>
              </a:solidFill>
            </c:spPr>
          </c:dPt>
          <c:cat>
            <c:strLit>
              <c:ptCount val="2"/>
              <c:pt idx="0">
                <c:v>Parakeet TDT v3</c:v>
              </c:pt>
              <c:pt idx="1">
                <c:v>Whisper Turbo</c:v>
              </c:pt>
            </c:strLit>
          </c:cat>
          <c:val>
            <c:numLit>
              <c:formatCode>General</c:formatCode>
              <c:ptCount val="2"/>
              <c:pt idx="0">
                <c:v>6.9</c:v>
              </c:pt>
              <c:pt idx="1">
                <c:v>8.2</c:v>
              </c:pt>
            </c:numLit>
          </c:val>
        </c:ser>
        <c:dLbls>
          <c:txPr>
            <a:bodyPr xmlns:a="http://schemas.openxmlformats.org/drawingml/2006/main" anchorCtr="1"/>
            <a:lstStyle xmlns:a="http://schemas.openxmlformats.org/drawingml/2006/main"/>
            <a:p xmlns:a="http://schemas.openxmlformats.org/drawingml/2006/main">
              <a:pPr>
                <a:defRPr sz="1200" b="1">
                  <a:solidFill>
                    <a:srgbClr val="11100F"/>
                  </a:solidFill>
                </a:defRPr>
              </a:pPr>
            </a:p>
          </c:txPr>
          <c:dLblPos val="outEnd"/>
          <c:showLegendKey val="0"/>
          <c:showVal val="1"/>
          <c:showCatName val="0"/>
          <c:showSerName val="0"/>
          <c:showPercent val="0"/>
          <c:showBubbleSize val="0"/>
          <c:showLeaderLines val="0"/>
        </c:dLbls>
        <c:gapWidth val="56"/>
        <c:axId val="48650112"/>
        <c:axId val="48672768"/>
      </c:barChart>
      <c:catAx>
        <c:axId val="48650112"/>
        <c:scaling>
          <c:orientation val="minMax"/>
        </c:scaling>
        <c:delete val="0"/>
        <c:axPos val="l"/>
        <c:majorGridlines>
          <c:spPr>
            <a:ln xmlns:a="http://schemas.openxmlformats.org/drawingml/2006/main" w="9525">
              <a:solidFill>
                <a:srgbClr val="E6DED5"/>
              </a:solidFill>
              <a:prstDash val="solid"/>
            </a:ln>
          </c:spPr>
        </c:majorGridlines>
        <c:title>
          <c:tx>
            <c:rich>
              <a:bodyPr xmlns:a="http://schemas.openxmlformats.org/drawingml/2006/main"/>
              <a:lstStyle xmlns:a="http://schemas.openxmlformats.org/drawingml/2006/main"/>
              <a:p xmlns:a="http://schemas.openxmlformats.org/drawingml/2006/main">
                <a:r>
                  <a:t>Lower is better</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F665E"/>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9D0C5"/>
            </a:solidFill>
            <a:prstDash val="solid"/>
          </a:ln>
        </c:spPr>
        <c:txPr>
          <a:bodyPr xmlns:a="http://schemas.openxmlformats.org/drawingml/2006/main" anchorCtr="1"/>
          <a:lstStyle xmlns:a="http://schemas.openxmlformats.org/drawingml/2006/main"/>
          <a:p xmlns:a="http://schemas.openxmlformats.org/drawingml/2006/main">
            <a:pPr>
              <a:defRPr sz="1200">
                <a:solidFill>
                  <a:srgbClr val="11100F"/>
                </a:solidFill>
              </a:defRPr>
            </a:pPr>
          </a:p>
        </c:txPr>
        <c:crossAx val="48650112"/>
        <c:crossBetween val="between"/>
      </c:valAx>
      <c:spPr>
        <a:solidFill xmlns:a="http://schemas.openxmlformats.org/drawingml/2006/main">
          <a:srgbClr val="FCFAF7"/>
        </a:solidFill>
        <a:ln xmlns:a="http://schemas.openxmlformats.org/drawingml/2006/main" w="0">
          <a:solidFill>
            <a:srgbClr val="FCFAF7"/>
          </a:solidFill>
          <a:prstDash val="solid"/>
        </a:ln>
      </c:spPr>
    </c:plotArea>
    <c:plotVisOnly val="1"/>
  </c:chart>
  <c:spPr>
    <a:solidFill xmlns:a="http://schemas.openxmlformats.org/drawingml/2006/main">
      <a:srgbClr val="FCFAF7"/>
    </a:solidFill>
  </c:spPr>
</c:chartSpace>
</file>

<file path=ppt/slides/charts/chart2.xml><?xml version="1.0" encoding="utf-8"?>
<c:chartSpace xmlns:c="http://schemas.openxmlformats.org/drawingml/2006/chart">
  <c:lang val="en-US"/>
  <c:chart>
    <c:plotArea>
      <c:barChart>
        <c:barDir val="bar"/>
        <c:grouping val="clustered"/>
        <c:varyColors val="0"/>
        <c:ser>
          <c:idx val="0"/>
          <c:order val="0"/>
          <c:tx>
            <c:v>Real-time multiple</c:v>
          </c:tx>
          <c:spPr>
            <a:solidFill xmlns:a="http://schemas.openxmlformats.org/drawingml/2006/main">
              <a:srgbClr val="B58A4A"/>
            </a:solidFill>
          </c:spPr>
          <c:dPt>
            <c:idx val="1"/>
            <c:invertIfNegative val="0"/>
            <c:spPr>
              <a:solidFill xmlns:a="http://schemas.openxmlformats.org/drawingml/2006/main">
                <a:srgbClr val="256B5B"/>
              </a:solidFill>
            </c:spPr>
          </c:dPt>
          <c:cat>
            <c:strLit>
              <c:ptCount val="2"/>
              <c:pt idx="0">
                <c:v>Parakeet TDT v3</c:v>
              </c:pt>
              <c:pt idx="1">
                <c:v>Whisper Turbo</c:v>
              </c:pt>
            </c:strLit>
          </c:cat>
          <c:val>
            <c:numLit>
              <c:formatCode>General</c:formatCode>
              <c:ptCount val="2"/>
              <c:pt idx="0">
                <c:v>73</c:v>
              </c:pt>
              <c:pt idx="1">
                <c:v>11</c:v>
              </c:pt>
            </c:numLit>
          </c:val>
        </c:ser>
        <c:dLbls>
          <c:txPr>
            <a:bodyPr xmlns:a="http://schemas.openxmlformats.org/drawingml/2006/main" anchorCtr="1"/>
            <a:lstStyle xmlns:a="http://schemas.openxmlformats.org/drawingml/2006/main"/>
            <a:p xmlns:a="http://schemas.openxmlformats.org/drawingml/2006/main">
              <a:pPr>
                <a:defRPr sz="1200" b="1">
                  <a:solidFill>
                    <a:srgbClr val="11100F"/>
                  </a:solidFill>
                </a:defRPr>
              </a:pPr>
            </a:p>
          </c:txPr>
          <c:dLblPos val="outEnd"/>
          <c:showLegendKey val="0"/>
          <c:showVal val="1"/>
          <c:showCatName val="0"/>
          <c:showSerName val="0"/>
          <c:showPercent val="0"/>
          <c:showBubbleSize val="0"/>
          <c:showLeaderLines val="0"/>
        </c:dLbls>
        <c:gapWidth val="56"/>
        <c:axId val="48650112"/>
        <c:axId val="48672768"/>
      </c:barChart>
      <c:catAx>
        <c:axId val="48650112"/>
        <c:scaling>
          <c:orientation val="minMax"/>
        </c:scaling>
        <c:delete val="0"/>
        <c:axPos val="l"/>
        <c:majorGridlines>
          <c:spPr>
            <a:ln xmlns:a="http://schemas.openxmlformats.org/drawingml/2006/main" w="9525">
              <a:solidFill>
                <a:srgbClr val="E6DED5"/>
              </a:solidFill>
              <a:prstDash val="solid"/>
            </a:ln>
          </c:spPr>
        </c:majorGridlines>
        <c:title>
          <c:tx>
            <c:rich>
              <a:bodyPr xmlns:a="http://schemas.openxmlformats.org/drawingml/2006/main"/>
              <a:lstStyle xmlns:a="http://schemas.openxmlformats.org/drawingml/2006/main"/>
              <a:p xmlns:a="http://schemas.openxmlformats.org/drawingml/2006/main">
                <a:r>
                  <a:t>Higher is faster</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F665E"/>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9D0C5"/>
            </a:solidFill>
            <a:prstDash val="solid"/>
          </a:ln>
        </c:spPr>
        <c:txPr>
          <a:bodyPr xmlns:a="http://schemas.openxmlformats.org/drawingml/2006/main" anchorCtr="1"/>
          <a:lstStyle xmlns:a="http://schemas.openxmlformats.org/drawingml/2006/main"/>
          <a:p xmlns:a="http://schemas.openxmlformats.org/drawingml/2006/main">
            <a:pPr>
              <a:defRPr sz="1200">
                <a:solidFill>
                  <a:srgbClr val="11100F"/>
                </a:solidFill>
              </a:defRPr>
            </a:pPr>
          </a:p>
        </c:txPr>
        <c:crossAx val="48650112"/>
        <c:crossBetween val="between"/>
      </c:valAx>
      <c:spPr>
        <a:solidFill xmlns:a="http://schemas.openxmlformats.org/drawingml/2006/main">
          <a:srgbClr val="FCFAF7"/>
        </a:solidFill>
        <a:ln xmlns:a="http://schemas.openxmlformats.org/drawingml/2006/main" w="0">
          <a:solidFill>
            <a:srgbClr val="FCFAF7"/>
          </a:solidFill>
          <a:prstDash val="solid"/>
        </a:ln>
      </c:spPr>
    </c:plotArea>
    <c:plotVisOnly val="1"/>
  </c:chart>
  <c:spPr>
    <a:solidFill xmlns:a="http://schemas.openxmlformats.org/drawingml/2006/main">
      <a:srgbClr val="FCFAF7"/>
    </a:solidFill>
  </c:spPr>
</c:chartSpace>
</file>

<file path=ppt/slides/slide1.xml><?xml version="1.0" encoding="utf-8"?>
<p:sld xmlns:p="http://schemas.openxmlformats.org/presentationml/2006/main">
  <p:cSld>
    <p:bg>
      <p:bgPr>
        <a:solidFill xmlns:a="http://schemas.openxmlformats.org/drawingml/2006/main">
          <a:srgbClr val="FCFAF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D814A41-039C-494D-8631-B7AFE0BB8160}"/>
              </a:ext>
            </a:extLst>
          </p:cNvPr>
          <p:cNvSpPr>
            <a:spLocks xmlns:a="http://schemas.openxmlformats.org/drawingml/2006/main" noGrp="1"/>
          </p:cNvSpPr>
          <p:nvPr/>
        </p:nvSpPr>
        <p:spPr>
          <a:xfrm xmlns:a="http://schemas.openxmlformats.org/drawingml/2006/main">
            <a:off x="0" y="0"/>
            <a:ext cx="4000500" cy="6858000"/>
          </a:xfrm>
          <a:prstGeom xmlns:a="http://schemas.openxmlformats.org/drawingml/2006/main" prst="rect">
            <a:avLst/>
          </a:prstGeom>
          <a:solidFill xmlns:a="http://schemas.openxmlformats.org/drawingml/2006/main">
            <a:srgbClr val="11100F"/>
          </a:solidFill>
          <a:ln xmlns:a="http://schemas.openxmlformats.org/drawingml/2006/main" w="0">
            <a:solidFill>
              <a:srgbClr val="11100F"/>
            </a:solidFill>
            <a:prstDash val="solid"/>
          </a:ln>
        </p:spPr>
      </p:sp>
      <p:sp>
        <p:nvSpPr>
          <p:cNvPr id="2" name="">
            <a:extLst xmlns:a="http://schemas.openxmlformats.org/drawingml/2006/main">
              <a:ext uri="{FF2B5EF4-FFF2-40B4-BE49-F238E27FC236}">
                <a16:creationId xmlns:a16="http://schemas.microsoft.com/office/drawing/2014/main" id="{89ED3E6F-239D-40F2-91DA-8EFDBB6BDCF6}"/>
              </a:ext>
            </a:extLst>
          </p:cNvPr>
          <p:cNvSpPr>
            <a:spLocks xmlns:a="http://schemas.openxmlformats.org/drawingml/2006/main" noGrp="1"/>
          </p:cNvSpPr>
          <p:nvPr/>
        </p:nvSpPr>
        <p:spPr>
          <a:xfrm xmlns:a="http://schemas.openxmlformats.org/drawingml/2006/main">
            <a:off x="4000500" y="0"/>
            <a:ext cx="8191500" cy="6858000"/>
          </a:xfrm>
          <a:prstGeom xmlns:a="http://schemas.openxmlformats.org/drawingml/2006/main" prst="rect">
            <a:avLst/>
          </a:prstGeom>
          <a:solidFill xmlns:a="http://schemas.openxmlformats.org/drawingml/2006/main">
            <a:srgbClr val="F6F2EC"/>
          </a:solidFill>
          <a:ln xmlns:a="http://schemas.openxmlformats.org/drawingml/2006/main" w="0">
            <a:solidFill>
              <a:srgbClr val="F6F2EC"/>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581d0429b79f4950"/>
          <a:srcRect xmlns:a="http://schemas.openxmlformats.org/drawingml/2006/main" l="21117" t="0" r="21117" b="0"/>
          <a:stretch xmlns:a="http://schemas.openxmlformats.org/drawingml/2006/main">
            <a:fillRect l="0" t="0" r="0" b="0"/>
          </a:stretch>
        </p:blipFill>
        <p:spPr>
          <a:xfrm xmlns:a="http://schemas.openxmlformats.org/drawingml/2006/main">
            <a:off x="5353050" y="495300"/>
            <a:ext cx="5810250" cy="5657850"/>
          </a:xfrm>
          <a:prstGeom xmlns:a="http://schemas.openxmlformats.org/drawingml/2006/main" prst="roundRect">
            <a:avLst>
              <a:gd name="adj" fmla="val 4714"/>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422e3f120d04ad3"/>
          <a:stretch xmlns:a="http://schemas.openxmlformats.org/drawingml/2006/main"/>
        </p:blipFill>
        <p:spPr>
          <a:xfrm xmlns:a="http://schemas.openxmlformats.org/drawingml/2006/main">
            <a:off x="723900" y="647700"/>
            <a:ext cx="876300" cy="876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9BB8747-EA92-4D91-91A8-3951CD8E55A9}"/>
              </a:ext>
            </a:extLst>
          </p:cNvPr>
          <p:cNvSpPr>
            <a:spLocks xmlns:a="http://schemas.openxmlformats.org/drawingml/2006/main" noGrp="1"/>
          </p:cNvSpPr>
          <p:nvPr/>
        </p:nvSpPr>
        <p:spPr>
          <a:xfrm xmlns:a="http://schemas.openxmlformats.org/drawingml/2006/main">
            <a:off x="704850" y="1809750"/>
            <a:ext cx="261937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1" i="0">
                <a:solidFill>
                  <a:srgbClr val="FFFFFF"/>
                </a:solidFill>
                <a:latin typeface="Helvetica Neue"/>
                <a:ea typeface="Helvetica Neue"/>
                <a:cs typeface="Helvetica Neue"/>
              </a:defRPr>
            </a:pPr>
            <a:r>
              <a:rPr sz="4350" b="1" i="0">
                <a:solidFill>
                  <a:srgbClr val="FFFFFF"/>
                </a:solidFill>
                <a:latin typeface="Helvetica Neue"/>
                <a:ea typeface="Helvetica Neue"/>
                <a:cs typeface="Helvetica Neue"/>
              </a:rPr>
              <a:t>Zen</a:t>
            </a:r>
          </a:p>
          <a:p xmlns:a="http://schemas.openxmlformats.org/drawingml/2006/main">
            <a:pPr algn="l">
              <a:defRPr sz="4350" b="1" i="0">
                <a:solidFill>
                  <a:srgbClr val="FFFFFF"/>
                </a:solidFill>
                <a:latin typeface="Helvetica Neue"/>
                <a:ea typeface="Helvetica Neue"/>
                <a:cs typeface="Helvetica Neue"/>
              </a:defRPr>
            </a:pPr>
            <a:r>
              <a:rPr sz="4350" b="1" i="0">
                <a:solidFill>
                  <a:srgbClr val="FFFFFF"/>
                </a:solidFill>
                <a:latin typeface="Helvetica Neue"/>
                <a:ea typeface="Helvetica Neue"/>
                <a:cs typeface="Helvetica Neue"/>
              </a:rPr>
              <a:t>Voice</a:t>
            </a:r>
          </a:p>
        </p:txBody>
      </p:sp>
      <p:sp>
        <p:nvSpPr>
          <p:cNvPr id="6" name="">
            <a:extLst xmlns:a="http://schemas.openxmlformats.org/drawingml/2006/main">
              <a:ext uri="{FF2B5EF4-FFF2-40B4-BE49-F238E27FC236}">
                <a16:creationId xmlns:a16="http://schemas.microsoft.com/office/drawing/2014/main" id="{F95BA87B-BC9F-4102-AA34-EA8E9577F816}"/>
              </a:ext>
            </a:extLst>
          </p:cNvPr>
          <p:cNvSpPr>
            <a:spLocks xmlns:a="http://schemas.openxmlformats.org/drawingml/2006/main" noGrp="1"/>
          </p:cNvSpPr>
          <p:nvPr/>
        </p:nvSpPr>
        <p:spPr>
          <a:xfrm xmlns:a="http://schemas.openxmlformats.org/drawingml/2006/main">
            <a:off x="704850" y="3105150"/>
            <a:ext cx="2667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0" i="1">
                <a:solidFill>
                  <a:srgbClr val="E8D2AD"/>
                </a:solidFill>
                <a:latin typeface="Helvetica Neue"/>
                <a:ea typeface="Helvetica Neue"/>
                <a:cs typeface="Helvetica Neue"/>
              </a:defRPr>
            </a:pPr>
            <a:r>
              <a:rPr sz="2175" b="0" i="1">
                <a:solidFill>
                  <a:srgbClr val="E8D2AD"/>
                </a:solidFill>
                <a:latin typeface="Helvetica Neue"/>
                <a:ea typeface="Helvetica Neue"/>
                <a:cs typeface="Helvetica Neue"/>
              </a:rPr>
              <a:t>Your voice,</a:t>
            </a:r>
          </a:p>
          <a:p xmlns:a="http://schemas.openxmlformats.org/drawingml/2006/main">
            <a:pPr algn="l">
              <a:defRPr sz="2175" b="0" i="1">
                <a:solidFill>
                  <a:srgbClr val="E8D2AD"/>
                </a:solidFill>
                <a:latin typeface="Helvetica Neue"/>
                <a:ea typeface="Helvetica Neue"/>
                <a:cs typeface="Helvetica Neue"/>
              </a:defRPr>
            </a:pPr>
            <a:r>
              <a:rPr sz="2175" b="0" i="1">
                <a:solidFill>
                  <a:srgbClr val="E8D2AD"/>
                </a:solidFill>
                <a:latin typeface="Helvetica Neue"/>
                <a:ea typeface="Helvetica Neue"/>
                <a:cs typeface="Helvetica Neue"/>
              </a:rPr>
              <a:t>written.</a:t>
            </a:r>
          </a:p>
        </p:txBody>
      </p:sp>
      <p:sp>
        <p:nvSpPr>
          <p:cNvPr id="7" name="">
            <a:extLst xmlns:a="http://schemas.openxmlformats.org/drawingml/2006/main">
              <a:ext uri="{FF2B5EF4-FFF2-40B4-BE49-F238E27FC236}">
                <a16:creationId xmlns:a16="http://schemas.microsoft.com/office/drawing/2014/main" id="{FD13CED8-B100-4FF7-AC60-95C6D7D1E1B0}"/>
              </a:ext>
            </a:extLst>
          </p:cNvPr>
          <p:cNvSpPr>
            <a:spLocks xmlns:a="http://schemas.openxmlformats.org/drawingml/2006/main" noGrp="1"/>
          </p:cNvSpPr>
          <p:nvPr/>
        </p:nvSpPr>
        <p:spPr>
          <a:xfrm xmlns:a="http://schemas.openxmlformats.org/drawingml/2006/main">
            <a:off x="704850" y="4977765"/>
            <a:ext cx="73959" cy="102870"/>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8" name="">
            <a:extLst xmlns:a="http://schemas.openxmlformats.org/drawingml/2006/main">
              <a:ext uri="{FF2B5EF4-FFF2-40B4-BE49-F238E27FC236}">
                <a16:creationId xmlns:a16="http://schemas.microsoft.com/office/drawing/2014/main" id="{760737E2-D974-4D47-B699-A7AAD0C211BD}"/>
              </a:ext>
            </a:extLst>
          </p:cNvPr>
          <p:cNvSpPr>
            <a:spLocks xmlns:a="http://schemas.openxmlformats.org/drawingml/2006/main" noGrp="1"/>
          </p:cNvSpPr>
          <p:nvPr/>
        </p:nvSpPr>
        <p:spPr>
          <a:xfrm xmlns:a="http://schemas.openxmlformats.org/drawingml/2006/main">
            <a:off x="855009" y="4952048"/>
            <a:ext cx="73959" cy="154305"/>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9" name="">
            <a:extLst xmlns:a="http://schemas.openxmlformats.org/drawingml/2006/main">
              <a:ext uri="{FF2B5EF4-FFF2-40B4-BE49-F238E27FC236}">
                <a16:creationId xmlns:a16="http://schemas.microsoft.com/office/drawing/2014/main" id="{F6DD90AC-5985-4034-8041-2FF32ACF8912}"/>
              </a:ext>
            </a:extLst>
          </p:cNvPr>
          <p:cNvSpPr>
            <a:spLocks xmlns:a="http://schemas.openxmlformats.org/drawingml/2006/main" noGrp="1"/>
          </p:cNvSpPr>
          <p:nvPr/>
        </p:nvSpPr>
        <p:spPr>
          <a:xfrm xmlns:a="http://schemas.openxmlformats.org/drawingml/2006/main">
            <a:off x="1005168" y="4900613"/>
            <a:ext cx="73959" cy="257175"/>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10" name="">
            <a:extLst xmlns:a="http://schemas.openxmlformats.org/drawingml/2006/main">
              <a:ext uri="{FF2B5EF4-FFF2-40B4-BE49-F238E27FC236}">
                <a16:creationId xmlns:a16="http://schemas.microsoft.com/office/drawing/2014/main" id="{1D556317-CBAC-4E34-B798-4C9BEF055535}"/>
              </a:ext>
            </a:extLst>
          </p:cNvPr>
          <p:cNvSpPr>
            <a:spLocks xmlns:a="http://schemas.openxmlformats.org/drawingml/2006/main" noGrp="1"/>
          </p:cNvSpPr>
          <p:nvPr/>
        </p:nvSpPr>
        <p:spPr>
          <a:xfrm xmlns:a="http://schemas.openxmlformats.org/drawingml/2006/main">
            <a:off x="1155326" y="4840605"/>
            <a:ext cx="73959" cy="377190"/>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11" name="">
            <a:extLst xmlns:a="http://schemas.openxmlformats.org/drawingml/2006/main">
              <a:ext uri="{FF2B5EF4-FFF2-40B4-BE49-F238E27FC236}">
                <a16:creationId xmlns:a16="http://schemas.microsoft.com/office/drawing/2014/main" id="{254A8EC9-14FF-4F6D-93B0-39CDB567BB3A}"/>
              </a:ext>
            </a:extLst>
          </p:cNvPr>
          <p:cNvSpPr>
            <a:spLocks xmlns:a="http://schemas.openxmlformats.org/drawingml/2006/main" noGrp="1"/>
          </p:cNvSpPr>
          <p:nvPr/>
        </p:nvSpPr>
        <p:spPr>
          <a:xfrm xmlns:a="http://schemas.openxmlformats.org/drawingml/2006/main">
            <a:off x="1305485" y="4909185"/>
            <a:ext cx="73959" cy="240030"/>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12" name="">
            <a:extLst xmlns:a="http://schemas.openxmlformats.org/drawingml/2006/main">
              <a:ext uri="{FF2B5EF4-FFF2-40B4-BE49-F238E27FC236}">
                <a16:creationId xmlns:a16="http://schemas.microsoft.com/office/drawing/2014/main" id="{B7F47419-CAEA-4C72-A883-A93DD3A46CCB}"/>
              </a:ext>
            </a:extLst>
          </p:cNvPr>
          <p:cNvSpPr>
            <a:spLocks xmlns:a="http://schemas.openxmlformats.org/drawingml/2006/main" noGrp="1"/>
          </p:cNvSpPr>
          <p:nvPr/>
        </p:nvSpPr>
        <p:spPr>
          <a:xfrm xmlns:a="http://schemas.openxmlformats.org/drawingml/2006/main">
            <a:off x="1455644" y="4784884"/>
            <a:ext cx="73959" cy="488633"/>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13" name="">
            <a:extLst xmlns:a="http://schemas.openxmlformats.org/drawingml/2006/main">
              <a:ext uri="{FF2B5EF4-FFF2-40B4-BE49-F238E27FC236}">
                <a16:creationId xmlns:a16="http://schemas.microsoft.com/office/drawing/2014/main" id="{C7C1853B-E8FB-4AD5-85D1-475BB744A972}"/>
              </a:ext>
            </a:extLst>
          </p:cNvPr>
          <p:cNvSpPr>
            <a:spLocks xmlns:a="http://schemas.openxmlformats.org/drawingml/2006/main" noGrp="1"/>
          </p:cNvSpPr>
          <p:nvPr/>
        </p:nvSpPr>
        <p:spPr>
          <a:xfrm xmlns:a="http://schemas.openxmlformats.org/drawingml/2006/main">
            <a:off x="1605803" y="4720590"/>
            <a:ext cx="73959" cy="617220"/>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14" name="">
            <a:extLst xmlns:a="http://schemas.openxmlformats.org/drawingml/2006/main">
              <a:ext uri="{FF2B5EF4-FFF2-40B4-BE49-F238E27FC236}">
                <a16:creationId xmlns:a16="http://schemas.microsoft.com/office/drawing/2014/main" id="{826622E8-B307-4838-A297-C10499124AAD}"/>
              </a:ext>
            </a:extLst>
          </p:cNvPr>
          <p:cNvSpPr>
            <a:spLocks xmlns:a="http://schemas.openxmlformats.org/drawingml/2006/main" noGrp="1"/>
          </p:cNvSpPr>
          <p:nvPr/>
        </p:nvSpPr>
        <p:spPr>
          <a:xfrm xmlns:a="http://schemas.openxmlformats.org/drawingml/2006/main">
            <a:off x="1755962" y="4823460"/>
            <a:ext cx="73959" cy="411480"/>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15" name="">
            <a:extLst xmlns:a="http://schemas.openxmlformats.org/drawingml/2006/main">
              <a:ext uri="{FF2B5EF4-FFF2-40B4-BE49-F238E27FC236}">
                <a16:creationId xmlns:a16="http://schemas.microsoft.com/office/drawing/2014/main" id="{0974186D-FD7C-472B-BD7F-3FCE9A32CC38}"/>
              </a:ext>
            </a:extLst>
          </p:cNvPr>
          <p:cNvSpPr>
            <a:spLocks xmlns:a="http://schemas.openxmlformats.org/drawingml/2006/main" noGrp="1"/>
          </p:cNvSpPr>
          <p:nvPr/>
        </p:nvSpPr>
        <p:spPr>
          <a:xfrm xmlns:a="http://schemas.openxmlformats.org/drawingml/2006/main">
            <a:off x="1906121" y="4883468"/>
            <a:ext cx="73959" cy="291465"/>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16" name="">
            <a:extLst xmlns:a="http://schemas.openxmlformats.org/drawingml/2006/main">
              <a:ext uri="{FF2B5EF4-FFF2-40B4-BE49-F238E27FC236}">
                <a16:creationId xmlns:a16="http://schemas.microsoft.com/office/drawing/2014/main" id="{ED211143-86BF-4A3B-A18B-6BE019297DD7}"/>
              </a:ext>
            </a:extLst>
          </p:cNvPr>
          <p:cNvSpPr>
            <a:spLocks xmlns:a="http://schemas.openxmlformats.org/drawingml/2006/main" noGrp="1"/>
          </p:cNvSpPr>
          <p:nvPr/>
        </p:nvSpPr>
        <p:spPr>
          <a:xfrm xmlns:a="http://schemas.openxmlformats.org/drawingml/2006/main">
            <a:off x="2056279" y="4772025"/>
            <a:ext cx="73959" cy="514350"/>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17" name="">
            <a:extLst xmlns:a="http://schemas.openxmlformats.org/drawingml/2006/main">
              <a:ext uri="{FF2B5EF4-FFF2-40B4-BE49-F238E27FC236}">
                <a16:creationId xmlns:a16="http://schemas.microsoft.com/office/drawing/2014/main" id="{B93D0B66-F3D9-4020-855C-C13FA8833D67}"/>
              </a:ext>
            </a:extLst>
          </p:cNvPr>
          <p:cNvSpPr>
            <a:spLocks xmlns:a="http://schemas.openxmlformats.org/drawingml/2006/main" noGrp="1"/>
          </p:cNvSpPr>
          <p:nvPr/>
        </p:nvSpPr>
        <p:spPr>
          <a:xfrm xmlns:a="http://schemas.openxmlformats.org/drawingml/2006/main">
            <a:off x="2206438" y="4694873"/>
            <a:ext cx="73959" cy="668655"/>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18" name="">
            <a:extLst xmlns:a="http://schemas.openxmlformats.org/drawingml/2006/main">
              <a:ext uri="{FF2B5EF4-FFF2-40B4-BE49-F238E27FC236}">
                <a16:creationId xmlns:a16="http://schemas.microsoft.com/office/drawing/2014/main" id="{2E886143-492F-440E-ACA2-DD33BD682761}"/>
              </a:ext>
            </a:extLst>
          </p:cNvPr>
          <p:cNvSpPr>
            <a:spLocks xmlns:a="http://schemas.openxmlformats.org/drawingml/2006/main" noGrp="1"/>
          </p:cNvSpPr>
          <p:nvPr/>
        </p:nvSpPr>
        <p:spPr>
          <a:xfrm xmlns:a="http://schemas.openxmlformats.org/drawingml/2006/main">
            <a:off x="2356597" y="4849178"/>
            <a:ext cx="73959" cy="360045"/>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19" name="">
            <a:extLst xmlns:a="http://schemas.openxmlformats.org/drawingml/2006/main">
              <a:ext uri="{FF2B5EF4-FFF2-40B4-BE49-F238E27FC236}">
                <a16:creationId xmlns:a16="http://schemas.microsoft.com/office/drawing/2014/main" id="{5E702AC4-2F22-4858-A6CD-B9D69FEFD039}"/>
              </a:ext>
            </a:extLst>
          </p:cNvPr>
          <p:cNvSpPr>
            <a:spLocks xmlns:a="http://schemas.openxmlformats.org/drawingml/2006/main" noGrp="1"/>
          </p:cNvSpPr>
          <p:nvPr/>
        </p:nvSpPr>
        <p:spPr>
          <a:xfrm xmlns:a="http://schemas.openxmlformats.org/drawingml/2006/main">
            <a:off x="2506756" y="4930616"/>
            <a:ext cx="73959" cy="197168"/>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20" name="">
            <a:extLst xmlns:a="http://schemas.openxmlformats.org/drawingml/2006/main">
              <a:ext uri="{FF2B5EF4-FFF2-40B4-BE49-F238E27FC236}">
                <a16:creationId xmlns:a16="http://schemas.microsoft.com/office/drawing/2014/main" id="{2C9957B6-4011-4FE7-9F3D-519712A2DB0E}"/>
              </a:ext>
            </a:extLst>
          </p:cNvPr>
          <p:cNvSpPr>
            <a:spLocks xmlns:a="http://schemas.openxmlformats.org/drawingml/2006/main" noGrp="1"/>
          </p:cNvSpPr>
          <p:nvPr/>
        </p:nvSpPr>
        <p:spPr>
          <a:xfrm xmlns:a="http://schemas.openxmlformats.org/drawingml/2006/main">
            <a:off x="2656915" y="4977765"/>
            <a:ext cx="73959" cy="102870"/>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21" name="">
            <a:extLst xmlns:a="http://schemas.openxmlformats.org/drawingml/2006/main">
              <a:ext uri="{FF2B5EF4-FFF2-40B4-BE49-F238E27FC236}">
                <a16:creationId xmlns:a16="http://schemas.microsoft.com/office/drawing/2014/main" id="{A5536DB2-2693-49BC-8FD5-96740D478221}"/>
              </a:ext>
            </a:extLst>
          </p:cNvPr>
          <p:cNvSpPr>
            <a:spLocks xmlns:a="http://schemas.openxmlformats.org/drawingml/2006/main" noGrp="1"/>
          </p:cNvSpPr>
          <p:nvPr/>
        </p:nvSpPr>
        <p:spPr>
          <a:xfrm xmlns:a="http://schemas.openxmlformats.org/drawingml/2006/main">
            <a:off x="2807074" y="4917758"/>
            <a:ext cx="73959" cy="222885"/>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22" name="">
            <a:extLst xmlns:a="http://schemas.openxmlformats.org/drawingml/2006/main">
              <a:ext uri="{FF2B5EF4-FFF2-40B4-BE49-F238E27FC236}">
                <a16:creationId xmlns:a16="http://schemas.microsoft.com/office/drawing/2014/main" id="{E20751E6-568C-4141-B5CF-D0BE174B61BD}"/>
              </a:ext>
            </a:extLst>
          </p:cNvPr>
          <p:cNvSpPr>
            <a:spLocks xmlns:a="http://schemas.openxmlformats.org/drawingml/2006/main" noGrp="1"/>
          </p:cNvSpPr>
          <p:nvPr/>
        </p:nvSpPr>
        <p:spPr>
          <a:xfrm xmlns:a="http://schemas.openxmlformats.org/drawingml/2006/main">
            <a:off x="2957232" y="4866323"/>
            <a:ext cx="73959" cy="325755"/>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23" name="">
            <a:extLst xmlns:a="http://schemas.openxmlformats.org/drawingml/2006/main">
              <a:ext uri="{FF2B5EF4-FFF2-40B4-BE49-F238E27FC236}">
                <a16:creationId xmlns:a16="http://schemas.microsoft.com/office/drawing/2014/main" id="{2A890982-D19A-44EC-86CF-802A163E8D25}"/>
              </a:ext>
            </a:extLst>
          </p:cNvPr>
          <p:cNvSpPr>
            <a:spLocks xmlns:a="http://schemas.openxmlformats.org/drawingml/2006/main" noGrp="1"/>
          </p:cNvSpPr>
          <p:nvPr/>
        </p:nvSpPr>
        <p:spPr>
          <a:xfrm xmlns:a="http://schemas.openxmlformats.org/drawingml/2006/main">
            <a:off x="3107391" y="4956334"/>
            <a:ext cx="73959" cy="145733"/>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24" name="">
            <a:extLst xmlns:a="http://schemas.openxmlformats.org/drawingml/2006/main">
              <a:ext uri="{FF2B5EF4-FFF2-40B4-BE49-F238E27FC236}">
                <a16:creationId xmlns:a16="http://schemas.microsoft.com/office/drawing/2014/main" id="{2E314C01-DFBE-4111-A01F-D72DBA6F124B}"/>
              </a:ext>
            </a:extLst>
          </p:cNvPr>
          <p:cNvSpPr>
            <a:spLocks xmlns:a="http://schemas.openxmlformats.org/drawingml/2006/main" noGrp="1"/>
          </p:cNvSpPr>
          <p:nvPr/>
        </p:nvSpPr>
        <p:spPr>
          <a:xfrm xmlns:a="http://schemas.openxmlformats.org/drawingml/2006/main">
            <a:off x="704850" y="56769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CDC6BE"/>
                </a:solidFill>
                <a:latin typeface="Helvetica Neue"/>
                <a:ea typeface="Helvetica Neue"/>
                <a:cs typeface="Helvetica Neue"/>
              </a:defRPr>
            </a:pPr>
            <a:r>
              <a:rPr sz="1275" b="0" i="0">
                <a:solidFill>
                  <a:srgbClr val="CDC6BE"/>
                </a:solidFill>
                <a:latin typeface="Helvetica Neue"/>
                <a:ea typeface="Helvetica Neue"/>
                <a:cs typeface="Helvetica Neue"/>
              </a:rPr>
              <a:t>Company product + college project</a:t>
            </a:r>
          </a:p>
          <a:p xmlns:a="http://schemas.openxmlformats.org/drawingml/2006/main">
            <a:pPr algn="l">
              <a:defRPr sz="1275" b="0" i="0">
                <a:solidFill>
                  <a:srgbClr val="CDC6BE"/>
                </a:solidFill>
                <a:latin typeface="Helvetica Neue"/>
                <a:ea typeface="Helvetica Neue"/>
                <a:cs typeface="Helvetica Neue"/>
              </a:defRPr>
            </a:pPr>
            <a:r>
              <a:rPr sz="1275" b="0" i="0">
                <a:solidFill>
                  <a:srgbClr val="CDC6BE"/>
                </a:solidFill>
                <a:latin typeface="Helvetica Neue"/>
                <a:ea typeface="Helvetica Neue"/>
                <a:cs typeface="Helvetica Neue"/>
              </a:rPr>
              <a:t>Native macOS • AI/ML • Privacy</a:t>
            </a:r>
          </a:p>
        </p:txBody>
      </p:sp>
      <p:sp>
        <p:nvSpPr>
          <p:cNvPr id="25" name="">
            <a:extLst xmlns:a="http://schemas.openxmlformats.org/drawingml/2006/main">
              <a:ext uri="{FF2B5EF4-FFF2-40B4-BE49-F238E27FC236}">
                <a16:creationId xmlns:a16="http://schemas.microsoft.com/office/drawing/2014/main" id="{2025F9FB-1613-4083-A18C-584BA2125FE7}"/>
              </a:ext>
            </a:extLst>
          </p:cNvPr>
          <p:cNvSpPr>
            <a:spLocks xmlns:a="http://schemas.openxmlformats.org/drawingml/2006/main" noGrp="1"/>
          </p:cNvSpPr>
          <p:nvPr/>
        </p:nvSpPr>
        <p:spPr>
          <a:xfrm xmlns:a="http://schemas.openxmlformats.org/drawingml/2006/main">
            <a:off x="5353050" y="58102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EEE1CD"/>
                </a:solidFill>
                <a:latin typeface="Helvetica Neue"/>
                <a:ea typeface="Helvetica Neue"/>
                <a:cs typeface="Helvetica Neue"/>
              </a:defRPr>
            </a:pPr>
            <a:r>
              <a:rPr sz="1275" b="0" i="0">
                <a:solidFill>
                  <a:srgbClr val="EEE1CD"/>
                </a:solidFill>
                <a:latin typeface="Helvetica Neue"/>
                <a:ea typeface="Helvetica Neue"/>
                <a:cs typeface="Helvetica Neue"/>
              </a:rPr>
              <a:t>Product, technology, use, and next steps</a:t>
            </a:r>
          </a:p>
        </p:txBody>
      </p:sp>
    </p:spTree>
    <p:extLst>
      <p:ext uri="{BB962C8B-B14F-4D97-AF65-F5344CB8AC3E}">
        <p14:creationId xmlns:p14="http://schemas.microsoft.com/office/powerpoint/2010/main" val="1741167502"/>
      </p:ext>
    </p:extLst>
  </p:cSld>
  <p:transition spd="med" advClick="1">
    <p:fade/>
  </p:transition>
</p:sld>
</file>

<file path=ppt/slides/slide2.xml><?xml version="1.0" encoding="utf-8"?>
<p:sld xmlns:p="http://schemas.openxmlformats.org/presentationml/2006/main">
  <p:cSld>
    <p:bg>
      <p:bgPr>
        <a:solidFill xmlns:a="http://schemas.openxmlformats.org/drawingml/2006/main">
          <a:srgbClr val="FCFAF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6C54D32-073D-4B6F-A2A1-D2ED50B7651D}"/>
              </a:ext>
            </a:extLst>
          </p:cNvPr>
          <p:cNvSpPr>
            <a:spLocks xmlns:a="http://schemas.openxmlformats.org/drawingml/2006/main" noGrp="1"/>
          </p:cNvSpPr>
          <p:nvPr/>
        </p:nvSpPr>
        <p:spPr>
          <a:xfrm xmlns:a="http://schemas.openxmlformats.org/drawingml/2006/main">
            <a:off x="609600" y="457200"/>
            <a:ext cx="1104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B58A4A"/>
                </a:solidFill>
                <a:latin typeface="Helvetica Neue"/>
                <a:ea typeface="Helvetica Neue"/>
                <a:cs typeface="Helvetica Neue"/>
              </a:defRPr>
            </a:pPr>
            <a:r>
              <a:rPr sz="1125" b="1" i="0">
                <a:solidFill>
                  <a:srgbClr val="B58A4A"/>
                </a:solidFill>
                <a:latin typeface="Helvetica Neue"/>
                <a:ea typeface="Helvetica Neue"/>
                <a:cs typeface="Helvetica Neue"/>
              </a:rPr>
              <a:t>02  /  THE PROBLEM</a:t>
            </a:r>
          </a:p>
        </p:txBody>
      </p:sp>
      <p:sp>
        <p:nvSpPr>
          <p:cNvPr id="2" name="">
            <a:extLst xmlns:a="http://schemas.openxmlformats.org/drawingml/2006/main">
              <a:ext uri="{FF2B5EF4-FFF2-40B4-BE49-F238E27FC236}">
                <a16:creationId xmlns:a16="http://schemas.microsoft.com/office/drawing/2014/main" id="{045EC183-D4B1-456D-837B-ACC4F7AF6640}"/>
              </a:ext>
            </a:extLst>
          </p:cNvPr>
          <p:cNvSpPr>
            <a:spLocks xmlns:a="http://schemas.openxmlformats.org/drawingml/2006/main" noGrp="1"/>
          </p:cNvSpPr>
          <p:nvPr/>
        </p:nvSpPr>
        <p:spPr>
          <a:xfrm xmlns:a="http://schemas.openxmlformats.org/drawingml/2006/main">
            <a:off x="609600" y="838200"/>
            <a:ext cx="10287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00F"/>
                </a:solidFill>
                <a:latin typeface="Helvetica Neue"/>
                <a:ea typeface="Helvetica Neue"/>
                <a:cs typeface="Helvetica Neue"/>
              </a:defRPr>
            </a:pPr>
            <a:r>
              <a:rPr sz="3000" b="1" i="0">
                <a:solidFill>
                  <a:srgbClr val="11100F"/>
                </a:solidFill>
                <a:latin typeface="Helvetica Neue"/>
                <a:ea typeface="Helvetica Neue"/>
                <a:cs typeface="Helvetica Neue"/>
              </a:rPr>
              <a:t>Typing slows us down when ideas arrive faster than fingers.</a:t>
            </a:r>
          </a:p>
        </p:txBody>
      </p:sp>
      <p:sp>
        <p:nvSpPr>
          <p:cNvPr id="3" name="">
            <a:extLst xmlns:a="http://schemas.openxmlformats.org/drawingml/2006/main">
              <a:ext uri="{FF2B5EF4-FFF2-40B4-BE49-F238E27FC236}">
                <a16:creationId xmlns:a16="http://schemas.microsoft.com/office/drawing/2014/main" id="{78B893FE-0CBE-431A-99EC-4BE9FDC05F52}"/>
              </a:ext>
            </a:extLst>
          </p:cNvPr>
          <p:cNvSpPr>
            <a:spLocks xmlns:a="http://schemas.openxmlformats.org/drawingml/2006/main" noGrp="1"/>
          </p:cNvSpPr>
          <p:nvPr/>
        </p:nvSpPr>
        <p:spPr>
          <a:xfrm xmlns:a="http://schemas.openxmlformats.org/drawingml/2006/main">
            <a:off x="609600" y="1952625"/>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6F665E"/>
                </a:solidFill>
                <a:latin typeface="Helvetica Neue"/>
                <a:ea typeface="Helvetica Neue"/>
                <a:cs typeface="Helvetica Neue"/>
              </a:defRPr>
            </a:pPr>
            <a:r>
              <a:rPr sz="1575" b="0" i="0">
                <a:solidFill>
                  <a:srgbClr val="6F665E"/>
                </a:solidFill>
                <a:latin typeface="Helvetica Neue"/>
                <a:ea typeface="Helvetica Neue"/>
                <a:cs typeface="Helvetica Neue"/>
              </a:rPr>
              <a:t>People want the speed of voice without the privacy trade-off of sending their work to a remote speech service.</a:t>
            </a:r>
          </a:p>
        </p:txBody>
      </p:sp>
      <p:sp>
        <p:nvSpPr>
          <p:cNvPr id="4" name="">
            <a:extLst xmlns:a="http://schemas.openxmlformats.org/drawingml/2006/main">
              <a:ext uri="{FF2B5EF4-FFF2-40B4-BE49-F238E27FC236}">
                <a16:creationId xmlns:a16="http://schemas.microsoft.com/office/drawing/2014/main" id="{08DA48D4-F396-4EDF-909D-ED7B4FCEAE4B}"/>
              </a:ext>
            </a:extLst>
          </p:cNvPr>
          <p:cNvSpPr>
            <a:spLocks xmlns:a="http://schemas.openxmlformats.org/drawingml/2006/main" noGrp="1"/>
          </p:cNvSpPr>
          <p:nvPr/>
        </p:nvSpPr>
        <p:spPr>
          <a:xfrm xmlns:a="http://schemas.openxmlformats.org/drawingml/2006/main">
            <a:off x="609600" y="2533650"/>
            <a:ext cx="10972800" cy="0"/>
          </a:xfrm>
          <a:prstGeom xmlns:a="http://schemas.openxmlformats.org/drawingml/2006/main" prst="line">
            <a:avLst/>
          </a:prstGeom>
          <a:noFill xmlns:a="http://schemas.openxmlformats.org/drawingml/2006/main"/>
          <a:ln xmlns:a="http://schemas.openxmlformats.org/drawingml/2006/main" w="9525">
            <a:solidFill>
              <a:srgbClr val="D9D0C5"/>
            </a:solidFill>
            <a:prstDash val="solid"/>
          </a:ln>
        </p:spPr>
      </p:sp>
      <p:sp>
        <p:nvSpPr>
          <p:cNvPr id="5" name="">
            <a:extLst xmlns:a="http://schemas.openxmlformats.org/drawingml/2006/main">
              <a:ext uri="{FF2B5EF4-FFF2-40B4-BE49-F238E27FC236}">
                <a16:creationId xmlns:a16="http://schemas.microsoft.com/office/drawing/2014/main" id="{5F3D3704-1C54-44E6-922C-6646D069E3A0}"/>
              </a:ext>
            </a:extLst>
          </p:cNvPr>
          <p:cNvSpPr>
            <a:spLocks xmlns:a="http://schemas.openxmlformats.org/drawingml/2006/main" noGrp="1"/>
          </p:cNvSpPr>
          <p:nvPr/>
        </p:nvSpPr>
        <p:spPr>
          <a:xfrm xmlns:a="http://schemas.openxmlformats.org/drawingml/2006/main">
            <a:off x="819150" y="3000375"/>
            <a:ext cx="95250" cy="95250"/>
          </a:xfrm>
          <a:prstGeom xmlns:a="http://schemas.openxmlformats.org/drawingml/2006/main" prst="ellipse">
            <a:avLst/>
          </a:prstGeom>
          <a:solidFill xmlns:a="http://schemas.openxmlformats.org/drawingml/2006/main">
            <a:srgbClr val="B58A4A"/>
          </a:solidFill>
          <a:ln xmlns:a="http://schemas.openxmlformats.org/drawingml/2006/main" w="0">
            <a:solidFill>
              <a:srgbClr val="B58A4A"/>
            </a:solidFill>
            <a:prstDash val="solid"/>
          </a:ln>
        </p:spPr>
      </p:sp>
      <p:sp>
        <p:nvSpPr>
          <p:cNvPr id="6" name="">
            <a:extLst xmlns:a="http://schemas.openxmlformats.org/drawingml/2006/main">
              <a:ext uri="{FF2B5EF4-FFF2-40B4-BE49-F238E27FC236}">
                <a16:creationId xmlns:a16="http://schemas.microsoft.com/office/drawing/2014/main" id="{9E03BE49-A7D0-4B3A-A54F-7B7787C5BE8C}"/>
              </a:ext>
            </a:extLst>
          </p:cNvPr>
          <p:cNvSpPr>
            <a:spLocks xmlns:a="http://schemas.openxmlformats.org/drawingml/2006/main" noGrp="1"/>
          </p:cNvSpPr>
          <p:nvPr/>
        </p:nvSpPr>
        <p:spPr>
          <a:xfrm xmlns:a="http://schemas.openxmlformats.org/drawingml/2006/main">
            <a:off x="1085850" y="2914650"/>
            <a:ext cx="2838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1100F"/>
                </a:solidFill>
                <a:latin typeface="Helvetica Neue"/>
                <a:ea typeface="Helvetica Neue"/>
                <a:cs typeface="Helvetica Neue"/>
              </a:defRPr>
            </a:pPr>
            <a:r>
              <a:rPr sz="1800" b="1" i="0">
                <a:solidFill>
                  <a:srgbClr val="11100F"/>
                </a:solidFill>
                <a:latin typeface="Helvetica Neue"/>
                <a:ea typeface="Helvetica Neue"/>
                <a:cs typeface="Helvetica Neue"/>
              </a:rPr>
              <a:t>Students</a:t>
            </a:r>
          </a:p>
        </p:txBody>
      </p:sp>
      <p:sp>
        <p:nvSpPr>
          <p:cNvPr id="7" name="">
            <a:extLst xmlns:a="http://schemas.openxmlformats.org/drawingml/2006/main">
              <a:ext uri="{FF2B5EF4-FFF2-40B4-BE49-F238E27FC236}">
                <a16:creationId xmlns:a16="http://schemas.microsoft.com/office/drawing/2014/main" id="{9A9C8693-2806-4D19-8A03-27046122651D}"/>
              </a:ext>
            </a:extLst>
          </p:cNvPr>
          <p:cNvSpPr>
            <a:spLocks xmlns:a="http://schemas.openxmlformats.org/drawingml/2006/main" noGrp="1"/>
          </p:cNvSpPr>
          <p:nvPr/>
        </p:nvSpPr>
        <p:spPr>
          <a:xfrm xmlns:a="http://schemas.openxmlformats.org/drawingml/2006/main">
            <a:off x="1085850" y="3228975"/>
            <a:ext cx="2838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6F665E"/>
                </a:solidFill>
                <a:latin typeface="Helvetica Neue"/>
                <a:ea typeface="Helvetica Neue"/>
                <a:cs typeface="Helvetica Neue"/>
              </a:defRPr>
            </a:pPr>
            <a:r>
              <a:rPr sz="1500" b="0" i="0">
                <a:solidFill>
                  <a:srgbClr val="6F665E"/>
                </a:solidFill>
                <a:latin typeface="Helvetica Neue"/>
                <a:ea typeface="Helvetica Neue"/>
                <a:cs typeface="Helvetica Neue"/>
              </a:rPr>
              <a:t>Capture an explanation or turn a rough idea into notes without stopping the lesson.</a:t>
            </a:r>
          </a:p>
        </p:txBody>
      </p:sp>
      <p:sp>
        <p:nvSpPr>
          <p:cNvPr id="8" name="">
            <a:extLst xmlns:a="http://schemas.openxmlformats.org/drawingml/2006/main">
              <a:ext uri="{FF2B5EF4-FFF2-40B4-BE49-F238E27FC236}">
                <a16:creationId xmlns:a16="http://schemas.microsoft.com/office/drawing/2014/main" id="{3D20EA61-7F2E-4B88-9516-F97613419CA0}"/>
              </a:ext>
            </a:extLst>
          </p:cNvPr>
          <p:cNvSpPr>
            <a:spLocks xmlns:a="http://schemas.openxmlformats.org/drawingml/2006/main" noGrp="1"/>
          </p:cNvSpPr>
          <p:nvPr/>
        </p:nvSpPr>
        <p:spPr>
          <a:xfrm xmlns:a="http://schemas.openxmlformats.org/drawingml/2006/main">
            <a:off x="4495800" y="3000375"/>
            <a:ext cx="95250" cy="95250"/>
          </a:xfrm>
          <a:prstGeom xmlns:a="http://schemas.openxmlformats.org/drawingml/2006/main" prst="ellipse">
            <a:avLst/>
          </a:prstGeom>
          <a:solidFill xmlns:a="http://schemas.openxmlformats.org/drawingml/2006/main">
            <a:srgbClr val="256B5B"/>
          </a:solidFill>
          <a:ln xmlns:a="http://schemas.openxmlformats.org/drawingml/2006/main" w="0">
            <a:solidFill>
              <a:srgbClr val="256B5B"/>
            </a:solidFill>
            <a:prstDash val="solid"/>
          </a:ln>
        </p:spPr>
      </p:sp>
      <p:sp>
        <p:nvSpPr>
          <p:cNvPr id="9" name="">
            <a:extLst xmlns:a="http://schemas.openxmlformats.org/drawingml/2006/main">
              <a:ext uri="{FF2B5EF4-FFF2-40B4-BE49-F238E27FC236}">
                <a16:creationId xmlns:a16="http://schemas.microsoft.com/office/drawing/2014/main" id="{A7A8450E-BEA2-4A23-A6F1-0C636AC0DA95}"/>
              </a:ext>
            </a:extLst>
          </p:cNvPr>
          <p:cNvSpPr>
            <a:spLocks xmlns:a="http://schemas.openxmlformats.org/drawingml/2006/main" noGrp="1"/>
          </p:cNvSpPr>
          <p:nvPr/>
        </p:nvSpPr>
        <p:spPr>
          <a:xfrm xmlns:a="http://schemas.openxmlformats.org/drawingml/2006/main">
            <a:off x="4762500" y="2914650"/>
            <a:ext cx="2838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1100F"/>
                </a:solidFill>
                <a:latin typeface="Helvetica Neue"/>
                <a:ea typeface="Helvetica Neue"/>
                <a:cs typeface="Helvetica Neue"/>
              </a:defRPr>
            </a:pPr>
            <a:r>
              <a:rPr sz="1800" b="1" i="0">
                <a:solidFill>
                  <a:srgbClr val="11100F"/>
                </a:solidFill>
                <a:latin typeface="Helvetica Neue"/>
                <a:ea typeface="Helvetica Neue"/>
                <a:cs typeface="Helvetica Neue"/>
              </a:rPr>
              <a:t>Professionals</a:t>
            </a:r>
          </a:p>
        </p:txBody>
      </p:sp>
      <p:sp>
        <p:nvSpPr>
          <p:cNvPr id="10" name="">
            <a:extLst xmlns:a="http://schemas.openxmlformats.org/drawingml/2006/main">
              <a:ext uri="{FF2B5EF4-FFF2-40B4-BE49-F238E27FC236}">
                <a16:creationId xmlns:a16="http://schemas.microsoft.com/office/drawing/2014/main" id="{BA0D493D-BD2E-4298-B46F-790BC95D3771}"/>
              </a:ext>
            </a:extLst>
          </p:cNvPr>
          <p:cNvSpPr>
            <a:spLocks xmlns:a="http://schemas.openxmlformats.org/drawingml/2006/main" noGrp="1"/>
          </p:cNvSpPr>
          <p:nvPr/>
        </p:nvSpPr>
        <p:spPr>
          <a:xfrm xmlns:a="http://schemas.openxmlformats.org/drawingml/2006/main">
            <a:off x="4762500" y="3228975"/>
            <a:ext cx="2838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6F665E"/>
                </a:solidFill>
                <a:latin typeface="Helvetica Neue"/>
                <a:ea typeface="Helvetica Neue"/>
                <a:cs typeface="Helvetica Neue"/>
              </a:defRPr>
            </a:pPr>
            <a:r>
              <a:rPr sz="1500" b="0" i="0">
                <a:solidFill>
                  <a:srgbClr val="6F665E"/>
                </a:solidFill>
                <a:latin typeface="Helvetica Neue"/>
                <a:ea typeface="Helvetica Neue"/>
                <a:cs typeface="Helvetica Neue"/>
              </a:rPr>
              <a:t>Write messages, briefs, and reports while staying inside the tools they already use.</a:t>
            </a:r>
          </a:p>
        </p:txBody>
      </p:sp>
      <p:sp>
        <p:nvSpPr>
          <p:cNvPr id="11" name="">
            <a:extLst xmlns:a="http://schemas.openxmlformats.org/drawingml/2006/main">
              <a:ext uri="{FF2B5EF4-FFF2-40B4-BE49-F238E27FC236}">
                <a16:creationId xmlns:a16="http://schemas.microsoft.com/office/drawing/2014/main" id="{58CF6454-E3CD-4E9D-984E-67789375790E}"/>
              </a:ext>
            </a:extLst>
          </p:cNvPr>
          <p:cNvSpPr>
            <a:spLocks xmlns:a="http://schemas.openxmlformats.org/drawingml/2006/main" noGrp="1"/>
          </p:cNvSpPr>
          <p:nvPr/>
        </p:nvSpPr>
        <p:spPr>
          <a:xfrm xmlns:a="http://schemas.openxmlformats.org/drawingml/2006/main">
            <a:off x="8172450" y="3000375"/>
            <a:ext cx="95250" cy="95250"/>
          </a:xfrm>
          <a:prstGeom xmlns:a="http://schemas.openxmlformats.org/drawingml/2006/main" prst="ellipse">
            <a:avLst/>
          </a:prstGeom>
          <a:solidFill xmlns:a="http://schemas.openxmlformats.org/drawingml/2006/main">
            <a:srgbClr val="A74538"/>
          </a:solidFill>
          <a:ln xmlns:a="http://schemas.openxmlformats.org/drawingml/2006/main" w="0">
            <a:solidFill>
              <a:srgbClr val="A74538"/>
            </a:solidFill>
            <a:prstDash val="solid"/>
          </a:ln>
        </p:spPr>
      </p:sp>
      <p:sp>
        <p:nvSpPr>
          <p:cNvPr id="12" name="">
            <a:extLst xmlns:a="http://schemas.openxmlformats.org/drawingml/2006/main">
              <a:ext uri="{FF2B5EF4-FFF2-40B4-BE49-F238E27FC236}">
                <a16:creationId xmlns:a16="http://schemas.microsoft.com/office/drawing/2014/main" id="{9FF24705-D04E-404B-92EF-1279A8E93F4E}"/>
              </a:ext>
            </a:extLst>
          </p:cNvPr>
          <p:cNvSpPr>
            <a:spLocks xmlns:a="http://schemas.openxmlformats.org/drawingml/2006/main" noGrp="1"/>
          </p:cNvSpPr>
          <p:nvPr/>
        </p:nvSpPr>
        <p:spPr>
          <a:xfrm xmlns:a="http://schemas.openxmlformats.org/drawingml/2006/main">
            <a:off x="8439150" y="2914650"/>
            <a:ext cx="2838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1100F"/>
                </a:solidFill>
                <a:latin typeface="Helvetica Neue"/>
                <a:ea typeface="Helvetica Neue"/>
                <a:cs typeface="Helvetica Neue"/>
              </a:defRPr>
            </a:pPr>
            <a:r>
              <a:rPr sz="1800" b="1" i="0">
                <a:solidFill>
                  <a:srgbClr val="11100F"/>
                </a:solidFill>
                <a:latin typeface="Helvetica Neue"/>
                <a:ea typeface="Helvetica Neue"/>
                <a:cs typeface="Helvetica Neue"/>
              </a:rPr>
              <a:t>Private-work users</a:t>
            </a:r>
          </a:p>
        </p:txBody>
      </p:sp>
      <p:sp>
        <p:nvSpPr>
          <p:cNvPr id="13" name="">
            <a:extLst xmlns:a="http://schemas.openxmlformats.org/drawingml/2006/main">
              <a:ext uri="{FF2B5EF4-FFF2-40B4-BE49-F238E27FC236}">
                <a16:creationId xmlns:a16="http://schemas.microsoft.com/office/drawing/2014/main" id="{29E389AB-C617-4DEA-B211-DDE34A2B85C2}"/>
              </a:ext>
            </a:extLst>
          </p:cNvPr>
          <p:cNvSpPr>
            <a:spLocks xmlns:a="http://schemas.openxmlformats.org/drawingml/2006/main" noGrp="1"/>
          </p:cNvSpPr>
          <p:nvPr/>
        </p:nvSpPr>
        <p:spPr>
          <a:xfrm xmlns:a="http://schemas.openxmlformats.org/drawingml/2006/main">
            <a:off x="8439150" y="3228975"/>
            <a:ext cx="2838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6F665E"/>
                </a:solidFill>
                <a:latin typeface="Helvetica Neue"/>
                <a:ea typeface="Helvetica Neue"/>
                <a:cs typeface="Helvetica Neue"/>
              </a:defRPr>
            </a:pPr>
            <a:r>
              <a:rPr sz="1500" b="0" i="0">
                <a:solidFill>
                  <a:srgbClr val="6F665E"/>
                </a:solidFill>
                <a:latin typeface="Helvetica Neue"/>
                <a:ea typeface="Helvetica Neue"/>
                <a:cs typeface="Helvetica Neue"/>
              </a:rPr>
              <a:t>Keep sensitive spoken context on the device instead of making cloud transcription the default.</a:t>
            </a:r>
          </a:p>
        </p:txBody>
      </p:sp>
      <p:sp>
        <p:nvSpPr>
          <p:cNvPr id="14" name="">
            <a:extLst xmlns:a="http://schemas.openxmlformats.org/drawingml/2006/main">
              <a:ext uri="{FF2B5EF4-FFF2-40B4-BE49-F238E27FC236}">
                <a16:creationId xmlns:a16="http://schemas.microsoft.com/office/drawing/2014/main" id="{E625FFED-A89F-4544-BE96-A2946C6D5EE1}"/>
              </a:ext>
            </a:extLst>
          </p:cNvPr>
          <p:cNvSpPr>
            <a:spLocks xmlns:a="http://schemas.openxmlformats.org/drawingml/2006/main" noGrp="1"/>
          </p:cNvSpPr>
          <p:nvPr/>
        </p:nvSpPr>
        <p:spPr>
          <a:xfrm xmlns:a="http://schemas.openxmlformats.org/drawingml/2006/main">
            <a:off x="819150" y="5114925"/>
            <a:ext cx="1028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i="0">
                <a:solidFill>
                  <a:srgbClr val="11100F"/>
                </a:solidFill>
                <a:latin typeface="Helvetica Neue"/>
                <a:ea typeface="Helvetica Neue"/>
                <a:cs typeface="Helvetica Neue"/>
              </a:defRPr>
            </a:pPr>
            <a:r>
              <a:rPr sz="2100" b="1" i="0">
                <a:solidFill>
                  <a:srgbClr val="11100F"/>
                </a:solidFill>
                <a:latin typeface="Helvetica Neue"/>
                <a:ea typeface="Helvetica Neue"/>
                <a:cs typeface="Helvetica Neue"/>
              </a:rPr>
              <a:t>The design question is simple: can dictation feel immediate, useful, and trustworthy at the same time?</a:t>
            </a:r>
          </a:p>
        </p:txBody>
      </p:sp>
      <p:sp>
        <p:nvSpPr>
          <p:cNvPr id="15" name="">
            <a:extLst xmlns:a="http://schemas.openxmlformats.org/drawingml/2006/main">
              <a:ext uri="{FF2B5EF4-FFF2-40B4-BE49-F238E27FC236}">
                <a16:creationId xmlns:a16="http://schemas.microsoft.com/office/drawing/2014/main" id="{59B07B41-A12E-490F-9F5A-71C84353F984}"/>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9D0C5"/>
            </a:solidFill>
            <a:prstDash val="solid"/>
          </a:ln>
        </p:spPr>
      </p:sp>
      <p:sp>
        <p:nvSpPr>
          <p:cNvPr id="16" name="">
            <a:extLst xmlns:a="http://schemas.openxmlformats.org/drawingml/2006/main">
              <a:ext uri="{FF2B5EF4-FFF2-40B4-BE49-F238E27FC236}">
                <a16:creationId xmlns:a16="http://schemas.microsoft.com/office/drawing/2014/main" id="{087BE4BE-E5E9-4684-BF95-DE90DB1AEF34}"/>
              </a:ext>
            </a:extLst>
          </p:cNvPr>
          <p:cNvSpPr>
            <a:spLocks xmlns:a="http://schemas.openxmlformats.org/drawingml/2006/main" noGrp="1"/>
          </p:cNvSpPr>
          <p:nvPr/>
        </p:nvSpPr>
        <p:spPr>
          <a:xfrm xmlns:a="http://schemas.openxmlformats.org/drawingml/2006/main">
            <a:off x="609600" y="65627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9B9086"/>
                </a:solidFill>
                <a:latin typeface="Helvetica Neue"/>
                <a:ea typeface="Helvetica Neue"/>
                <a:cs typeface="Helvetica Neue"/>
              </a:defRPr>
            </a:pPr>
            <a:r>
              <a:rPr sz="900" b="1" i="0">
                <a:solidFill>
                  <a:srgbClr val="9B9086"/>
                </a:solidFill>
                <a:latin typeface="Helvetica Neue"/>
                <a:ea typeface="Helvetica Neue"/>
                <a:cs typeface="Helvetica Neue"/>
              </a:rPr>
              <a:t>ZENVOICE  |  PRIVATE LOCAL-FIRST DICTATION</a:t>
            </a:r>
          </a:p>
        </p:txBody>
      </p:sp>
      <p:sp>
        <p:nvSpPr>
          <p:cNvPr id="17" name="">
            <a:extLst xmlns:a="http://schemas.openxmlformats.org/drawingml/2006/main">
              <a:ext uri="{FF2B5EF4-FFF2-40B4-BE49-F238E27FC236}">
                <a16:creationId xmlns:a16="http://schemas.microsoft.com/office/drawing/2014/main" id="{0423D32B-0160-4205-8B2B-62C78942ED75}"/>
              </a:ext>
            </a:extLst>
          </p:cNvPr>
          <p:cNvSpPr>
            <a:spLocks xmlns:a="http://schemas.openxmlformats.org/drawingml/2006/main" noGrp="1"/>
          </p:cNvSpPr>
          <p:nvPr/>
        </p:nvSpPr>
        <p:spPr>
          <a:xfrm xmlns:a="http://schemas.openxmlformats.org/drawingml/2006/main">
            <a:off x="10668000" y="6562725"/>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9B9086"/>
                </a:solidFill>
                <a:latin typeface="Helvetica Neue"/>
                <a:ea typeface="Helvetica Neue"/>
                <a:cs typeface="Helvetica Neue"/>
              </a:defRPr>
            </a:pPr>
            <a:r>
              <a:rPr sz="900" b="1" i="0">
                <a:solidFill>
                  <a:srgbClr val="9B9086"/>
                </a:solidFill>
                <a:latin typeface="Helvetica Neue"/>
                <a:ea typeface="Helvetica Neue"/>
                <a:cs typeface="Helvetica Neue"/>
              </a:rPr>
              <a:t>02</a:t>
            </a:r>
          </a:p>
        </p:txBody>
      </p:sp>
    </p:spTree>
    <p:extLst>
      <p:ext uri="{BB962C8B-B14F-4D97-AF65-F5344CB8AC3E}">
        <p14:creationId xmlns:p14="http://schemas.microsoft.com/office/powerpoint/2010/main" val="988272067"/>
      </p:ext>
    </p:extLst>
  </p:cSld>
  <p:transition spd="med" advClick="1">
    <p:fade/>
  </p:transition>
</p:sld>
</file>

<file path=ppt/slides/slide3.xml><?xml version="1.0" encoding="utf-8"?>
<p:sld xmlns:p="http://schemas.openxmlformats.org/presentationml/2006/main">
  <p:cSld>
    <p:bg>
      <p:bgPr>
        <a:solidFill xmlns:a="http://schemas.openxmlformats.org/drawingml/2006/main">
          <a:srgbClr val="FC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BC98B6C-0E4F-4055-B303-4DBCD13A0C80}"/>
              </a:ext>
            </a:extLst>
          </p:cNvPr>
          <p:cNvSpPr>
            <a:spLocks xmlns:a="http://schemas.openxmlformats.org/drawingml/2006/main" noGrp="1"/>
          </p:cNvSpPr>
          <p:nvPr/>
        </p:nvSpPr>
        <p:spPr>
          <a:xfrm xmlns:a="http://schemas.openxmlformats.org/drawingml/2006/main">
            <a:off x="609600" y="457200"/>
            <a:ext cx="1104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B58A4A"/>
                </a:solidFill>
                <a:latin typeface="Helvetica Neue"/>
                <a:ea typeface="Helvetica Neue"/>
                <a:cs typeface="Helvetica Neue"/>
              </a:defRPr>
            </a:pPr>
            <a:r>
              <a:rPr sz="1125" b="1" i="0">
                <a:solidFill>
                  <a:srgbClr val="B58A4A"/>
                </a:solidFill>
                <a:latin typeface="Helvetica Neue"/>
                <a:ea typeface="Helvetica Neue"/>
                <a:cs typeface="Helvetica Neue"/>
              </a:rPr>
              <a:t>03  /  THE SOLUTION</a:t>
            </a:r>
          </a:p>
        </p:txBody>
      </p:sp>
      <p:sp>
        <p:nvSpPr>
          <p:cNvPr id="2" name="">
            <a:extLst xmlns:a="http://schemas.openxmlformats.org/drawingml/2006/main">
              <a:ext uri="{FF2B5EF4-FFF2-40B4-BE49-F238E27FC236}">
                <a16:creationId xmlns:a16="http://schemas.microsoft.com/office/drawing/2014/main" id="{E62F9E22-10D1-4E85-9D01-24A1C2FBAF00}"/>
              </a:ext>
            </a:extLst>
          </p:cNvPr>
          <p:cNvSpPr>
            <a:spLocks xmlns:a="http://schemas.openxmlformats.org/drawingml/2006/main" noGrp="1"/>
          </p:cNvSpPr>
          <p:nvPr/>
        </p:nvSpPr>
        <p:spPr>
          <a:xfrm xmlns:a="http://schemas.openxmlformats.org/drawingml/2006/main">
            <a:off x="609600" y="838200"/>
            <a:ext cx="10287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00F"/>
                </a:solidFill>
                <a:latin typeface="Helvetica Neue"/>
                <a:ea typeface="Helvetica Neue"/>
                <a:cs typeface="Helvetica Neue"/>
              </a:defRPr>
            </a:pPr>
            <a:r>
              <a:rPr sz="3000" b="1" i="0">
                <a:solidFill>
                  <a:srgbClr val="11100F"/>
                </a:solidFill>
                <a:latin typeface="Helvetica Neue"/>
                <a:ea typeface="Helvetica Neue"/>
                <a:cs typeface="Helvetica Neue"/>
              </a:rPr>
              <a:t>ZenVoice types spoken words into the focused Mac app.</a:t>
            </a:r>
          </a:p>
        </p:txBody>
      </p:sp>
      <p:sp>
        <p:nvSpPr>
          <p:cNvPr id="3" name="">
            <a:extLst xmlns:a="http://schemas.openxmlformats.org/drawingml/2006/main">
              <a:ext uri="{FF2B5EF4-FFF2-40B4-BE49-F238E27FC236}">
                <a16:creationId xmlns:a16="http://schemas.microsoft.com/office/drawing/2014/main" id="{20B1BDC1-157A-4B04-B511-0900F24A041A}"/>
              </a:ext>
            </a:extLst>
          </p:cNvPr>
          <p:cNvSpPr>
            <a:spLocks xmlns:a="http://schemas.openxmlformats.org/drawingml/2006/main" noGrp="1"/>
          </p:cNvSpPr>
          <p:nvPr/>
        </p:nvSpPr>
        <p:spPr>
          <a:xfrm xmlns:a="http://schemas.openxmlformats.org/drawingml/2006/main">
            <a:off x="609600" y="1952625"/>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6F665E"/>
                </a:solidFill>
                <a:latin typeface="Helvetica Neue"/>
                <a:ea typeface="Helvetica Neue"/>
                <a:cs typeface="Helvetica Neue"/>
              </a:defRPr>
            </a:pPr>
            <a:r>
              <a:rPr sz="1575" b="0" i="0">
                <a:solidFill>
                  <a:srgbClr val="6F665E"/>
                </a:solidFill>
                <a:latin typeface="Helvetica Neue"/>
                <a:ea typeface="Helvetica Neue"/>
                <a:cs typeface="Helvetica Neue"/>
              </a:rPr>
              <a:t>Its product promise is not “AI everywhere.” It is a focused local workflow: speak, review if needed, and keep working.</a:t>
            </a:r>
          </a:p>
        </p:txBody>
      </p:sp>
      <p:sp>
        <p:nvSpPr>
          <p:cNvPr id="4" name="">
            <a:extLst xmlns:a="http://schemas.openxmlformats.org/drawingml/2006/main">
              <a:ext uri="{FF2B5EF4-FFF2-40B4-BE49-F238E27FC236}">
                <a16:creationId xmlns:a16="http://schemas.microsoft.com/office/drawing/2014/main" id="{873E311B-A546-439C-BB71-92A3F6F5A354}"/>
              </a:ext>
            </a:extLst>
          </p:cNvPr>
          <p:cNvSpPr>
            <a:spLocks xmlns:a="http://schemas.openxmlformats.org/drawingml/2006/main" noGrp="1"/>
          </p:cNvSpPr>
          <p:nvPr/>
        </p:nvSpPr>
        <p:spPr>
          <a:xfrm xmlns:a="http://schemas.openxmlformats.org/drawingml/2006/main">
            <a:off x="609600" y="2533650"/>
            <a:ext cx="10972800" cy="0"/>
          </a:xfrm>
          <a:prstGeom xmlns:a="http://schemas.openxmlformats.org/drawingml/2006/main" prst="line">
            <a:avLst/>
          </a:prstGeom>
          <a:noFill xmlns:a="http://schemas.openxmlformats.org/drawingml/2006/main"/>
          <a:ln xmlns:a="http://schemas.openxmlformats.org/drawingml/2006/main" w="9525">
            <a:solidFill>
              <a:srgbClr val="D9D0C5"/>
            </a:solidFill>
            <a:prstDash val="solid"/>
          </a:ln>
        </p:spPr>
      </p:sp>
      <p:sp>
        <p:nvSpPr>
          <p:cNvPr id="5" name="">
            <a:extLst xmlns:a="http://schemas.openxmlformats.org/drawingml/2006/main">
              <a:ext uri="{FF2B5EF4-FFF2-40B4-BE49-F238E27FC236}">
                <a16:creationId xmlns:a16="http://schemas.microsoft.com/office/drawing/2014/main" id="{47F4B557-4102-4048-BC0A-376C83F01C05}"/>
              </a:ext>
            </a:extLst>
          </p:cNvPr>
          <p:cNvSpPr>
            <a:spLocks xmlns:a="http://schemas.openxmlformats.org/drawingml/2006/main" noGrp="1"/>
          </p:cNvSpPr>
          <p:nvPr/>
        </p:nvSpPr>
        <p:spPr>
          <a:xfrm xmlns:a="http://schemas.openxmlformats.org/drawingml/2006/main">
            <a:off x="609600" y="2857500"/>
            <a:ext cx="3352800" cy="2171700"/>
          </a:xfrm>
          <a:prstGeom xmlns:a="http://schemas.openxmlformats.org/drawingml/2006/main" prst="roundRect">
            <a:avLst>
              <a:gd name="adj" fmla="val 9649"/>
            </a:avLst>
          </a:prstGeom>
          <a:solidFill xmlns:a="http://schemas.openxmlformats.org/drawingml/2006/main">
            <a:srgbClr val="F6F2EC"/>
          </a:solidFill>
          <a:ln xmlns:a="http://schemas.openxmlformats.org/drawingml/2006/main" w="9525">
            <a:solidFill>
              <a:srgbClr val="D9D0C5"/>
            </a:solidFill>
            <a:prstDash val="solid"/>
          </a:ln>
        </p:spPr>
      </p:sp>
      <p:sp>
        <p:nvSpPr>
          <p:cNvPr id="6" name="">
            <a:extLst xmlns:a="http://schemas.openxmlformats.org/drawingml/2006/main">
              <a:ext uri="{FF2B5EF4-FFF2-40B4-BE49-F238E27FC236}">
                <a16:creationId xmlns:a16="http://schemas.microsoft.com/office/drawing/2014/main" id="{2077DE31-A141-46FD-8883-15791E9D8631}"/>
              </a:ext>
            </a:extLst>
          </p:cNvPr>
          <p:cNvSpPr>
            <a:spLocks xmlns:a="http://schemas.openxmlformats.org/drawingml/2006/main" noGrp="1"/>
          </p:cNvSpPr>
          <p:nvPr/>
        </p:nvSpPr>
        <p:spPr>
          <a:xfrm xmlns:a="http://schemas.openxmlformats.org/drawingml/2006/main">
            <a:off x="4419600" y="2857500"/>
            <a:ext cx="3352800" cy="2171700"/>
          </a:xfrm>
          <a:prstGeom xmlns:a="http://schemas.openxmlformats.org/drawingml/2006/main" prst="roundRect">
            <a:avLst>
              <a:gd name="adj" fmla="val 9649"/>
            </a:avLst>
          </a:prstGeom>
          <a:solidFill xmlns:a="http://schemas.openxmlformats.org/drawingml/2006/main">
            <a:srgbClr val="F6F2EC"/>
          </a:solidFill>
          <a:ln xmlns:a="http://schemas.openxmlformats.org/drawingml/2006/main" w="9525">
            <a:solidFill>
              <a:srgbClr val="D9D0C5"/>
            </a:solidFill>
            <a:prstDash val="solid"/>
          </a:ln>
        </p:spPr>
      </p:sp>
      <p:sp>
        <p:nvSpPr>
          <p:cNvPr id="7" name="">
            <a:extLst xmlns:a="http://schemas.openxmlformats.org/drawingml/2006/main">
              <a:ext uri="{FF2B5EF4-FFF2-40B4-BE49-F238E27FC236}">
                <a16:creationId xmlns:a16="http://schemas.microsoft.com/office/drawing/2014/main" id="{C856A2A2-6A0C-46CC-9E03-CAA891F306AE}"/>
              </a:ext>
            </a:extLst>
          </p:cNvPr>
          <p:cNvSpPr>
            <a:spLocks xmlns:a="http://schemas.openxmlformats.org/drawingml/2006/main" noGrp="1"/>
          </p:cNvSpPr>
          <p:nvPr/>
        </p:nvSpPr>
        <p:spPr>
          <a:xfrm xmlns:a="http://schemas.openxmlformats.org/drawingml/2006/main">
            <a:off x="8229600" y="2857500"/>
            <a:ext cx="3352800" cy="2171700"/>
          </a:xfrm>
          <a:prstGeom xmlns:a="http://schemas.openxmlformats.org/drawingml/2006/main" prst="roundRect">
            <a:avLst>
              <a:gd name="adj" fmla="val 9649"/>
            </a:avLst>
          </a:prstGeom>
          <a:solidFill xmlns:a="http://schemas.openxmlformats.org/drawingml/2006/main">
            <a:srgbClr val="F6F2EC"/>
          </a:solidFill>
          <a:ln xmlns:a="http://schemas.openxmlformats.org/drawingml/2006/main" w="9525">
            <a:solidFill>
              <a:srgbClr val="D9D0C5"/>
            </a:solidFill>
            <a:prstDash val="solid"/>
          </a:ln>
        </p:spPr>
      </p:sp>
      <p:sp>
        <p:nvSpPr>
          <p:cNvPr id="8" name="">
            <a:extLst xmlns:a="http://schemas.openxmlformats.org/drawingml/2006/main">
              <a:ext uri="{FF2B5EF4-FFF2-40B4-BE49-F238E27FC236}">
                <a16:creationId xmlns:a16="http://schemas.microsoft.com/office/drawing/2014/main" id="{D6BC1CC7-FC0C-4EAC-88E2-932D87BB51EF}"/>
              </a:ext>
            </a:extLst>
          </p:cNvPr>
          <p:cNvSpPr>
            <a:spLocks xmlns:a="http://schemas.openxmlformats.org/drawingml/2006/main" noGrp="1"/>
          </p:cNvSpPr>
          <p:nvPr/>
        </p:nvSpPr>
        <p:spPr>
          <a:xfrm xmlns:a="http://schemas.openxmlformats.org/drawingml/2006/main">
            <a:off x="876300" y="320040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i="0">
                <a:solidFill>
                  <a:srgbClr val="11100F"/>
                </a:solidFill>
                <a:latin typeface="Helvetica Neue"/>
                <a:ea typeface="Helvetica Neue"/>
                <a:cs typeface="Helvetica Neue"/>
              </a:defRPr>
            </a:pPr>
            <a:r>
              <a:rPr sz="1950" b="1" i="0">
                <a:solidFill>
                  <a:srgbClr val="11100F"/>
                </a:solidFill>
                <a:latin typeface="Helvetica Neue"/>
                <a:ea typeface="Helvetica Neue"/>
                <a:cs typeface="Helvetica Neue"/>
              </a:rPr>
              <a:t>1. Natural input</a:t>
            </a:r>
          </a:p>
        </p:txBody>
      </p:sp>
      <p:sp>
        <p:nvSpPr>
          <p:cNvPr id="9" name="">
            <a:extLst xmlns:a="http://schemas.openxmlformats.org/drawingml/2006/main">
              <a:ext uri="{FF2B5EF4-FFF2-40B4-BE49-F238E27FC236}">
                <a16:creationId xmlns:a16="http://schemas.microsoft.com/office/drawing/2014/main" id="{E28110AF-9F51-4D24-B4B0-C1113D052D1A}"/>
              </a:ext>
            </a:extLst>
          </p:cNvPr>
          <p:cNvSpPr>
            <a:spLocks xmlns:a="http://schemas.openxmlformats.org/drawingml/2006/main" noGrp="1"/>
          </p:cNvSpPr>
          <p:nvPr/>
        </p:nvSpPr>
        <p:spPr>
          <a:xfrm xmlns:a="http://schemas.openxmlformats.org/drawingml/2006/main">
            <a:off x="876300" y="3714750"/>
            <a:ext cx="2762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6F665E"/>
                </a:solidFill>
                <a:latin typeface="Helvetica Neue"/>
                <a:ea typeface="Helvetica Neue"/>
                <a:cs typeface="Helvetica Neue"/>
              </a:defRPr>
            </a:pPr>
            <a:r>
              <a:rPr sz="1575" b="0" i="0">
                <a:solidFill>
                  <a:srgbClr val="6F665E"/>
                </a:solidFill>
                <a:latin typeface="Helvetica Neue"/>
                <a:ea typeface="Helvetica Neue"/>
                <a:cs typeface="Helvetica Neue"/>
              </a:rPr>
              <a:t>Use a global shortcut to start and stop dictation without leaving the current app.</a:t>
            </a:r>
          </a:p>
        </p:txBody>
      </p:sp>
      <p:sp>
        <p:nvSpPr>
          <p:cNvPr id="10" name="">
            <a:extLst xmlns:a="http://schemas.openxmlformats.org/drawingml/2006/main">
              <a:ext uri="{FF2B5EF4-FFF2-40B4-BE49-F238E27FC236}">
                <a16:creationId xmlns:a16="http://schemas.microsoft.com/office/drawing/2014/main" id="{63A6BA8F-A322-4886-B6D4-A25778E5FDC7}"/>
              </a:ext>
            </a:extLst>
          </p:cNvPr>
          <p:cNvSpPr>
            <a:spLocks xmlns:a="http://schemas.openxmlformats.org/drawingml/2006/main" noGrp="1"/>
          </p:cNvSpPr>
          <p:nvPr/>
        </p:nvSpPr>
        <p:spPr>
          <a:xfrm xmlns:a="http://schemas.openxmlformats.org/drawingml/2006/main">
            <a:off x="4686300" y="320040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i="0">
                <a:solidFill>
                  <a:srgbClr val="11100F"/>
                </a:solidFill>
                <a:latin typeface="Helvetica Neue"/>
                <a:ea typeface="Helvetica Neue"/>
                <a:cs typeface="Helvetica Neue"/>
              </a:defRPr>
            </a:pPr>
            <a:r>
              <a:rPr sz="1950" b="1" i="0">
                <a:solidFill>
                  <a:srgbClr val="11100F"/>
                </a:solidFill>
                <a:latin typeface="Helvetica Neue"/>
                <a:ea typeface="Helvetica Neue"/>
                <a:cs typeface="Helvetica Neue"/>
              </a:rPr>
              <a:t>2. Local intelligence</a:t>
            </a:r>
          </a:p>
        </p:txBody>
      </p:sp>
      <p:sp>
        <p:nvSpPr>
          <p:cNvPr id="11" name="">
            <a:extLst xmlns:a="http://schemas.openxmlformats.org/drawingml/2006/main">
              <a:ext uri="{FF2B5EF4-FFF2-40B4-BE49-F238E27FC236}">
                <a16:creationId xmlns:a16="http://schemas.microsoft.com/office/drawing/2014/main" id="{53F89158-45E5-4077-B2DC-55D6315998B2}"/>
              </a:ext>
            </a:extLst>
          </p:cNvPr>
          <p:cNvSpPr>
            <a:spLocks xmlns:a="http://schemas.openxmlformats.org/drawingml/2006/main" noGrp="1"/>
          </p:cNvSpPr>
          <p:nvPr/>
        </p:nvSpPr>
        <p:spPr>
          <a:xfrm xmlns:a="http://schemas.openxmlformats.org/drawingml/2006/main">
            <a:off x="4686300" y="3714750"/>
            <a:ext cx="2762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6F665E"/>
                </a:solidFill>
                <a:latin typeface="Helvetica Neue"/>
                <a:ea typeface="Helvetica Neue"/>
                <a:cs typeface="Helvetica Neue"/>
              </a:defRPr>
            </a:pPr>
            <a:r>
              <a:rPr sz="1575" b="0" i="0">
                <a:solidFill>
                  <a:srgbClr val="6F665E"/>
                </a:solidFill>
                <a:latin typeface="Helvetica Neue"/>
                <a:ea typeface="Helvetica Neue"/>
                <a:cs typeface="Helvetica Neue"/>
              </a:rPr>
              <a:t>Choose an on-device speech engine that fits the language, hardware, and task.</a:t>
            </a:r>
          </a:p>
        </p:txBody>
      </p:sp>
      <p:sp>
        <p:nvSpPr>
          <p:cNvPr id="12" name="">
            <a:extLst xmlns:a="http://schemas.openxmlformats.org/drawingml/2006/main">
              <a:ext uri="{FF2B5EF4-FFF2-40B4-BE49-F238E27FC236}">
                <a16:creationId xmlns:a16="http://schemas.microsoft.com/office/drawing/2014/main" id="{58989519-D2A3-4277-9C85-2BB2C9BB6A21}"/>
              </a:ext>
            </a:extLst>
          </p:cNvPr>
          <p:cNvSpPr>
            <a:spLocks xmlns:a="http://schemas.openxmlformats.org/drawingml/2006/main" noGrp="1"/>
          </p:cNvSpPr>
          <p:nvPr/>
        </p:nvSpPr>
        <p:spPr>
          <a:xfrm xmlns:a="http://schemas.openxmlformats.org/drawingml/2006/main">
            <a:off x="8496300" y="320040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i="0">
                <a:solidFill>
                  <a:srgbClr val="11100F"/>
                </a:solidFill>
                <a:latin typeface="Helvetica Neue"/>
                <a:ea typeface="Helvetica Neue"/>
                <a:cs typeface="Helvetica Neue"/>
              </a:defRPr>
            </a:pPr>
            <a:r>
              <a:rPr sz="1950" b="1" i="0">
                <a:solidFill>
                  <a:srgbClr val="11100F"/>
                </a:solidFill>
                <a:latin typeface="Helvetica Neue"/>
                <a:ea typeface="Helvetica Neue"/>
                <a:cs typeface="Helvetica Neue"/>
              </a:rPr>
              <a:t>3. Useful output</a:t>
            </a:r>
          </a:p>
        </p:txBody>
      </p:sp>
      <p:sp>
        <p:nvSpPr>
          <p:cNvPr id="13" name="">
            <a:extLst xmlns:a="http://schemas.openxmlformats.org/drawingml/2006/main">
              <a:ext uri="{FF2B5EF4-FFF2-40B4-BE49-F238E27FC236}">
                <a16:creationId xmlns:a16="http://schemas.microsoft.com/office/drawing/2014/main" id="{AFB60D9D-7974-42F6-850E-36AFCD262ED4}"/>
              </a:ext>
            </a:extLst>
          </p:cNvPr>
          <p:cNvSpPr>
            <a:spLocks xmlns:a="http://schemas.openxmlformats.org/drawingml/2006/main" noGrp="1"/>
          </p:cNvSpPr>
          <p:nvPr/>
        </p:nvSpPr>
        <p:spPr>
          <a:xfrm xmlns:a="http://schemas.openxmlformats.org/drawingml/2006/main">
            <a:off x="8496300" y="3714750"/>
            <a:ext cx="2762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6F665E"/>
                </a:solidFill>
                <a:latin typeface="Helvetica Neue"/>
                <a:ea typeface="Helvetica Neue"/>
                <a:cs typeface="Helvetica Neue"/>
              </a:defRPr>
            </a:pPr>
            <a:r>
              <a:rPr sz="1575" b="0" i="0">
                <a:solidFill>
                  <a:srgbClr val="6F665E"/>
                </a:solidFill>
                <a:latin typeface="Helvetica Neue"/>
                <a:ea typeface="Helvetica Neue"/>
                <a:cs typeface="Helvetica Neue"/>
              </a:rPr>
              <a:t>Insert clean text, remember corrections, and give the user control over history.</a:t>
            </a:r>
          </a:p>
        </p:txBody>
      </p:sp>
      <p:sp>
        <p:nvSpPr>
          <p:cNvPr id="14" name="">
            <a:extLst xmlns:a="http://schemas.openxmlformats.org/drawingml/2006/main">
              <a:ext uri="{FF2B5EF4-FFF2-40B4-BE49-F238E27FC236}">
                <a16:creationId xmlns:a16="http://schemas.microsoft.com/office/drawing/2014/main" id="{F3A5670F-92F7-4636-BC7B-684951791CE6}"/>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9D0C5"/>
            </a:solidFill>
            <a:prstDash val="solid"/>
          </a:ln>
        </p:spPr>
      </p:sp>
      <p:sp>
        <p:nvSpPr>
          <p:cNvPr id="15" name="">
            <a:extLst xmlns:a="http://schemas.openxmlformats.org/drawingml/2006/main">
              <a:ext uri="{FF2B5EF4-FFF2-40B4-BE49-F238E27FC236}">
                <a16:creationId xmlns:a16="http://schemas.microsoft.com/office/drawing/2014/main" id="{2992AFDA-A7CF-4A80-823C-7585DB41F1BA}"/>
              </a:ext>
            </a:extLst>
          </p:cNvPr>
          <p:cNvSpPr>
            <a:spLocks xmlns:a="http://schemas.openxmlformats.org/drawingml/2006/main" noGrp="1"/>
          </p:cNvSpPr>
          <p:nvPr/>
        </p:nvSpPr>
        <p:spPr>
          <a:xfrm xmlns:a="http://schemas.openxmlformats.org/drawingml/2006/main">
            <a:off x="609600" y="65627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9B9086"/>
                </a:solidFill>
                <a:latin typeface="Helvetica Neue"/>
                <a:ea typeface="Helvetica Neue"/>
                <a:cs typeface="Helvetica Neue"/>
              </a:defRPr>
            </a:pPr>
            <a:r>
              <a:rPr sz="900" b="1" i="0">
                <a:solidFill>
                  <a:srgbClr val="9B9086"/>
                </a:solidFill>
                <a:latin typeface="Helvetica Neue"/>
                <a:ea typeface="Helvetica Neue"/>
                <a:cs typeface="Helvetica Neue"/>
              </a:rPr>
              <a:t>ZENVOICE  |  PRIVATE LOCAL-FIRST DICTATION</a:t>
            </a:r>
          </a:p>
        </p:txBody>
      </p:sp>
      <p:sp>
        <p:nvSpPr>
          <p:cNvPr id="16" name="">
            <a:extLst xmlns:a="http://schemas.openxmlformats.org/drawingml/2006/main">
              <a:ext uri="{FF2B5EF4-FFF2-40B4-BE49-F238E27FC236}">
                <a16:creationId xmlns:a16="http://schemas.microsoft.com/office/drawing/2014/main" id="{9028E8D9-2660-4816-AD85-343836B39C58}"/>
              </a:ext>
            </a:extLst>
          </p:cNvPr>
          <p:cNvSpPr>
            <a:spLocks xmlns:a="http://schemas.openxmlformats.org/drawingml/2006/main" noGrp="1"/>
          </p:cNvSpPr>
          <p:nvPr/>
        </p:nvSpPr>
        <p:spPr>
          <a:xfrm xmlns:a="http://schemas.openxmlformats.org/drawingml/2006/main">
            <a:off x="10668000" y="6562725"/>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9B9086"/>
                </a:solidFill>
                <a:latin typeface="Helvetica Neue"/>
                <a:ea typeface="Helvetica Neue"/>
                <a:cs typeface="Helvetica Neue"/>
              </a:defRPr>
            </a:pPr>
            <a:r>
              <a:rPr sz="900" b="1" i="0">
                <a:solidFill>
                  <a:srgbClr val="9B9086"/>
                </a:solidFill>
                <a:latin typeface="Helvetica Neue"/>
                <a:ea typeface="Helvetica Neue"/>
                <a:cs typeface="Helvetica Neue"/>
              </a:rPr>
              <a:t>03</a:t>
            </a:r>
          </a:p>
        </p:txBody>
      </p:sp>
    </p:spTree>
    <p:extLst>
      <p:ext uri="{BB962C8B-B14F-4D97-AF65-F5344CB8AC3E}">
        <p14:creationId xmlns:p14="http://schemas.microsoft.com/office/powerpoint/2010/main" val="679333354"/>
      </p:ext>
    </p:extLst>
  </p:cSld>
  <p:transition spd="med" advClick="1">
    <p:fade/>
  </p:transition>
</p:sld>
</file>

<file path=ppt/slides/slide4.xml><?xml version="1.0" encoding="utf-8"?>
<p:sld xmlns:p="http://schemas.openxmlformats.org/presentationml/2006/main">
  <p:cSld>
    <p:bg>
      <p:bgPr>
        <a:solidFill xmlns:a="http://schemas.openxmlformats.org/drawingml/2006/main">
          <a:srgbClr val="FCFAF7"/>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EB923673-20E6-4892-8F82-BE635B512EE8}"/>
              </a:ext>
            </a:extLst>
          </p:cNvPr>
          <p:cNvSpPr>
            <a:spLocks xmlns:a="http://schemas.openxmlformats.org/drawingml/2006/main" noGrp="1"/>
          </p:cNvSpPr>
          <p:nvPr/>
        </p:nvSpPr>
        <p:spPr>
          <a:xfrm xmlns:a="http://schemas.openxmlformats.org/drawingml/2006/main">
            <a:off x="609600" y="457200"/>
            <a:ext cx="1104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B58A4A"/>
                </a:solidFill>
                <a:latin typeface="Helvetica Neue"/>
                <a:ea typeface="Helvetica Neue"/>
                <a:cs typeface="Helvetica Neue"/>
              </a:defRPr>
            </a:pPr>
            <a:r>
              <a:rPr sz="1125" b="1" i="0">
                <a:solidFill>
                  <a:srgbClr val="B58A4A"/>
                </a:solidFill>
                <a:latin typeface="Helvetica Neue"/>
                <a:ea typeface="Helvetica Neue"/>
                <a:cs typeface="Helvetica Neue"/>
              </a:rPr>
              <a:t>04  /  HOW TO USE IT</a:t>
            </a:r>
          </a:p>
        </p:txBody>
      </p:sp>
      <p:sp>
        <p:nvSpPr>
          <p:cNvPr id="2" name="">
            <a:extLst xmlns:a="http://schemas.openxmlformats.org/drawingml/2006/main">
              <a:ext uri="{FF2B5EF4-FFF2-40B4-BE49-F238E27FC236}">
                <a16:creationId xmlns:a16="http://schemas.microsoft.com/office/drawing/2014/main" id="{26690BEA-0219-45C3-9201-5AF42EDF5AA7}"/>
              </a:ext>
            </a:extLst>
          </p:cNvPr>
          <p:cNvSpPr>
            <a:spLocks xmlns:a="http://schemas.openxmlformats.org/drawingml/2006/main" noGrp="1"/>
          </p:cNvSpPr>
          <p:nvPr/>
        </p:nvSpPr>
        <p:spPr>
          <a:xfrm xmlns:a="http://schemas.openxmlformats.org/drawingml/2006/main">
            <a:off x="609600" y="838200"/>
            <a:ext cx="10287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00F"/>
                </a:solidFill>
                <a:latin typeface="Helvetica Neue"/>
                <a:ea typeface="Helvetica Neue"/>
                <a:cs typeface="Helvetica Neue"/>
              </a:defRPr>
            </a:pPr>
            <a:r>
              <a:rPr sz="3000" b="1" i="0">
                <a:solidFill>
                  <a:srgbClr val="11100F"/>
                </a:solidFill>
                <a:latin typeface="Helvetica Neue"/>
                <a:ea typeface="Helvetica Neue"/>
                <a:cs typeface="Helvetica Neue"/>
              </a:rPr>
              <a:t>Daily dictation should take seconds, not attention.</a:t>
            </a:r>
          </a:p>
        </p:txBody>
      </p:sp>
      <p:sp>
        <p:nvSpPr>
          <p:cNvPr id="3" name="">
            <a:extLst xmlns:a="http://schemas.openxmlformats.org/drawingml/2006/main">
              <a:ext uri="{FF2B5EF4-FFF2-40B4-BE49-F238E27FC236}">
                <a16:creationId xmlns:a16="http://schemas.microsoft.com/office/drawing/2014/main" id="{371DF414-3D2C-4081-8A0E-44C996FAB09C}"/>
              </a:ext>
            </a:extLst>
          </p:cNvPr>
          <p:cNvSpPr>
            <a:spLocks xmlns:a="http://schemas.openxmlformats.org/drawingml/2006/main" noGrp="1"/>
          </p:cNvSpPr>
          <p:nvPr/>
        </p:nvSpPr>
        <p:spPr>
          <a:xfrm xmlns:a="http://schemas.openxmlformats.org/drawingml/2006/main">
            <a:off x="609600" y="1952625"/>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6F665E"/>
                </a:solidFill>
                <a:latin typeface="Helvetica Neue"/>
                <a:ea typeface="Helvetica Neue"/>
                <a:cs typeface="Helvetica Neue"/>
              </a:defRPr>
            </a:pPr>
            <a:r>
              <a:rPr sz="1575" b="0" i="0">
                <a:solidFill>
                  <a:srgbClr val="6F665E"/>
                </a:solidFill>
                <a:latin typeface="Helvetica Neue"/>
                <a:ea typeface="Helvetica Neue"/>
                <a:cs typeface="Helvetica Neue"/>
              </a:rPr>
              <a:t>A small repeatable loop is more useful than a complicated voice workspace.</a:t>
            </a:r>
          </a:p>
        </p:txBody>
      </p:sp>
      <p:sp>
        <p:nvSpPr>
          <p:cNvPr id="4" name="">
            <a:extLst xmlns:a="http://schemas.openxmlformats.org/drawingml/2006/main">
              <a:ext uri="{FF2B5EF4-FFF2-40B4-BE49-F238E27FC236}">
                <a16:creationId xmlns:a16="http://schemas.microsoft.com/office/drawing/2014/main" id="{C076F9F2-FA0C-40FE-BE2D-BF321CC3FC3B}"/>
              </a:ext>
            </a:extLst>
          </p:cNvPr>
          <p:cNvSpPr>
            <a:spLocks xmlns:a="http://schemas.openxmlformats.org/drawingml/2006/main" noGrp="1"/>
          </p:cNvSpPr>
          <p:nvPr/>
        </p:nvSpPr>
        <p:spPr>
          <a:xfrm xmlns:a="http://schemas.openxmlformats.org/drawingml/2006/main">
            <a:off x="609600" y="2533650"/>
            <a:ext cx="10972800" cy="0"/>
          </a:xfrm>
          <a:prstGeom xmlns:a="http://schemas.openxmlformats.org/drawingml/2006/main" prst="line">
            <a:avLst/>
          </a:prstGeom>
          <a:noFill xmlns:a="http://schemas.openxmlformats.org/drawingml/2006/main"/>
          <a:ln xmlns:a="http://schemas.openxmlformats.org/drawingml/2006/main" w="9525">
            <a:solidFill>
              <a:srgbClr val="D9D0C5"/>
            </a:solidFill>
            <a:prstDash val="solid"/>
          </a:ln>
        </p:spPr>
      </p:sp>
      <p:sp>
        <p:nvSpPr>
          <p:cNvPr id="5" name="">
            <a:extLst xmlns:a="http://schemas.openxmlformats.org/drawingml/2006/main">
              <a:ext uri="{FF2B5EF4-FFF2-40B4-BE49-F238E27FC236}">
                <a16:creationId xmlns:a16="http://schemas.microsoft.com/office/drawing/2014/main" id="{AE9E84D5-6B2D-46A9-A2D3-B4C38E09A8E7}"/>
              </a:ext>
            </a:extLst>
          </p:cNvPr>
          <p:cNvSpPr>
            <a:spLocks xmlns:a="http://schemas.openxmlformats.org/drawingml/2006/main" noGrp="1"/>
          </p:cNvSpPr>
          <p:nvPr/>
        </p:nvSpPr>
        <p:spPr>
          <a:xfrm xmlns:a="http://schemas.openxmlformats.org/drawingml/2006/main">
            <a:off x="2286000" y="3714750"/>
            <a:ext cx="495300" cy="171450"/>
          </a:xfrm>
          <a:prstGeom xmlns:a="http://schemas.openxmlformats.org/drawingml/2006/main" prst="rightArrow">
            <a:avLst/>
          </a:prstGeom>
          <a:solidFill xmlns:a="http://schemas.openxmlformats.org/drawingml/2006/main">
            <a:srgbClr val="B58A4A"/>
          </a:solidFill>
          <a:ln xmlns:a="http://schemas.openxmlformats.org/drawingml/2006/main" w="0">
            <a:solidFill>
              <a:srgbClr val="B58A4A"/>
            </a:solidFill>
            <a:prstDash val="solid"/>
          </a:ln>
        </p:spPr>
      </p:sp>
      <p:sp>
        <p:nvSpPr>
          <p:cNvPr id="6" name="">
            <a:extLst xmlns:a="http://schemas.openxmlformats.org/drawingml/2006/main">
              <a:ext uri="{FF2B5EF4-FFF2-40B4-BE49-F238E27FC236}">
                <a16:creationId xmlns:a16="http://schemas.microsoft.com/office/drawing/2014/main" id="{93ABC6B0-45F1-4223-9255-F7E5607FE845}"/>
              </a:ext>
            </a:extLst>
          </p:cNvPr>
          <p:cNvSpPr>
            <a:spLocks xmlns:a="http://schemas.openxmlformats.org/drawingml/2006/main" noGrp="1"/>
          </p:cNvSpPr>
          <p:nvPr/>
        </p:nvSpPr>
        <p:spPr>
          <a:xfrm xmlns:a="http://schemas.openxmlformats.org/drawingml/2006/main">
            <a:off x="4533900" y="3714750"/>
            <a:ext cx="495300" cy="171450"/>
          </a:xfrm>
          <a:prstGeom xmlns:a="http://schemas.openxmlformats.org/drawingml/2006/main" prst="rightArrow">
            <a:avLst/>
          </a:prstGeom>
          <a:solidFill xmlns:a="http://schemas.openxmlformats.org/drawingml/2006/main">
            <a:srgbClr val="B58A4A"/>
          </a:solidFill>
          <a:ln xmlns:a="http://schemas.openxmlformats.org/drawingml/2006/main" w="0">
            <a:solidFill>
              <a:srgbClr val="B58A4A"/>
            </a:solidFill>
            <a:prstDash val="solid"/>
          </a:ln>
        </p:spPr>
      </p:sp>
      <p:sp>
        <p:nvSpPr>
          <p:cNvPr id="7" name="">
            <a:extLst xmlns:a="http://schemas.openxmlformats.org/drawingml/2006/main">
              <a:ext uri="{FF2B5EF4-FFF2-40B4-BE49-F238E27FC236}">
                <a16:creationId xmlns:a16="http://schemas.microsoft.com/office/drawing/2014/main" id="{6A490758-1FFF-4937-A198-A640727BE8D9}"/>
              </a:ext>
            </a:extLst>
          </p:cNvPr>
          <p:cNvSpPr>
            <a:spLocks xmlns:a="http://schemas.openxmlformats.org/drawingml/2006/main" noGrp="1"/>
          </p:cNvSpPr>
          <p:nvPr/>
        </p:nvSpPr>
        <p:spPr>
          <a:xfrm xmlns:a="http://schemas.openxmlformats.org/drawingml/2006/main">
            <a:off x="6781800" y="3714750"/>
            <a:ext cx="495300" cy="171450"/>
          </a:xfrm>
          <a:prstGeom xmlns:a="http://schemas.openxmlformats.org/drawingml/2006/main" prst="rightArrow">
            <a:avLst/>
          </a:prstGeom>
          <a:solidFill xmlns:a="http://schemas.openxmlformats.org/drawingml/2006/main">
            <a:srgbClr val="B58A4A"/>
          </a:solidFill>
          <a:ln xmlns:a="http://schemas.openxmlformats.org/drawingml/2006/main" w="0">
            <a:solidFill>
              <a:srgbClr val="B58A4A"/>
            </a:solidFill>
            <a:prstDash val="solid"/>
          </a:ln>
        </p:spPr>
      </p:sp>
      <p:sp>
        <p:nvSpPr>
          <p:cNvPr id="8" name="">
            <a:extLst xmlns:a="http://schemas.openxmlformats.org/drawingml/2006/main">
              <a:ext uri="{FF2B5EF4-FFF2-40B4-BE49-F238E27FC236}">
                <a16:creationId xmlns:a16="http://schemas.microsoft.com/office/drawing/2014/main" id="{0B696CA3-5C51-4E47-82B2-87A6BF39CF1D}"/>
              </a:ext>
            </a:extLst>
          </p:cNvPr>
          <p:cNvSpPr>
            <a:spLocks xmlns:a="http://schemas.openxmlformats.org/drawingml/2006/main" noGrp="1"/>
          </p:cNvSpPr>
          <p:nvPr/>
        </p:nvSpPr>
        <p:spPr>
          <a:xfrm xmlns:a="http://schemas.openxmlformats.org/drawingml/2006/main">
            <a:off x="9029700" y="3714750"/>
            <a:ext cx="495300" cy="171450"/>
          </a:xfrm>
          <a:prstGeom xmlns:a="http://schemas.openxmlformats.org/drawingml/2006/main" prst="rightArrow">
            <a:avLst/>
          </a:prstGeom>
          <a:solidFill xmlns:a="http://schemas.openxmlformats.org/drawingml/2006/main">
            <a:srgbClr val="B58A4A"/>
          </a:solidFill>
          <a:ln xmlns:a="http://schemas.openxmlformats.org/drawingml/2006/main" w="0">
            <a:solidFill>
              <a:srgbClr val="B58A4A"/>
            </a:solidFill>
            <a:prstDash val="solid"/>
          </a:ln>
        </p:spPr>
      </p:sp>
      <p:sp>
        <p:nvSpPr>
          <p:cNvPr id="9" name="">
            <a:extLst xmlns:a="http://schemas.openxmlformats.org/drawingml/2006/main">
              <a:ext uri="{FF2B5EF4-FFF2-40B4-BE49-F238E27FC236}">
                <a16:creationId xmlns:a16="http://schemas.microsoft.com/office/drawing/2014/main" id="{6A3A3453-047C-49DD-BE46-989CFCCCCF13}"/>
              </a:ext>
            </a:extLst>
          </p:cNvPr>
          <p:cNvSpPr>
            <a:spLocks xmlns:a="http://schemas.openxmlformats.org/drawingml/2006/main" noGrp="1"/>
          </p:cNvSpPr>
          <p:nvPr/>
        </p:nvSpPr>
        <p:spPr>
          <a:xfrm xmlns:a="http://schemas.openxmlformats.org/drawingml/2006/main">
            <a:off x="762000" y="3009900"/>
            <a:ext cx="1752600" cy="1828800"/>
          </a:xfrm>
          <a:prstGeom xmlns:a="http://schemas.openxmlformats.org/drawingml/2006/main" prst="roundRect">
            <a:avLst>
              <a:gd name="adj" fmla="val 10870"/>
            </a:avLst>
          </a:prstGeom>
          <a:solidFill xmlns:a="http://schemas.openxmlformats.org/drawingml/2006/main">
            <a:srgbClr val="F6F2EC"/>
          </a:solidFill>
          <a:ln xmlns:a="http://schemas.openxmlformats.org/drawingml/2006/main" w="9525">
            <a:solidFill>
              <a:srgbClr val="D9D0C5"/>
            </a:solidFill>
            <a:prstDash val="solid"/>
          </a:ln>
        </p:spPr>
      </p:sp>
      <p:sp>
        <p:nvSpPr>
          <p:cNvPr id="10" name="">
            <a:extLst xmlns:a="http://schemas.openxmlformats.org/drawingml/2006/main">
              <a:ext uri="{FF2B5EF4-FFF2-40B4-BE49-F238E27FC236}">
                <a16:creationId xmlns:a16="http://schemas.microsoft.com/office/drawing/2014/main" id="{AE83207A-E7E7-4907-9550-BDDA6DB3FC4B}"/>
              </a:ext>
            </a:extLst>
          </p:cNvPr>
          <p:cNvSpPr>
            <a:spLocks xmlns:a="http://schemas.openxmlformats.org/drawingml/2006/main" noGrp="1"/>
          </p:cNvSpPr>
          <p:nvPr/>
        </p:nvSpPr>
        <p:spPr>
          <a:xfrm xmlns:a="http://schemas.openxmlformats.org/drawingml/2006/main">
            <a:off x="933450" y="3219450"/>
            <a:ext cx="1409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B58A4A"/>
                </a:solidFill>
                <a:latin typeface="Helvetica Neue"/>
                <a:ea typeface="Helvetica Neue"/>
                <a:cs typeface="Helvetica Neue"/>
              </a:defRPr>
            </a:pPr>
            <a:r>
              <a:rPr sz="1125" b="1" i="0">
                <a:solidFill>
                  <a:srgbClr val="B58A4A"/>
                </a:solidFill>
                <a:latin typeface="Helvetica Neue"/>
                <a:ea typeface="Helvetica Neue"/>
                <a:cs typeface="Helvetica Neue"/>
              </a:rPr>
              <a:t>01</a:t>
            </a:r>
          </a:p>
        </p:txBody>
      </p:sp>
      <p:sp>
        <p:nvSpPr>
          <p:cNvPr id="11" name="">
            <a:extLst xmlns:a="http://schemas.openxmlformats.org/drawingml/2006/main">
              <a:ext uri="{FF2B5EF4-FFF2-40B4-BE49-F238E27FC236}">
                <a16:creationId xmlns:a16="http://schemas.microsoft.com/office/drawing/2014/main" id="{969490CE-FE96-4346-A0B0-3E617CDA7F83}"/>
              </a:ext>
            </a:extLst>
          </p:cNvPr>
          <p:cNvSpPr>
            <a:spLocks xmlns:a="http://schemas.openxmlformats.org/drawingml/2006/main" noGrp="1"/>
          </p:cNvSpPr>
          <p:nvPr/>
        </p:nvSpPr>
        <p:spPr>
          <a:xfrm xmlns:a="http://schemas.openxmlformats.org/drawingml/2006/main">
            <a:off x="933450" y="3600450"/>
            <a:ext cx="140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i="0">
                <a:solidFill>
                  <a:srgbClr val="11100F"/>
                </a:solidFill>
                <a:latin typeface="Helvetica Neue"/>
                <a:ea typeface="Helvetica Neue"/>
                <a:cs typeface="Helvetica Neue"/>
              </a:defRPr>
            </a:pPr>
            <a:r>
              <a:rPr sz="2025" b="1" i="0">
                <a:solidFill>
                  <a:srgbClr val="11100F"/>
                </a:solidFill>
                <a:latin typeface="Helvetica Neue"/>
                <a:ea typeface="Helvetica Neue"/>
                <a:cs typeface="Helvetica Neue"/>
              </a:rPr>
              <a:t>Focus</a:t>
            </a:r>
          </a:p>
        </p:txBody>
      </p:sp>
      <p:sp>
        <p:nvSpPr>
          <p:cNvPr id="12" name="">
            <a:extLst xmlns:a="http://schemas.openxmlformats.org/drawingml/2006/main">
              <a:ext uri="{FF2B5EF4-FFF2-40B4-BE49-F238E27FC236}">
                <a16:creationId xmlns:a16="http://schemas.microsoft.com/office/drawing/2014/main" id="{90F4B755-5B0E-4D78-983C-E1CC03C0F410}"/>
              </a:ext>
            </a:extLst>
          </p:cNvPr>
          <p:cNvSpPr>
            <a:spLocks xmlns:a="http://schemas.openxmlformats.org/drawingml/2006/main" noGrp="1"/>
          </p:cNvSpPr>
          <p:nvPr/>
        </p:nvSpPr>
        <p:spPr>
          <a:xfrm xmlns:a="http://schemas.openxmlformats.org/drawingml/2006/main">
            <a:off x="933450" y="4019550"/>
            <a:ext cx="1409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6F665E"/>
                </a:solidFill>
                <a:latin typeface="Helvetica Neue"/>
                <a:ea typeface="Helvetica Neue"/>
                <a:cs typeface="Helvetica Neue"/>
              </a:defRPr>
            </a:pPr>
            <a:r>
              <a:rPr sz="1275" b="0" i="0">
                <a:solidFill>
                  <a:srgbClr val="6F665E"/>
                </a:solidFill>
                <a:latin typeface="Helvetica Neue"/>
                <a:ea typeface="Helvetica Neue"/>
                <a:cs typeface="Helvetica Neue"/>
              </a:rPr>
              <a:t>Place the cursor in any editable field.</a:t>
            </a:r>
          </a:p>
        </p:txBody>
      </p:sp>
      <p:sp>
        <p:nvSpPr>
          <p:cNvPr id="13" name="">
            <a:extLst xmlns:a="http://schemas.openxmlformats.org/drawingml/2006/main">
              <a:ext uri="{FF2B5EF4-FFF2-40B4-BE49-F238E27FC236}">
                <a16:creationId xmlns:a16="http://schemas.microsoft.com/office/drawing/2014/main" id="{B14C8374-7179-4B3F-9283-3C40A544D927}"/>
              </a:ext>
            </a:extLst>
          </p:cNvPr>
          <p:cNvSpPr>
            <a:spLocks xmlns:a="http://schemas.openxmlformats.org/drawingml/2006/main" noGrp="1"/>
          </p:cNvSpPr>
          <p:nvPr/>
        </p:nvSpPr>
        <p:spPr>
          <a:xfrm xmlns:a="http://schemas.openxmlformats.org/drawingml/2006/main">
            <a:off x="3009900" y="3009900"/>
            <a:ext cx="1752600" cy="1828800"/>
          </a:xfrm>
          <a:prstGeom xmlns:a="http://schemas.openxmlformats.org/drawingml/2006/main" prst="roundRect">
            <a:avLst>
              <a:gd name="adj" fmla="val 10870"/>
            </a:avLst>
          </a:prstGeom>
          <a:solidFill xmlns:a="http://schemas.openxmlformats.org/drawingml/2006/main">
            <a:srgbClr val="F6F2EC"/>
          </a:solidFill>
          <a:ln xmlns:a="http://schemas.openxmlformats.org/drawingml/2006/main" w="9525">
            <a:solidFill>
              <a:srgbClr val="D9D0C5"/>
            </a:solidFill>
            <a:prstDash val="solid"/>
          </a:ln>
        </p:spPr>
      </p:sp>
      <p:sp>
        <p:nvSpPr>
          <p:cNvPr id="14" name="">
            <a:extLst xmlns:a="http://schemas.openxmlformats.org/drawingml/2006/main">
              <a:ext uri="{FF2B5EF4-FFF2-40B4-BE49-F238E27FC236}">
                <a16:creationId xmlns:a16="http://schemas.microsoft.com/office/drawing/2014/main" id="{E56E3262-58C5-4C3E-9DD9-0C63B87DE64F}"/>
              </a:ext>
            </a:extLst>
          </p:cNvPr>
          <p:cNvSpPr>
            <a:spLocks xmlns:a="http://schemas.openxmlformats.org/drawingml/2006/main" noGrp="1"/>
          </p:cNvSpPr>
          <p:nvPr/>
        </p:nvSpPr>
        <p:spPr>
          <a:xfrm xmlns:a="http://schemas.openxmlformats.org/drawingml/2006/main">
            <a:off x="3181350" y="3219450"/>
            <a:ext cx="1409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B58A4A"/>
                </a:solidFill>
                <a:latin typeface="Helvetica Neue"/>
                <a:ea typeface="Helvetica Neue"/>
                <a:cs typeface="Helvetica Neue"/>
              </a:defRPr>
            </a:pPr>
            <a:r>
              <a:rPr sz="1125" b="1" i="0">
                <a:solidFill>
                  <a:srgbClr val="B58A4A"/>
                </a:solidFill>
                <a:latin typeface="Helvetica Neue"/>
                <a:ea typeface="Helvetica Neue"/>
                <a:cs typeface="Helvetica Neue"/>
              </a:rPr>
              <a:t>02</a:t>
            </a:r>
          </a:p>
        </p:txBody>
      </p:sp>
      <p:sp>
        <p:nvSpPr>
          <p:cNvPr id="15" name="">
            <a:extLst xmlns:a="http://schemas.openxmlformats.org/drawingml/2006/main">
              <a:ext uri="{FF2B5EF4-FFF2-40B4-BE49-F238E27FC236}">
                <a16:creationId xmlns:a16="http://schemas.microsoft.com/office/drawing/2014/main" id="{5609A2BD-98EE-4C80-9BFC-FCE05DFB2753}"/>
              </a:ext>
            </a:extLst>
          </p:cNvPr>
          <p:cNvSpPr>
            <a:spLocks xmlns:a="http://schemas.openxmlformats.org/drawingml/2006/main" noGrp="1"/>
          </p:cNvSpPr>
          <p:nvPr/>
        </p:nvSpPr>
        <p:spPr>
          <a:xfrm xmlns:a="http://schemas.openxmlformats.org/drawingml/2006/main">
            <a:off x="3181350" y="3600450"/>
            <a:ext cx="140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i="0">
                <a:solidFill>
                  <a:srgbClr val="11100F"/>
                </a:solidFill>
                <a:latin typeface="Helvetica Neue"/>
                <a:ea typeface="Helvetica Neue"/>
                <a:cs typeface="Helvetica Neue"/>
              </a:defRPr>
            </a:pPr>
            <a:r>
              <a:rPr sz="2025" b="1" i="0">
                <a:solidFill>
                  <a:srgbClr val="11100F"/>
                </a:solidFill>
                <a:latin typeface="Helvetica Neue"/>
                <a:ea typeface="Helvetica Neue"/>
                <a:cs typeface="Helvetica Neue"/>
              </a:rPr>
              <a:t>Start</a:t>
            </a:r>
          </a:p>
        </p:txBody>
      </p:sp>
      <p:sp>
        <p:nvSpPr>
          <p:cNvPr id="16" name="">
            <a:extLst xmlns:a="http://schemas.openxmlformats.org/drawingml/2006/main">
              <a:ext uri="{FF2B5EF4-FFF2-40B4-BE49-F238E27FC236}">
                <a16:creationId xmlns:a16="http://schemas.microsoft.com/office/drawing/2014/main" id="{4B9B9754-7555-4EE0-B2B6-9E4F0F55EFAA}"/>
              </a:ext>
            </a:extLst>
          </p:cNvPr>
          <p:cNvSpPr>
            <a:spLocks xmlns:a="http://schemas.openxmlformats.org/drawingml/2006/main" noGrp="1"/>
          </p:cNvSpPr>
          <p:nvPr/>
        </p:nvSpPr>
        <p:spPr>
          <a:xfrm xmlns:a="http://schemas.openxmlformats.org/drawingml/2006/main">
            <a:off x="3181350" y="4019550"/>
            <a:ext cx="1409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6F665E"/>
                </a:solidFill>
                <a:latin typeface="Helvetica Neue"/>
                <a:ea typeface="Helvetica Neue"/>
                <a:cs typeface="Helvetica Neue"/>
              </a:defRPr>
            </a:pPr>
            <a:r>
              <a:rPr sz="1275" b="0" i="0">
                <a:solidFill>
                  <a:srgbClr val="6F665E"/>
                </a:solidFill>
                <a:latin typeface="Helvetica Neue"/>
                <a:ea typeface="Helvetica Neue"/>
                <a:cs typeface="Helvetica Neue"/>
              </a:rPr>
              <a:t>Press Ctrl + Option + Space.</a:t>
            </a:r>
          </a:p>
        </p:txBody>
      </p:sp>
      <p:sp>
        <p:nvSpPr>
          <p:cNvPr id="17" name="">
            <a:extLst xmlns:a="http://schemas.openxmlformats.org/drawingml/2006/main">
              <a:ext uri="{FF2B5EF4-FFF2-40B4-BE49-F238E27FC236}">
                <a16:creationId xmlns:a16="http://schemas.microsoft.com/office/drawing/2014/main" id="{88CD5A9A-65A4-42E5-90C0-1DFC76DD8DAA}"/>
              </a:ext>
            </a:extLst>
          </p:cNvPr>
          <p:cNvSpPr>
            <a:spLocks xmlns:a="http://schemas.openxmlformats.org/drawingml/2006/main" noGrp="1"/>
          </p:cNvSpPr>
          <p:nvPr/>
        </p:nvSpPr>
        <p:spPr>
          <a:xfrm xmlns:a="http://schemas.openxmlformats.org/drawingml/2006/main">
            <a:off x="5257800" y="3009900"/>
            <a:ext cx="1752600" cy="1828800"/>
          </a:xfrm>
          <a:prstGeom xmlns:a="http://schemas.openxmlformats.org/drawingml/2006/main" prst="roundRect">
            <a:avLst>
              <a:gd name="adj" fmla="val 10870"/>
            </a:avLst>
          </a:prstGeom>
          <a:solidFill xmlns:a="http://schemas.openxmlformats.org/drawingml/2006/main">
            <a:srgbClr val="EEE1CD"/>
          </a:solidFill>
          <a:ln xmlns:a="http://schemas.openxmlformats.org/drawingml/2006/main" w="9525">
            <a:solidFill>
              <a:srgbClr val="D9D0C5"/>
            </a:solidFill>
            <a:prstDash val="solid"/>
          </a:ln>
        </p:spPr>
      </p:sp>
      <p:sp>
        <p:nvSpPr>
          <p:cNvPr id="18" name="">
            <a:extLst xmlns:a="http://schemas.openxmlformats.org/drawingml/2006/main">
              <a:ext uri="{FF2B5EF4-FFF2-40B4-BE49-F238E27FC236}">
                <a16:creationId xmlns:a16="http://schemas.microsoft.com/office/drawing/2014/main" id="{6BAABF81-B565-4B49-888D-B8348E9F54D8}"/>
              </a:ext>
            </a:extLst>
          </p:cNvPr>
          <p:cNvSpPr>
            <a:spLocks xmlns:a="http://schemas.openxmlformats.org/drawingml/2006/main" noGrp="1"/>
          </p:cNvSpPr>
          <p:nvPr/>
        </p:nvSpPr>
        <p:spPr>
          <a:xfrm xmlns:a="http://schemas.openxmlformats.org/drawingml/2006/main">
            <a:off x="5429250" y="3219450"/>
            <a:ext cx="1409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B58A4A"/>
                </a:solidFill>
                <a:latin typeface="Helvetica Neue"/>
                <a:ea typeface="Helvetica Neue"/>
                <a:cs typeface="Helvetica Neue"/>
              </a:defRPr>
            </a:pPr>
            <a:r>
              <a:rPr sz="1125" b="1" i="0">
                <a:solidFill>
                  <a:srgbClr val="B58A4A"/>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D218A24B-9972-4140-90E2-9026BF1161C1}"/>
              </a:ext>
            </a:extLst>
          </p:cNvPr>
          <p:cNvSpPr>
            <a:spLocks xmlns:a="http://schemas.openxmlformats.org/drawingml/2006/main" noGrp="1"/>
          </p:cNvSpPr>
          <p:nvPr/>
        </p:nvSpPr>
        <p:spPr>
          <a:xfrm xmlns:a="http://schemas.openxmlformats.org/drawingml/2006/main">
            <a:off x="5429250" y="3600450"/>
            <a:ext cx="140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i="0">
                <a:solidFill>
                  <a:srgbClr val="11100F"/>
                </a:solidFill>
                <a:latin typeface="Helvetica Neue"/>
                <a:ea typeface="Helvetica Neue"/>
                <a:cs typeface="Helvetica Neue"/>
              </a:defRPr>
            </a:pPr>
            <a:r>
              <a:rPr sz="2025" b="1" i="0">
                <a:solidFill>
                  <a:srgbClr val="11100F"/>
                </a:solidFill>
                <a:latin typeface="Helvetica Neue"/>
                <a:ea typeface="Helvetica Neue"/>
                <a:cs typeface="Helvetica Neue"/>
              </a:rPr>
              <a:t>Speak</a:t>
            </a:r>
          </a:p>
        </p:txBody>
      </p:sp>
      <p:sp>
        <p:nvSpPr>
          <p:cNvPr id="20" name="">
            <a:extLst xmlns:a="http://schemas.openxmlformats.org/drawingml/2006/main">
              <a:ext uri="{FF2B5EF4-FFF2-40B4-BE49-F238E27FC236}">
                <a16:creationId xmlns:a16="http://schemas.microsoft.com/office/drawing/2014/main" id="{4347EF28-1D26-4846-8687-D711D363C9B6}"/>
              </a:ext>
            </a:extLst>
          </p:cNvPr>
          <p:cNvSpPr>
            <a:spLocks xmlns:a="http://schemas.openxmlformats.org/drawingml/2006/main" noGrp="1"/>
          </p:cNvSpPr>
          <p:nvPr/>
        </p:nvSpPr>
        <p:spPr>
          <a:xfrm xmlns:a="http://schemas.openxmlformats.org/drawingml/2006/main">
            <a:off x="5429250" y="4019550"/>
            <a:ext cx="1409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6F665E"/>
                </a:solidFill>
                <a:latin typeface="Helvetica Neue"/>
                <a:ea typeface="Helvetica Neue"/>
                <a:cs typeface="Helvetica Neue"/>
              </a:defRPr>
            </a:pPr>
            <a:r>
              <a:rPr sz="1275" b="0" i="0">
                <a:solidFill>
                  <a:srgbClr val="6F665E"/>
                </a:solidFill>
                <a:latin typeface="Helvetica Neue"/>
                <a:ea typeface="Helvetica Neue"/>
                <a:cs typeface="Helvetica Neue"/>
              </a:rPr>
              <a:t>ZenBar shows recording and preview.</a:t>
            </a:r>
          </a:p>
        </p:txBody>
      </p:sp>
      <p:sp>
        <p:nvSpPr>
          <p:cNvPr id="21" name="">
            <a:extLst xmlns:a="http://schemas.openxmlformats.org/drawingml/2006/main">
              <a:ext uri="{FF2B5EF4-FFF2-40B4-BE49-F238E27FC236}">
                <a16:creationId xmlns:a16="http://schemas.microsoft.com/office/drawing/2014/main" id="{1F8AB0DB-325F-4CC9-A244-52E543050631}"/>
              </a:ext>
            </a:extLst>
          </p:cNvPr>
          <p:cNvSpPr>
            <a:spLocks xmlns:a="http://schemas.openxmlformats.org/drawingml/2006/main" noGrp="1"/>
          </p:cNvSpPr>
          <p:nvPr/>
        </p:nvSpPr>
        <p:spPr>
          <a:xfrm xmlns:a="http://schemas.openxmlformats.org/drawingml/2006/main">
            <a:off x="7505700" y="3009900"/>
            <a:ext cx="1752600" cy="1828800"/>
          </a:xfrm>
          <a:prstGeom xmlns:a="http://schemas.openxmlformats.org/drawingml/2006/main" prst="roundRect">
            <a:avLst>
              <a:gd name="adj" fmla="val 10870"/>
            </a:avLst>
          </a:prstGeom>
          <a:solidFill xmlns:a="http://schemas.openxmlformats.org/drawingml/2006/main">
            <a:srgbClr val="F6F2EC"/>
          </a:solidFill>
          <a:ln xmlns:a="http://schemas.openxmlformats.org/drawingml/2006/main" w="9525">
            <a:solidFill>
              <a:srgbClr val="D9D0C5"/>
            </a:solidFill>
            <a:prstDash val="solid"/>
          </a:ln>
        </p:spPr>
      </p:sp>
      <p:sp>
        <p:nvSpPr>
          <p:cNvPr id="22" name="">
            <a:extLst xmlns:a="http://schemas.openxmlformats.org/drawingml/2006/main">
              <a:ext uri="{FF2B5EF4-FFF2-40B4-BE49-F238E27FC236}">
                <a16:creationId xmlns:a16="http://schemas.microsoft.com/office/drawing/2014/main" id="{AE69EA05-29BE-4292-B565-CAAFE3847779}"/>
              </a:ext>
            </a:extLst>
          </p:cNvPr>
          <p:cNvSpPr>
            <a:spLocks xmlns:a="http://schemas.openxmlformats.org/drawingml/2006/main" noGrp="1"/>
          </p:cNvSpPr>
          <p:nvPr/>
        </p:nvSpPr>
        <p:spPr>
          <a:xfrm xmlns:a="http://schemas.openxmlformats.org/drawingml/2006/main">
            <a:off x="7677150" y="3219450"/>
            <a:ext cx="1409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B58A4A"/>
                </a:solidFill>
                <a:latin typeface="Helvetica Neue"/>
                <a:ea typeface="Helvetica Neue"/>
                <a:cs typeface="Helvetica Neue"/>
              </a:defRPr>
            </a:pPr>
            <a:r>
              <a:rPr sz="1125" b="1" i="0">
                <a:solidFill>
                  <a:srgbClr val="B58A4A"/>
                </a:solidFill>
                <a:latin typeface="Helvetica Neue"/>
                <a:ea typeface="Helvetica Neue"/>
                <a:cs typeface="Helvetica Neue"/>
              </a:rPr>
              <a:t>04</a:t>
            </a:r>
          </a:p>
        </p:txBody>
      </p:sp>
      <p:sp>
        <p:nvSpPr>
          <p:cNvPr id="23" name="">
            <a:extLst xmlns:a="http://schemas.openxmlformats.org/drawingml/2006/main">
              <a:ext uri="{FF2B5EF4-FFF2-40B4-BE49-F238E27FC236}">
                <a16:creationId xmlns:a16="http://schemas.microsoft.com/office/drawing/2014/main" id="{7F11A8FA-3B90-4E43-81C2-D3EC2DEFAB43}"/>
              </a:ext>
            </a:extLst>
          </p:cNvPr>
          <p:cNvSpPr>
            <a:spLocks xmlns:a="http://schemas.openxmlformats.org/drawingml/2006/main" noGrp="1"/>
          </p:cNvSpPr>
          <p:nvPr/>
        </p:nvSpPr>
        <p:spPr>
          <a:xfrm xmlns:a="http://schemas.openxmlformats.org/drawingml/2006/main">
            <a:off x="7677150" y="3600450"/>
            <a:ext cx="140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i="0">
                <a:solidFill>
                  <a:srgbClr val="11100F"/>
                </a:solidFill>
                <a:latin typeface="Helvetica Neue"/>
                <a:ea typeface="Helvetica Neue"/>
                <a:cs typeface="Helvetica Neue"/>
              </a:defRPr>
            </a:pPr>
            <a:r>
              <a:rPr sz="2025" b="1" i="0">
                <a:solidFill>
                  <a:srgbClr val="11100F"/>
                </a:solidFill>
                <a:latin typeface="Helvetica Neue"/>
                <a:ea typeface="Helvetica Neue"/>
                <a:cs typeface="Helvetica Neue"/>
              </a:rPr>
              <a:t>Stop</a:t>
            </a:r>
          </a:p>
        </p:txBody>
      </p:sp>
      <p:sp>
        <p:nvSpPr>
          <p:cNvPr id="24" name="">
            <a:extLst xmlns:a="http://schemas.openxmlformats.org/drawingml/2006/main">
              <a:ext uri="{FF2B5EF4-FFF2-40B4-BE49-F238E27FC236}">
                <a16:creationId xmlns:a16="http://schemas.microsoft.com/office/drawing/2014/main" id="{7B464BED-BF69-464B-A343-E90DFB3CC580}"/>
              </a:ext>
            </a:extLst>
          </p:cNvPr>
          <p:cNvSpPr>
            <a:spLocks xmlns:a="http://schemas.openxmlformats.org/drawingml/2006/main" noGrp="1"/>
          </p:cNvSpPr>
          <p:nvPr/>
        </p:nvSpPr>
        <p:spPr>
          <a:xfrm xmlns:a="http://schemas.openxmlformats.org/drawingml/2006/main">
            <a:off x="7677150" y="4019550"/>
            <a:ext cx="1409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6F665E"/>
                </a:solidFill>
                <a:latin typeface="Helvetica Neue"/>
                <a:ea typeface="Helvetica Neue"/>
                <a:cs typeface="Helvetica Neue"/>
              </a:defRPr>
            </a:pPr>
            <a:r>
              <a:rPr sz="1275" b="0" i="0">
                <a:solidFill>
                  <a:srgbClr val="6F665E"/>
                </a:solidFill>
                <a:latin typeface="Helvetica Neue"/>
                <a:ea typeface="Helvetica Neue"/>
                <a:cs typeface="Helvetica Neue"/>
              </a:rPr>
              <a:t>Press again, or release hold-to-dictate.</a:t>
            </a:r>
          </a:p>
        </p:txBody>
      </p:sp>
      <p:sp>
        <p:nvSpPr>
          <p:cNvPr id="25" name="">
            <a:extLst xmlns:a="http://schemas.openxmlformats.org/drawingml/2006/main">
              <a:ext uri="{FF2B5EF4-FFF2-40B4-BE49-F238E27FC236}">
                <a16:creationId xmlns:a16="http://schemas.microsoft.com/office/drawing/2014/main" id="{EE93CC65-856A-4845-8825-1275501B9383}"/>
              </a:ext>
            </a:extLst>
          </p:cNvPr>
          <p:cNvSpPr>
            <a:spLocks xmlns:a="http://schemas.openxmlformats.org/drawingml/2006/main" noGrp="1"/>
          </p:cNvSpPr>
          <p:nvPr/>
        </p:nvSpPr>
        <p:spPr>
          <a:xfrm xmlns:a="http://schemas.openxmlformats.org/drawingml/2006/main">
            <a:off x="9753600" y="3009900"/>
            <a:ext cx="1752600" cy="1828800"/>
          </a:xfrm>
          <a:prstGeom xmlns:a="http://schemas.openxmlformats.org/drawingml/2006/main" prst="roundRect">
            <a:avLst>
              <a:gd name="adj" fmla="val 10870"/>
            </a:avLst>
          </a:prstGeom>
          <a:solidFill xmlns:a="http://schemas.openxmlformats.org/drawingml/2006/main">
            <a:srgbClr val="F6F2EC"/>
          </a:solidFill>
          <a:ln xmlns:a="http://schemas.openxmlformats.org/drawingml/2006/main" w="9525">
            <a:solidFill>
              <a:srgbClr val="D9D0C5"/>
            </a:solidFill>
            <a:prstDash val="solid"/>
          </a:ln>
        </p:spPr>
      </p:sp>
      <p:sp>
        <p:nvSpPr>
          <p:cNvPr id="26" name="">
            <a:extLst xmlns:a="http://schemas.openxmlformats.org/drawingml/2006/main">
              <a:ext uri="{FF2B5EF4-FFF2-40B4-BE49-F238E27FC236}">
                <a16:creationId xmlns:a16="http://schemas.microsoft.com/office/drawing/2014/main" id="{D3322BBD-EE6A-4C17-B5DD-8CA6E432911D}"/>
              </a:ext>
            </a:extLst>
          </p:cNvPr>
          <p:cNvSpPr>
            <a:spLocks xmlns:a="http://schemas.openxmlformats.org/drawingml/2006/main" noGrp="1"/>
          </p:cNvSpPr>
          <p:nvPr/>
        </p:nvSpPr>
        <p:spPr>
          <a:xfrm xmlns:a="http://schemas.openxmlformats.org/drawingml/2006/main">
            <a:off x="9925050" y="3219450"/>
            <a:ext cx="1409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B58A4A"/>
                </a:solidFill>
                <a:latin typeface="Helvetica Neue"/>
                <a:ea typeface="Helvetica Neue"/>
                <a:cs typeface="Helvetica Neue"/>
              </a:defRPr>
            </a:pPr>
            <a:r>
              <a:rPr sz="1125" b="1" i="0">
                <a:solidFill>
                  <a:srgbClr val="B58A4A"/>
                </a:solidFill>
                <a:latin typeface="Helvetica Neue"/>
                <a:ea typeface="Helvetica Neue"/>
                <a:cs typeface="Helvetica Neue"/>
              </a:rPr>
              <a:t>05</a:t>
            </a:r>
          </a:p>
        </p:txBody>
      </p:sp>
      <p:sp>
        <p:nvSpPr>
          <p:cNvPr id="27" name="">
            <a:extLst xmlns:a="http://schemas.openxmlformats.org/drawingml/2006/main">
              <a:ext uri="{FF2B5EF4-FFF2-40B4-BE49-F238E27FC236}">
                <a16:creationId xmlns:a16="http://schemas.microsoft.com/office/drawing/2014/main" id="{BFFE382C-34D7-4C27-83BE-188BECCEA6BD}"/>
              </a:ext>
            </a:extLst>
          </p:cNvPr>
          <p:cNvSpPr>
            <a:spLocks xmlns:a="http://schemas.openxmlformats.org/drawingml/2006/main" noGrp="1"/>
          </p:cNvSpPr>
          <p:nvPr/>
        </p:nvSpPr>
        <p:spPr>
          <a:xfrm xmlns:a="http://schemas.openxmlformats.org/drawingml/2006/main">
            <a:off x="9925050" y="3600450"/>
            <a:ext cx="140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i="0">
                <a:solidFill>
                  <a:srgbClr val="11100F"/>
                </a:solidFill>
                <a:latin typeface="Helvetica Neue"/>
                <a:ea typeface="Helvetica Neue"/>
                <a:cs typeface="Helvetica Neue"/>
              </a:defRPr>
            </a:pPr>
            <a:r>
              <a:rPr sz="2025" b="1" i="0">
                <a:solidFill>
                  <a:srgbClr val="11100F"/>
                </a:solidFill>
                <a:latin typeface="Helvetica Neue"/>
                <a:ea typeface="Helvetica Neue"/>
                <a:cs typeface="Helvetica Neue"/>
              </a:rPr>
              <a:t>Continue</a:t>
            </a:r>
          </a:p>
        </p:txBody>
      </p:sp>
      <p:sp>
        <p:nvSpPr>
          <p:cNvPr id="28" name="">
            <a:extLst xmlns:a="http://schemas.openxmlformats.org/drawingml/2006/main">
              <a:ext uri="{FF2B5EF4-FFF2-40B4-BE49-F238E27FC236}">
                <a16:creationId xmlns:a16="http://schemas.microsoft.com/office/drawing/2014/main" id="{DC175601-CB67-43C8-9A8F-D857770228EF}"/>
              </a:ext>
            </a:extLst>
          </p:cNvPr>
          <p:cNvSpPr>
            <a:spLocks xmlns:a="http://schemas.openxmlformats.org/drawingml/2006/main" noGrp="1"/>
          </p:cNvSpPr>
          <p:nvPr/>
        </p:nvSpPr>
        <p:spPr>
          <a:xfrm xmlns:a="http://schemas.openxmlformats.org/drawingml/2006/main">
            <a:off x="9925050" y="4019550"/>
            <a:ext cx="1409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6F665E"/>
                </a:solidFill>
                <a:latin typeface="Helvetica Neue"/>
                <a:ea typeface="Helvetica Neue"/>
                <a:cs typeface="Helvetica Neue"/>
              </a:defRPr>
            </a:pPr>
            <a:r>
              <a:rPr sz="1275" b="0" i="0">
                <a:solidFill>
                  <a:srgbClr val="6F665E"/>
                </a:solidFill>
                <a:latin typeface="Helvetica Neue"/>
                <a:ea typeface="Helvetica Neue"/>
                <a:cs typeface="Helvetica Neue"/>
              </a:rPr>
              <a:t>Text is inserted; History can reuse it.</a:t>
            </a:r>
          </a:p>
        </p:txBody>
      </p:sp>
      <p:sp>
        <p:nvSpPr>
          <p:cNvPr id="29" name="">
            <a:extLst xmlns:a="http://schemas.openxmlformats.org/drawingml/2006/main">
              <a:ext uri="{FF2B5EF4-FFF2-40B4-BE49-F238E27FC236}">
                <a16:creationId xmlns:a16="http://schemas.microsoft.com/office/drawing/2014/main" id="{F04D1DA1-A2E5-480D-857F-4A1AE54252CB}"/>
              </a:ext>
            </a:extLst>
          </p:cNvPr>
          <p:cNvSpPr>
            <a:spLocks xmlns:a="http://schemas.openxmlformats.org/drawingml/2006/main" noGrp="1"/>
          </p:cNvSpPr>
          <p:nvPr/>
        </p:nvSpPr>
        <p:spPr>
          <a:xfrm xmlns:a="http://schemas.openxmlformats.org/drawingml/2006/main">
            <a:off x="742950" y="531495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0" i="0">
                <a:solidFill>
                  <a:srgbClr val="6F665E"/>
                </a:solidFill>
                <a:latin typeface="Helvetica Neue"/>
                <a:ea typeface="Helvetica Neue"/>
                <a:cs typeface="Helvetica Neue"/>
              </a:defRPr>
            </a:pPr>
            <a:r>
              <a:rPr sz="1500" b="0" i="0">
                <a:solidFill>
                  <a:srgbClr val="6F665E"/>
                </a:solidFill>
                <a:latin typeface="Helvetica Neue"/>
                <a:ea typeface="Helvetica Neue"/>
                <a:cs typeface="Helvetica Neue"/>
              </a:rPr>
              <a:t>Accessibility permission enables direct insertion. Without it, ZenVoice still leaves the transcript on the clipboard.</a:t>
            </a:r>
          </a:p>
        </p:txBody>
      </p:sp>
      <p:sp>
        <p:nvSpPr>
          <p:cNvPr id="30" name="">
            <a:extLst xmlns:a="http://schemas.openxmlformats.org/drawingml/2006/main">
              <a:ext uri="{FF2B5EF4-FFF2-40B4-BE49-F238E27FC236}">
                <a16:creationId xmlns:a16="http://schemas.microsoft.com/office/drawing/2014/main" id="{6E578A80-9A46-4B40-B674-CC9C237604EB}"/>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9D0C5"/>
            </a:solidFill>
            <a:prstDash val="solid"/>
          </a:ln>
        </p:spPr>
      </p:sp>
      <p:sp>
        <p:nvSpPr>
          <p:cNvPr id="31" name="">
            <a:extLst xmlns:a="http://schemas.openxmlformats.org/drawingml/2006/main">
              <a:ext uri="{FF2B5EF4-FFF2-40B4-BE49-F238E27FC236}">
                <a16:creationId xmlns:a16="http://schemas.microsoft.com/office/drawing/2014/main" id="{DF0DB8AE-3D76-4002-B8DE-12858D6656FE}"/>
              </a:ext>
            </a:extLst>
          </p:cNvPr>
          <p:cNvSpPr>
            <a:spLocks xmlns:a="http://schemas.openxmlformats.org/drawingml/2006/main" noGrp="1"/>
          </p:cNvSpPr>
          <p:nvPr/>
        </p:nvSpPr>
        <p:spPr>
          <a:xfrm xmlns:a="http://schemas.openxmlformats.org/drawingml/2006/main">
            <a:off x="609600" y="65627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9B9086"/>
                </a:solidFill>
                <a:latin typeface="Helvetica Neue"/>
                <a:ea typeface="Helvetica Neue"/>
                <a:cs typeface="Helvetica Neue"/>
              </a:defRPr>
            </a:pPr>
            <a:r>
              <a:rPr sz="900" b="1" i="0">
                <a:solidFill>
                  <a:srgbClr val="9B9086"/>
                </a:solidFill>
                <a:latin typeface="Helvetica Neue"/>
                <a:ea typeface="Helvetica Neue"/>
                <a:cs typeface="Helvetica Neue"/>
              </a:rPr>
              <a:t>ZENVOICE  |  PRIVATE LOCAL-FIRST DICTATION</a:t>
            </a:r>
          </a:p>
        </p:txBody>
      </p:sp>
      <p:sp>
        <p:nvSpPr>
          <p:cNvPr id="32" name="">
            <a:extLst xmlns:a="http://schemas.openxmlformats.org/drawingml/2006/main">
              <a:ext uri="{FF2B5EF4-FFF2-40B4-BE49-F238E27FC236}">
                <a16:creationId xmlns:a16="http://schemas.microsoft.com/office/drawing/2014/main" id="{3AB304BE-6985-4B9B-85FB-F7E931FA3D95}"/>
              </a:ext>
            </a:extLst>
          </p:cNvPr>
          <p:cNvSpPr>
            <a:spLocks xmlns:a="http://schemas.openxmlformats.org/drawingml/2006/main" noGrp="1"/>
          </p:cNvSpPr>
          <p:nvPr/>
        </p:nvSpPr>
        <p:spPr>
          <a:xfrm xmlns:a="http://schemas.openxmlformats.org/drawingml/2006/main">
            <a:off x="10668000" y="6562725"/>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9B9086"/>
                </a:solidFill>
                <a:latin typeface="Helvetica Neue"/>
                <a:ea typeface="Helvetica Neue"/>
                <a:cs typeface="Helvetica Neue"/>
              </a:defRPr>
            </a:pPr>
            <a:r>
              <a:rPr sz="900" b="1" i="0">
                <a:solidFill>
                  <a:srgbClr val="9B9086"/>
                </a:solidFill>
                <a:latin typeface="Helvetica Neue"/>
                <a:ea typeface="Helvetica Neue"/>
                <a:cs typeface="Helvetica Neue"/>
              </a:rPr>
              <a:t>04</a:t>
            </a:r>
          </a:p>
        </p:txBody>
      </p:sp>
    </p:spTree>
    <p:extLst>
      <p:ext uri="{BB962C8B-B14F-4D97-AF65-F5344CB8AC3E}">
        <p14:creationId xmlns:p14="http://schemas.microsoft.com/office/powerpoint/2010/main" val="1237926070"/>
      </p:ext>
    </p:extLst>
  </p:cSld>
  <p:transition spd="med" advClick="1">
    <p:fade/>
  </p:transition>
</p:sld>
</file>

<file path=ppt/slides/slide5.xml><?xml version="1.0" encoding="utf-8"?>
<p:sld xmlns:p="http://schemas.openxmlformats.org/presentationml/2006/main">
  <p:cSld>
    <p:bg>
      <p:bgPr>
        <a:solidFill xmlns:a="http://schemas.openxmlformats.org/drawingml/2006/main">
          <a:srgbClr val="FCFA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AAD8EF0-1B07-4352-8316-410A3B5D8066}"/>
              </a:ext>
            </a:extLst>
          </p:cNvPr>
          <p:cNvSpPr>
            <a:spLocks xmlns:a="http://schemas.openxmlformats.org/drawingml/2006/main" noGrp="1"/>
          </p:cNvSpPr>
          <p:nvPr/>
        </p:nvSpPr>
        <p:spPr>
          <a:xfrm xmlns:a="http://schemas.openxmlformats.org/drawingml/2006/main">
            <a:off x="609600" y="457200"/>
            <a:ext cx="1104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B58A4A"/>
                </a:solidFill>
                <a:latin typeface="Helvetica Neue"/>
                <a:ea typeface="Helvetica Neue"/>
                <a:cs typeface="Helvetica Neue"/>
              </a:defRPr>
            </a:pPr>
            <a:r>
              <a:rPr sz="1125" b="1" i="0">
                <a:solidFill>
                  <a:srgbClr val="B58A4A"/>
                </a:solidFill>
                <a:latin typeface="Helvetica Neue"/>
                <a:ea typeface="Helvetica Neue"/>
                <a:cs typeface="Helvetica Neue"/>
              </a:rPr>
              <a:t>05  /  CORE FEATURES</a:t>
            </a:r>
          </a:p>
        </p:txBody>
      </p:sp>
      <p:sp>
        <p:nvSpPr>
          <p:cNvPr id="2" name="">
            <a:extLst xmlns:a="http://schemas.openxmlformats.org/drawingml/2006/main">
              <a:ext uri="{FF2B5EF4-FFF2-40B4-BE49-F238E27FC236}">
                <a16:creationId xmlns:a16="http://schemas.microsoft.com/office/drawing/2014/main" id="{DCF293B6-1E71-44A7-AD98-850C0717FB55}"/>
              </a:ext>
            </a:extLst>
          </p:cNvPr>
          <p:cNvSpPr>
            <a:spLocks xmlns:a="http://schemas.openxmlformats.org/drawingml/2006/main" noGrp="1"/>
          </p:cNvSpPr>
          <p:nvPr/>
        </p:nvSpPr>
        <p:spPr>
          <a:xfrm xmlns:a="http://schemas.openxmlformats.org/drawingml/2006/main">
            <a:off x="609600" y="838200"/>
            <a:ext cx="10287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00F"/>
                </a:solidFill>
                <a:latin typeface="Helvetica Neue"/>
                <a:ea typeface="Helvetica Neue"/>
                <a:cs typeface="Helvetica Neue"/>
              </a:defRPr>
            </a:pPr>
            <a:r>
              <a:rPr sz="3000" b="1" i="0">
                <a:solidFill>
                  <a:srgbClr val="11100F"/>
                </a:solidFill>
                <a:latin typeface="Helvetica Neue"/>
                <a:ea typeface="Helvetica Neue"/>
                <a:cs typeface="Helvetica Neue"/>
              </a:rPr>
              <a:t>Small interface. Deliberately rich workflow.</a:t>
            </a:r>
          </a:p>
        </p:txBody>
      </p:sp>
      <p:sp>
        <p:nvSpPr>
          <p:cNvPr id="3" name="">
            <a:extLst xmlns:a="http://schemas.openxmlformats.org/drawingml/2006/main">
              <a:ext uri="{FF2B5EF4-FFF2-40B4-BE49-F238E27FC236}">
                <a16:creationId xmlns:a16="http://schemas.microsoft.com/office/drawing/2014/main" id="{E64DC127-CE69-4EF6-B589-18A159463A04}"/>
              </a:ext>
            </a:extLst>
          </p:cNvPr>
          <p:cNvSpPr>
            <a:spLocks xmlns:a="http://schemas.openxmlformats.org/drawingml/2006/main" noGrp="1"/>
          </p:cNvSpPr>
          <p:nvPr/>
        </p:nvSpPr>
        <p:spPr>
          <a:xfrm xmlns:a="http://schemas.openxmlformats.org/drawingml/2006/main">
            <a:off x="609600" y="1952625"/>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6F665E"/>
                </a:solidFill>
                <a:latin typeface="Helvetica Neue"/>
                <a:ea typeface="Helvetica Neue"/>
                <a:cs typeface="Helvetica Neue"/>
              </a:defRPr>
            </a:pPr>
            <a:r>
              <a:rPr sz="1575" b="0" i="0">
                <a:solidFill>
                  <a:srgbClr val="6F665E"/>
                </a:solidFill>
                <a:latin typeface="Helvetica Neue"/>
                <a:ea typeface="Helvetica Neue"/>
                <a:cs typeface="Helvetica Neue"/>
              </a:rPr>
              <a:t>Features are designed around speed, recovery, and predictable behavior instead of a crowded dashboard.</a:t>
            </a:r>
          </a:p>
        </p:txBody>
      </p:sp>
      <p:sp>
        <p:nvSpPr>
          <p:cNvPr id="4" name="">
            <a:extLst xmlns:a="http://schemas.openxmlformats.org/drawingml/2006/main">
              <a:ext uri="{FF2B5EF4-FFF2-40B4-BE49-F238E27FC236}">
                <a16:creationId xmlns:a16="http://schemas.microsoft.com/office/drawing/2014/main" id="{F3B00F59-CB45-4703-A236-9B08374AF913}"/>
              </a:ext>
            </a:extLst>
          </p:cNvPr>
          <p:cNvSpPr>
            <a:spLocks xmlns:a="http://schemas.openxmlformats.org/drawingml/2006/main" noGrp="1"/>
          </p:cNvSpPr>
          <p:nvPr/>
        </p:nvSpPr>
        <p:spPr>
          <a:xfrm xmlns:a="http://schemas.openxmlformats.org/drawingml/2006/main">
            <a:off x="609600" y="2533650"/>
            <a:ext cx="10972800" cy="0"/>
          </a:xfrm>
          <a:prstGeom xmlns:a="http://schemas.openxmlformats.org/drawingml/2006/main" prst="line">
            <a:avLst/>
          </a:prstGeom>
          <a:noFill xmlns:a="http://schemas.openxmlformats.org/drawingml/2006/main"/>
          <a:ln xmlns:a="http://schemas.openxmlformats.org/drawingml/2006/main" w="9525">
            <a:solidFill>
              <a:srgbClr val="D9D0C5"/>
            </a:solidFill>
            <a:prstDash val="solid"/>
          </a:ln>
        </p:spPr>
      </p:sp>
      <p:sp>
        <p:nvSpPr>
          <p:cNvPr id="5" name="">
            <a:extLst xmlns:a="http://schemas.openxmlformats.org/drawingml/2006/main">
              <a:ext uri="{FF2B5EF4-FFF2-40B4-BE49-F238E27FC236}">
                <a16:creationId xmlns:a16="http://schemas.microsoft.com/office/drawing/2014/main" id="{E645F94C-734C-426B-9FAC-5C64DF7102CF}"/>
              </a:ext>
            </a:extLst>
          </p:cNvPr>
          <p:cNvSpPr>
            <a:spLocks xmlns:a="http://schemas.openxmlformats.org/drawingml/2006/main" noGrp="1"/>
          </p:cNvSpPr>
          <p:nvPr/>
        </p:nvSpPr>
        <p:spPr>
          <a:xfrm xmlns:a="http://schemas.openxmlformats.org/drawingml/2006/main">
            <a:off x="819150" y="2962275"/>
            <a:ext cx="95250" cy="95250"/>
          </a:xfrm>
          <a:prstGeom xmlns:a="http://schemas.openxmlformats.org/drawingml/2006/main" prst="ellipse">
            <a:avLst/>
          </a:prstGeom>
          <a:solidFill xmlns:a="http://schemas.openxmlformats.org/drawingml/2006/main">
            <a:srgbClr val="B58A4A"/>
          </a:solidFill>
          <a:ln xmlns:a="http://schemas.openxmlformats.org/drawingml/2006/main" w="0">
            <a:solidFill>
              <a:srgbClr val="B58A4A"/>
            </a:solidFill>
            <a:prstDash val="solid"/>
          </a:ln>
        </p:spPr>
      </p:sp>
      <p:sp>
        <p:nvSpPr>
          <p:cNvPr id="6" name="">
            <a:extLst xmlns:a="http://schemas.openxmlformats.org/drawingml/2006/main">
              <a:ext uri="{FF2B5EF4-FFF2-40B4-BE49-F238E27FC236}">
                <a16:creationId xmlns:a16="http://schemas.microsoft.com/office/drawing/2014/main" id="{810ACBF2-1602-4CCF-9FF4-7ABFAAD9EEAC}"/>
              </a:ext>
            </a:extLst>
          </p:cNvPr>
          <p:cNvSpPr>
            <a:spLocks xmlns:a="http://schemas.openxmlformats.org/drawingml/2006/main" noGrp="1"/>
          </p:cNvSpPr>
          <p:nvPr/>
        </p:nvSpPr>
        <p:spPr>
          <a:xfrm xmlns:a="http://schemas.openxmlformats.org/drawingml/2006/main">
            <a:off x="1085850" y="2876550"/>
            <a:ext cx="459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1100F"/>
                </a:solidFill>
                <a:latin typeface="Helvetica Neue"/>
                <a:ea typeface="Helvetica Neue"/>
                <a:cs typeface="Helvetica Neue"/>
              </a:defRPr>
            </a:pPr>
            <a:r>
              <a:rPr sz="1800" b="1" i="0">
                <a:solidFill>
                  <a:srgbClr val="11100F"/>
                </a:solidFill>
                <a:latin typeface="Helvetica Neue"/>
                <a:ea typeface="Helvetica Neue"/>
                <a:cs typeface="Helvetica Neue"/>
              </a:rPr>
              <a:t>ZenBar</a:t>
            </a:r>
          </a:p>
        </p:txBody>
      </p:sp>
      <p:sp>
        <p:nvSpPr>
          <p:cNvPr id="7" name="">
            <a:extLst xmlns:a="http://schemas.openxmlformats.org/drawingml/2006/main">
              <a:ext uri="{FF2B5EF4-FFF2-40B4-BE49-F238E27FC236}">
                <a16:creationId xmlns:a16="http://schemas.microsoft.com/office/drawing/2014/main" id="{33C05ADA-F156-48C9-8499-8EC03BF7BDCB}"/>
              </a:ext>
            </a:extLst>
          </p:cNvPr>
          <p:cNvSpPr>
            <a:spLocks xmlns:a="http://schemas.openxmlformats.org/drawingml/2006/main" noGrp="1"/>
          </p:cNvSpPr>
          <p:nvPr/>
        </p:nvSpPr>
        <p:spPr>
          <a:xfrm xmlns:a="http://schemas.openxmlformats.org/drawingml/2006/main">
            <a:off x="1085850" y="3190875"/>
            <a:ext cx="4591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6F665E"/>
                </a:solidFill>
                <a:latin typeface="Helvetica Neue"/>
                <a:ea typeface="Helvetica Neue"/>
                <a:cs typeface="Helvetica Neue"/>
              </a:defRPr>
            </a:pPr>
            <a:r>
              <a:rPr sz="1500" b="0" i="0">
                <a:solidFill>
                  <a:srgbClr val="6F665E"/>
                </a:solidFill>
                <a:latin typeface="Helvetica Neue"/>
                <a:ea typeface="Helvetica Neue"/>
                <a:cs typeface="Helvetica Neue"/>
              </a:rPr>
              <a:t>A compact 108 × 36 capsule appears on the display being used; controls stay out of the way until needed.</a:t>
            </a:r>
          </a:p>
        </p:txBody>
      </p:sp>
      <p:sp>
        <p:nvSpPr>
          <p:cNvPr id="8" name="">
            <a:extLst xmlns:a="http://schemas.openxmlformats.org/drawingml/2006/main">
              <a:ext uri="{FF2B5EF4-FFF2-40B4-BE49-F238E27FC236}">
                <a16:creationId xmlns:a16="http://schemas.microsoft.com/office/drawing/2014/main" id="{996B5BCF-2A42-4F1A-802D-EAA6675CA1A8}"/>
              </a:ext>
            </a:extLst>
          </p:cNvPr>
          <p:cNvSpPr>
            <a:spLocks xmlns:a="http://schemas.openxmlformats.org/drawingml/2006/main" noGrp="1"/>
          </p:cNvSpPr>
          <p:nvPr/>
        </p:nvSpPr>
        <p:spPr>
          <a:xfrm xmlns:a="http://schemas.openxmlformats.org/drawingml/2006/main">
            <a:off x="819150" y="4276725"/>
            <a:ext cx="95250" cy="95250"/>
          </a:xfrm>
          <a:prstGeom xmlns:a="http://schemas.openxmlformats.org/drawingml/2006/main" prst="ellipse">
            <a:avLst/>
          </a:prstGeom>
          <a:solidFill xmlns:a="http://schemas.openxmlformats.org/drawingml/2006/main">
            <a:srgbClr val="256B5B"/>
          </a:solidFill>
          <a:ln xmlns:a="http://schemas.openxmlformats.org/drawingml/2006/main" w="0">
            <a:solidFill>
              <a:srgbClr val="256B5B"/>
            </a:solidFill>
            <a:prstDash val="solid"/>
          </a:ln>
        </p:spPr>
      </p:sp>
      <p:sp>
        <p:nvSpPr>
          <p:cNvPr id="9" name="">
            <a:extLst xmlns:a="http://schemas.openxmlformats.org/drawingml/2006/main">
              <a:ext uri="{FF2B5EF4-FFF2-40B4-BE49-F238E27FC236}">
                <a16:creationId xmlns:a16="http://schemas.microsoft.com/office/drawing/2014/main" id="{95D3805D-B890-44D5-84E7-07BD3FA7B70D}"/>
              </a:ext>
            </a:extLst>
          </p:cNvPr>
          <p:cNvSpPr>
            <a:spLocks xmlns:a="http://schemas.openxmlformats.org/drawingml/2006/main" noGrp="1"/>
          </p:cNvSpPr>
          <p:nvPr/>
        </p:nvSpPr>
        <p:spPr>
          <a:xfrm xmlns:a="http://schemas.openxmlformats.org/drawingml/2006/main">
            <a:off x="1085850" y="4191000"/>
            <a:ext cx="459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1100F"/>
                </a:solidFill>
                <a:latin typeface="Helvetica Neue"/>
                <a:ea typeface="Helvetica Neue"/>
                <a:cs typeface="Helvetica Neue"/>
              </a:defRPr>
            </a:pPr>
            <a:r>
              <a:rPr sz="1800" b="1" i="0">
                <a:solidFill>
                  <a:srgbClr val="11100F"/>
                </a:solidFill>
                <a:latin typeface="Helvetica Neue"/>
                <a:ea typeface="Helvetica Neue"/>
                <a:cs typeface="Helvetica Neue"/>
              </a:rPr>
              <a:t>Live preview</a:t>
            </a:r>
          </a:p>
        </p:txBody>
      </p:sp>
      <p:sp>
        <p:nvSpPr>
          <p:cNvPr id="10" name="">
            <a:extLst xmlns:a="http://schemas.openxmlformats.org/drawingml/2006/main">
              <a:ext uri="{FF2B5EF4-FFF2-40B4-BE49-F238E27FC236}">
                <a16:creationId xmlns:a16="http://schemas.microsoft.com/office/drawing/2014/main" id="{96896F5A-9436-4254-B997-54FE44283394}"/>
              </a:ext>
            </a:extLst>
          </p:cNvPr>
          <p:cNvSpPr>
            <a:spLocks xmlns:a="http://schemas.openxmlformats.org/drawingml/2006/main" noGrp="1"/>
          </p:cNvSpPr>
          <p:nvPr/>
        </p:nvSpPr>
        <p:spPr>
          <a:xfrm xmlns:a="http://schemas.openxmlformats.org/drawingml/2006/main">
            <a:off x="1085850" y="4505325"/>
            <a:ext cx="4591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6F665E"/>
                </a:solidFill>
                <a:latin typeface="Helvetica Neue"/>
                <a:ea typeface="Helvetica Neue"/>
                <a:cs typeface="Helvetica Neue"/>
              </a:defRPr>
            </a:pPr>
            <a:r>
              <a:rPr sz="1500" b="0" i="0">
                <a:solidFill>
                  <a:srgbClr val="6F665E"/>
                </a:solidFill>
                <a:latin typeface="Helvetica Neue"/>
                <a:ea typeface="Helvetica Neue"/>
                <a:cs typeface="Helvetica Neue"/>
              </a:rPr>
              <a:t>Optional on-device preview gives feedback while speaking; final insertion still comes from the chosen final engine.</a:t>
            </a:r>
          </a:p>
        </p:txBody>
      </p:sp>
      <p:sp>
        <p:nvSpPr>
          <p:cNvPr id="11" name="">
            <a:extLst xmlns:a="http://schemas.openxmlformats.org/drawingml/2006/main">
              <a:ext uri="{FF2B5EF4-FFF2-40B4-BE49-F238E27FC236}">
                <a16:creationId xmlns:a16="http://schemas.microsoft.com/office/drawing/2014/main" id="{987F5C65-D9AD-4366-A10D-FC7C9FFCE5A3}"/>
              </a:ext>
            </a:extLst>
          </p:cNvPr>
          <p:cNvSpPr>
            <a:spLocks xmlns:a="http://schemas.openxmlformats.org/drawingml/2006/main" noGrp="1"/>
          </p:cNvSpPr>
          <p:nvPr/>
        </p:nvSpPr>
        <p:spPr>
          <a:xfrm xmlns:a="http://schemas.openxmlformats.org/drawingml/2006/main">
            <a:off x="6591300" y="2962275"/>
            <a:ext cx="95250" cy="95250"/>
          </a:xfrm>
          <a:prstGeom xmlns:a="http://schemas.openxmlformats.org/drawingml/2006/main" prst="ellipse">
            <a:avLst/>
          </a:prstGeom>
          <a:solidFill xmlns:a="http://schemas.openxmlformats.org/drawingml/2006/main">
            <a:srgbClr val="A74538"/>
          </a:solidFill>
          <a:ln xmlns:a="http://schemas.openxmlformats.org/drawingml/2006/main" w="0">
            <a:solidFill>
              <a:srgbClr val="A74538"/>
            </a:solidFill>
            <a:prstDash val="solid"/>
          </a:ln>
        </p:spPr>
      </p:sp>
      <p:sp>
        <p:nvSpPr>
          <p:cNvPr id="12" name="">
            <a:extLst xmlns:a="http://schemas.openxmlformats.org/drawingml/2006/main">
              <a:ext uri="{FF2B5EF4-FFF2-40B4-BE49-F238E27FC236}">
                <a16:creationId xmlns:a16="http://schemas.microsoft.com/office/drawing/2014/main" id="{D32CF709-1A78-4859-9FC4-482977019C5F}"/>
              </a:ext>
            </a:extLst>
          </p:cNvPr>
          <p:cNvSpPr>
            <a:spLocks xmlns:a="http://schemas.openxmlformats.org/drawingml/2006/main" noGrp="1"/>
          </p:cNvSpPr>
          <p:nvPr/>
        </p:nvSpPr>
        <p:spPr>
          <a:xfrm xmlns:a="http://schemas.openxmlformats.org/drawingml/2006/main">
            <a:off x="6858000" y="2876550"/>
            <a:ext cx="459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1100F"/>
                </a:solidFill>
                <a:latin typeface="Helvetica Neue"/>
                <a:ea typeface="Helvetica Neue"/>
                <a:cs typeface="Helvetica Neue"/>
              </a:defRPr>
            </a:pPr>
            <a:r>
              <a:rPr sz="1800" b="1" i="0">
                <a:solidFill>
                  <a:srgbClr val="11100F"/>
                </a:solidFill>
                <a:latin typeface="Helvetica Neue"/>
                <a:ea typeface="Helvetica Neue"/>
                <a:cs typeface="Helvetica Neue"/>
              </a:rPr>
              <a:t>Audio Doctor + permissions</a:t>
            </a:r>
          </a:p>
        </p:txBody>
      </p:sp>
      <p:sp>
        <p:nvSpPr>
          <p:cNvPr id="13" name="">
            <a:extLst xmlns:a="http://schemas.openxmlformats.org/drawingml/2006/main">
              <a:ext uri="{FF2B5EF4-FFF2-40B4-BE49-F238E27FC236}">
                <a16:creationId xmlns:a16="http://schemas.microsoft.com/office/drawing/2014/main" id="{665DE2E1-D177-4E1A-A374-2840A865A182}"/>
              </a:ext>
            </a:extLst>
          </p:cNvPr>
          <p:cNvSpPr>
            <a:spLocks xmlns:a="http://schemas.openxmlformats.org/drawingml/2006/main" noGrp="1"/>
          </p:cNvSpPr>
          <p:nvPr/>
        </p:nvSpPr>
        <p:spPr>
          <a:xfrm xmlns:a="http://schemas.openxmlformats.org/drawingml/2006/main">
            <a:off x="6858000" y="3190875"/>
            <a:ext cx="4591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6F665E"/>
                </a:solidFill>
                <a:latin typeface="Helvetica Neue"/>
                <a:ea typeface="Helvetica Neue"/>
                <a:cs typeface="Helvetica Neue"/>
              </a:defRPr>
            </a:pPr>
            <a:r>
              <a:rPr sz="1500" b="0" i="0">
                <a:solidFill>
                  <a:srgbClr val="6F665E"/>
                </a:solidFill>
                <a:latin typeface="Helvetica Neue"/>
                <a:ea typeface="Helvetica Neue"/>
                <a:cs typeface="Helvetica Neue"/>
              </a:rPr>
              <a:t>A short local microphone check and clear live permission status help diagnose setup problems.</a:t>
            </a:r>
          </a:p>
        </p:txBody>
      </p:sp>
      <p:sp>
        <p:nvSpPr>
          <p:cNvPr id="14" name="">
            <a:extLst xmlns:a="http://schemas.openxmlformats.org/drawingml/2006/main">
              <a:ext uri="{FF2B5EF4-FFF2-40B4-BE49-F238E27FC236}">
                <a16:creationId xmlns:a16="http://schemas.microsoft.com/office/drawing/2014/main" id="{40FA7D9A-EE41-4A59-AB3F-28617DA20725}"/>
              </a:ext>
            </a:extLst>
          </p:cNvPr>
          <p:cNvSpPr>
            <a:spLocks xmlns:a="http://schemas.openxmlformats.org/drawingml/2006/main" noGrp="1"/>
          </p:cNvSpPr>
          <p:nvPr/>
        </p:nvSpPr>
        <p:spPr>
          <a:xfrm xmlns:a="http://schemas.openxmlformats.org/drawingml/2006/main">
            <a:off x="6591300" y="4276725"/>
            <a:ext cx="95250" cy="95250"/>
          </a:xfrm>
          <a:prstGeom xmlns:a="http://schemas.openxmlformats.org/drawingml/2006/main" prst="ellipse">
            <a:avLst/>
          </a:prstGeom>
          <a:solidFill xmlns:a="http://schemas.openxmlformats.org/drawingml/2006/main">
            <a:srgbClr val="B58A4A"/>
          </a:solidFill>
          <a:ln xmlns:a="http://schemas.openxmlformats.org/drawingml/2006/main" w="0">
            <a:solidFill>
              <a:srgbClr val="B58A4A"/>
            </a:solidFill>
            <a:prstDash val="solid"/>
          </a:ln>
        </p:spPr>
      </p:sp>
      <p:sp>
        <p:nvSpPr>
          <p:cNvPr id="15" name="">
            <a:extLst xmlns:a="http://schemas.openxmlformats.org/drawingml/2006/main">
              <a:ext uri="{FF2B5EF4-FFF2-40B4-BE49-F238E27FC236}">
                <a16:creationId xmlns:a16="http://schemas.microsoft.com/office/drawing/2014/main" id="{B57257C7-0A2F-455A-B484-CE4199196FD5}"/>
              </a:ext>
            </a:extLst>
          </p:cNvPr>
          <p:cNvSpPr>
            <a:spLocks xmlns:a="http://schemas.openxmlformats.org/drawingml/2006/main" noGrp="1"/>
          </p:cNvSpPr>
          <p:nvPr/>
        </p:nvSpPr>
        <p:spPr>
          <a:xfrm xmlns:a="http://schemas.openxmlformats.org/drawingml/2006/main">
            <a:off x="6858000" y="4191000"/>
            <a:ext cx="459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1100F"/>
                </a:solidFill>
                <a:latin typeface="Helvetica Neue"/>
                <a:ea typeface="Helvetica Neue"/>
                <a:cs typeface="Helvetica Neue"/>
              </a:defRPr>
            </a:pPr>
            <a:r>
              <a:rPr sz="1800" b="1" i="0">
                <a:solidFill>
                  <a:srgbClr val="11100F"/>
                </a:solidFill>
                <a:latin typeface="Helvetica Neue"/>
                <a:ea typeface="Helvetica Neue"/>
                <a:cs typeface="Helvetica Neue"/>
              </a:rPr>
              <a:t>Per-app rules</a:t>
            </a:r>
          </a:p>
        </p:txBody>
      </p:sp>
      <p:sp>
        <p:nvSpPr>
          <p:cNvPr id="16" name="">
            <a:extLst xmlns:a="http://schemas.openxmlformats.org/drawingml/2006/main">
              <a:ext uri="{FF2B5EF4-FFF2-40B4-BE49-F238E27FC236}">
                <a16:creationId xmlns:a16="http://schemas.microsoft.com/office/drawing/2014/main" id="{00B99E10-E0A5-4C7F-B3D9-786215E0F255}"/>
              </a:ext>
            </a:extLst>
          </p:cNvPr>
          <p:cNvSpPr>
            <a:spLocks xmlns:a="http://schemas.openxmlformats.org/drawingml/2006/main" noGrp="1"/>
          </p:cNvSpPr>
          <p:nvPr/>
        </p:nvSpPr>
        <p:spPr>
          <a:xfrm xmlns:a="http://schemas.openxmlformats.org/drawingml/2006/main">
            <a:off x="6858000" y="4505325"/>
            <a:ext cx="4591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6F665E"/>
                </a:solidFill>
                <a:latin typeface="Helvetica Neue"/>
                <a:ea typeface="Helvetica Neue"/>
                <a:cs typeface="Helvetica Neue"/>
              </a:defRPr>
            </a:pPr>
            <a:r>
              <a:rPr sz="1500" b="0" i="0">
                <a:solidFill>
                  <a:srgbClr val="6F665E"/>
                </a:solidFill>
                <a:latin typeface="Helvetica Neue"/>
                <a:ea typeface="Helvetica Neue"/>
                <a:cs typeface="Helvetica Neue"/>
              </a:rPr>
              <a:t>Language, refinement, and voice-command behavior can follow the app where the dictation started.</a:t>
            </a:r>
          </a:p>
        </p:txBody>
      </p:sp>
      <p:sp>
        <p:nvSpPr>
          <p:cNvPr id="17" name="">
            <a:extLst xmlns:a="http://schemas.openxmlformats.org/drawingml/2006/main">
              <a:ext uri="{FF2B5EF4-FFF2-40B4-BE49-F238E27FC236}">
                <a16:creationId xmlns:a16="http://schemas.microsoft.com/office/drawing/2014/main" id="{D76BD147-497B-4E69-8A82-1EFFBA22D226}"/>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9D0C5"/>
            </a:solidFill>
            <a:prstDash val="solid"/>
          </a:ln>
        </p:spPr>
      </p:sp>
      <p:sp>
        <p:nvSpPr>
          <p:cNvPr id="18" name="">
            <a:extLst xmlns:a="http://schemas.openxmlformats.org/drawingml/2006/main">
              <a:ext uri="{FF2B5EF4-FFF2-40B4-BE49-F238E27FC236}">
                <a16:creationId xmlns:a16="http://schemas.microsoft.com/office/drawing/2014/main" id="{47F35822-D9BE-4F83-8C23-5C4371C20AB6}"/>
              </a:ext>
            </a:extLst>
          </p:cNvPr>
          <p:cNvSpPr>
            <a:spLocks xmlns:a="http://schemas.openxmlformats.org/drawingml/2006/main" noGrp="1"/>
          </p:cNvSpPr>
          <p:nvPr/>
        </p:nvSpPr>
        <p:spPr>
          <a:xfrm xmlns:a="http://schemas.openxmlformats.org/drawingml/2006/main">
            <a:off x="609600" y="65627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9B9086"/>
                </a:solidFill>
                <a:latin typeface="Helvetica Neue"/>
                <a:ea typeface="Helvetica Neue"/>
                <a:cs typeface="Helvetica Neue"/>
              </a:defRPr>
            </a:pPr>
            <a:r>
              <a:rPr sz="900" b="1" i="0">
                <a:solidFill>
                  <a:srgbClr val="9B9086"/>
                </a:solidFill>
                <a:latin typeface="Helvetica Neue"/>
                <a:ea typeface="Helvetica Neue"/>
                <a:cs typeface="Helvetica Neue"/>
              </a:rPr>
              <a:t>ZENVOICE  |  PRIVATE LOCAL-FIRST DICTATION</a:t>
            </a:r>
          </a:p>
        </p:txBody>
      </p:sp>
      <p:sp>
        <p:nvSpPr>
          <p:cNvPr id="19" name="">
            <a:extLst xmlns:a="http://schemas.openxmlformats.org/drawingml/2006/main">
              <a:ext uri="{FF2B5EF4-FFF2-40B4-BE49-F238E27FC236}">
                <a16:creationId xmlns:a16="http://schemas.microsoft.com/office/drawing/2014/main" id="{48BAA382-5A1F-4B13-BD13-5868F0A5A967}"/>
              </a:ext>
            </a:extLst>
          </p:cNvPr>
          <p:cNvSpPr>
            <a:spLocks xmlns:a="http://schemas.openxmlformats.org/drawingml/2006/main" noGrp="1"/>
          </p:cNvSpPr>
          <p:nvPr/>
        </p:nvSpPr>
        <p:spPr>
          <a:xfrm xmlns:a="http://schemas.openxmlformats.org/drawingml/2006/main">
            <a:off x="10668000" y="6562725"/>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9B9086"/>
                </a:solidFill>
                <a:latin typeface="Helvetica Neue"/>
                <a:ea typeface="Helvetica Neue"/>
                <a:cs typeface="Helvetica Neue"/>
              </a:defRPr>
            </a:pPr>
            <a:r>
              <a:rPr sz="900" b="1" i="0">
                <a:solidFill>
                  <a:srgbClr val="9B9086"/>
                </a:solidFill>
                <a:latin typeface="Helvetica Neue"/>
                <a:ea typeface="Helvetica Neue"/>
                <a:cs typeface="Helvetica Neue"/>
              </a:rPr>
              <a:t>05</a:t>
            </a:r>
          </a:p>
        </p:txBody>
      </p:sp>
    </p:spTree>
    <p:extLst>
      <p:ext uri="{BB962C8B-B14F-4D97-AF65-F5344CB8AC3E}">
        <p14:creationId xmlns:p14="http://schemas.microsoft.com/office/powerpoint/2010/main" val="1457122414"/>
      </p:ext>
    </p:extLst>
  </p:cSld>
  <p:transition spd="med" advClick="1">
    <p:fade/>
  </p:transition>
</p:sld>
</file>

<file path=ppt/slides/slide6.xml><?xml version="1.0" encoding="utf-8"?>
<p:sld xmlns:p="http://schemas.openxmlformats.org/presentationml/2006/main">
  <p:cSld>
    <p:bg>
      <p:bgPr>
        <a:solidFill xmlns:a="http://schemas.openxmlformats.org/drawingml/2006/main">
          <a:srgbClr val="11100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774E9ED-1A76-4A53-909C-883F4E399A6E}"/>
              </a:ext>
            </a:extLst>
          </p:cNvPr>
          <p:cNvSpPr>
            <a:spLocks xmlns:a="http://schemas.openxmlformats.org/drawingml/2006/main" noGrp="1"/>
          </p:cNvSpPr>
          <p:nvPr/>
        </p:nvSpPr>
        <p:spPr>
          <a:xfrm xmlns:a="http://schemas.openxmlformats.org/drawingml/2006/main">
            <a:off x="609600" y="457200"/>
            <a:ext cx="1104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D8B67D"/>
                </a:solidFill>
                <a:latin typeface="Helvetica Neue"/>
                <a:ea typeface="Helvetica Neue"/>
                <a:cs typeface="Helvetica Neue"/>
              </a:defRPr>
            </a:pPr>
            <a:r>
              <a:rPr sz="1125" b="1" i="0">
                <a:solidFill>
                  <a:srgbClr val="D8B67D"/>
                </a:solidFill>
                <a:latin typeface="Helvetica Neue"/>
                <a:ea typeface="Helvetica Neue"/>
                <a:cs typeface="Helvetica Neue"/>
              </a:rPr>
              <a:t>06  /  PRIVACY BY DESIGN</a:t>
            </a:r>
          </a:p>
        </p:txBody>
      </p:sp>
      <p:sp>
        <p:nvSpPr>
          <p:cNvPr id="2" name="">
            <a:extLst xmlns:a="http://schemas.openxmlformats.org/drawingml/2006/main">
              <a:ext uri="{FF2B5EF4-FFF2-40B4-BE49-F238E27FC236}">
                <a16:creationId xmlns:a16="http://schemas.microsoft.com/office/drawing/2014/main" id="{54039C80-843A-4D65-928C-ED9202FB41B2}"/>
              </a:ext>
            </a:extLst>
          </p:cNvPr>
          <p:cNvSpPr>
            <a:spLocks xmlns:a="http://schemas.openxmlformats.org/drawingml/2006/main" noGrp="1"/>
          </p:cNvSpPr>
          <p:nvPr/>
        </p:nvSpPr>
        <p:spPr>
          <a:xfrm xmlns:a="http://schemas.openxmlformats.org/drawingml/2006/main">
            <a:off x="609600" y="857250"/>
            <a:ext cx="9906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75" b="1" i="0">
                <a:solidFill>
                  <a:srgbClr val="FFFFFF"/>
                </a:solidFill>
                <a:latin typeface="Helvetica Neue"/>
                <a:ea typeface="Helvetica Neue"/>
                <a:cs typeface="Helvetica Neue"/>
              </a:defRPr>
            </a:pPr>
            <a:r>
              <a:rPr sz="3675" b="1" i="0">
                <a:solidFill>
                  <a:srgbClr val="FFFFFF"/>
                </a:solidFill>
                <a:latin typeface="Helvetica Neue"/>
                <a:ea typeface="Helvetica Neue"/>
                <a:cs typeface="Helvetica Neue"/>
              </a:rPr>
              <a:t>The default is local processing, not a hidden data pipeline.</a:t>
            </a:r>
          </a:p>
        </p:txBody>
      </p:sp>
      <p:sp>
        <p:nvSpPr>
          <p:cNvPr id="3" name="">
            <a:extLst xmlns:a="http://schemas.openxmlformats.org/drawingml/2006/main">
              <a:ext uri="{FF2B5EF4-FFF2-40B4-BE49-F238E27FC236}">
                <a16:creationId xmlns:a16="http://schemas.microsoft.com/office/drawing/2014/main" id="{F1E403F5-DB38-4F5A-9897-ED77C79D32DE}"/>
              </a:ext>
            </a:extLst>
          </p:cNvPr>
          <p:cNvSpPr>
            <a:spLocks xmlns:a="http://schemas.openxmlformats.org/drawingml/2006/main" noGrp="1"/>
          </p:cNvSpPr>
          <p:nvPr/>
        </p:nvSpPr>
        <p:spPr>
          <a:xfrm xmlns:a="http://schemas.openxmlformats.org/drawingml/2006/main">
            <a:off x="609600" y="19621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CEC5BD"/>
                </a:solidFill>
                <a:latin typeface="Helvetica Neue"/>
                <a:ea typeface="Helvetica Neue"/>
                <a:cs typeface="Helvetica Neue"/>
              </a:defRPr>
            </a:pPr>
            <a:r>
              <a:rPr sz="1725" b="0" i="0">
                <a:solidFill>
                  <a:srgbClr val="CEC5BD"/>
                </a:solidFill>
                <a:latin typeface="Helvetica Neue"/>
                <a:ea typeface="Helvetica Neue"/>
                <a:cs typeface="Helvetica Neue"/>
              </a:rPr>
              <a:t>That is the central product boundary: audio, transcript handling, and paste happen on the Mac unless a user explicitly opts into a text-only cloud formatting request.</a:t>
            </a:r>
          </a:p>
        </p:txBody>
      </p:sp>
      <p:sp>
        <p:nvSpPr>
          <p:cNvPr id="4" name="">
            <a:extLst xmlns:a="http://schemas.openxmlformats.org/drawingml/2006/main">
              <a:ext uri="{FF2B5EF4-FFF2-40B4-BE49-F238E27FC236}">
                <a16:creationId xmlns:a16="http://schemas.microsoft.com/office/drawing/2014/main" id="{95143228-804F-4C72-BFEA-CCFAC8DC00CF}"/>
              </a:ext>
            </a:extLst>
          </p:cNvPr>
          <p:cNvSpPr>
            <a:spLocks xmlns:a="http://schemas.openxmlformats.org/drawingml/2006/main" noGrp="1"/>
          </p:cNvSpPr>
          <p:nvPr/>
        </p:nvSpPr>
        <p:spPr>
          <a:xfrm xmlns:a="http://schemas.openxmlformats.org/drawingml/2006/main">
            <a:off x="609600" y="3124200"/>
            <a:ext cx="2667000" cy="1828800"/>
          </a:xfrm>
          <a:prstGeom xmlns:a="http://schemas.openxmlformats.org/drawingml/2006/main" prst="roundRect">
            <a:avLst>
              <a:gd name="adj" fmla="val 10417"/>
            </a:avLst>
          </a:prstGeom>
          <a:solidFill xmlns:a="http://schemas.openxmlformats.org/drawingml/2006/main">
            <a:srgbClr val="1C1A18"/>
          </a:solidFill>
          <a:ln xmlns:a="http://schemas.openxmlformats.org/drawingml/2006/main" w="9525">
            <a:solidFill>
              <a:srgbClr val="4D4640"/>
            </a:solidFill>
            <a:prstDash val="solid"/>
          </a:ln>
        </p:spPr>
      </p:sp>
      <p:sp>
        <p:nvSpPr>
          <p:cNvPr id="5" name="">
            <a:extLst xmlns:a="http://schemas.openxmlformats.org/drawingml/2006/main">
              <a:ext uri="{FF2B5EF4-FFF2-40B4-BE49-F238E27FC236}">
                <a16:creationId xmlns:a16="http://schemas.microsoft.com/office/drawing/2014/main" id="{FE7F78FD-99E5-4AD8-9848-22185592C581}"/>
              </a:ext>
            </a:extLst>
          </p:cNvPr>
          <p:cNvSpPr>
            <a:spLocks xmlns:a="http://schemas.openxmlformats.org/drawingml/2006/main" noGrp="1"/>
          </p:cNvSpPr>
          <p:nvPr/>
        </p:nvSpPr>
        <p:spPr>
          <a:xfrm xmlns:a="http://schemas.openxmlformats.org/drawingml/2006/main">
            <a:off x="3581400" y="3124200"/>
            <a:ext cx="2667000" cy="1828800"/>
          </a:xfrm>
          <a:prstGeom xmlns:a="http://schemas.openxmlformats.org/drawingml/2006/main" prst="roundRect">
            <a:avLst>
              <a:gd name="adj" fmla="val 10417"/>
            </a:avLst>
          </a:prstGeom>
          <a:solidFill xmlns:a="http://schemas.openxmlformats.org/drawingml/2006/main">
            <a:srgbClr val="1C1A18"/>
          </a:solidFill>
          <a:ln xmlns:a="http://schemas.openxmlformats.org/drawingml/2006/main" w="9525">
            <a:solidFill>
              <a:srgbClr val="4D4640"/>
            </a:solidFill>
            <a:prstDash val="solid"/>
          </a:ln>
        </p:spPr>
      </p:sp>
      <p:sp>
        <p:nvSpPr>
          <p:cNvPr id="6" name="">
            <a:extLst xmlns:a="http://schemas.openxmlformats.org/drawingml/2006/main">
              <a:ext uri="{FF2B5EF4-FFF2-40B4-BE49-F238E27FC236}">
                <a16:creationId xmlns:a16="http://schemas.microsoft.com/office/drawing/2014/main" id="{E03ED22A-9813-4981-90CA-196655D7204D}"/>
              </a:ext>
            </a:extLst>
          </p:cNvPr>
          <p:cNvSpPr>
            <a:spLocks xmlns:a="http://schemas.openxmlformats.org/drawingml/2006/main" noGrp="1"/>
          </p:cNvSpPr>
          <p:nvPr/>
        </p:nvSpPr>
        <p:spPr>
          <a:xfrm xmlns:a="http://schemas.openxmlformats.org/drawingml/2006/main">
            <a:off x="6553200" y="3124200"/>
            <a:ext cx="2667000" cy="1828800"/>
          </a:xfrm>
          <a:prstGeom xmlns:a="http://schemas.openxmlformats.org/drawingml/2006/main" prst="roundRect">
            <a:avLst>
              <a:gd name="adj" fmla="val 10417"/>
            </a:avLst>
          </a:prstGeom>
          <a:solidFill xmlns:a="http://schemas.openxmlformats.org/drawingml/2006/main">
            <a:srgbClr val="1C1A18"/>
          </a:solidFill>
          <a:ln xmlns:a="http://schemas.openxmlformats.org/drawingml/2006/main" w="9525">
            <a:solidFill>
              <a:srgbClr val="4D4640"/>
            </a:solidFill>
            <a:prstDash val="solid"/>
          </a:ln>
        </p:spPr>
      </p:sp>
      <p:sp>
        <p:nvSpPr>
          <p:cNvPr id="7" name="">
            <a:extLst xmlns:a="http://schemas.openxmlformats.org/drawingml/2006/main">
              <a:ext uri="{FF2B5EF4-FFF2-40B4-BE49-F238E27FC236}">
                <a16:creationId xmlns:a16="http://schemas.microsoft.com/office/drawing/2014/main" id="{ABB4C1E0-417B-46FC-9758-EC337CC1899E}"/>
              </a:ext>
            </a:extLst>
          </p:cNvPr>
          <p:cNvSpPr>
            <a:spLocks xmlns:a="http://schemas.openxmlformats.org/drawingml/2006/main" noGrp="1"/>
          </p:cNvSpPr>
          <p:nvPr/>
        </p:nvSpPr>
        <p:spPr>
          <a:xfrm xmlns:a="http://schemas.openxmlformats.org/drawingml/2006/main">
            <a:off x="9525000" y="3124200"/>
            <a:ext cx="2057400" cy="1828800"/>
          </a:xfrm>
          <a:prstGeom xmlns:a="http://schemas.openxmlformats.org/drawingml/2006/main" prst="roundRect">
            <a:avLst>
              <a:gd name="adj" fmla="val 10417"/>
            </a:avLst>
          </a:prstGeom>
          <a:solidFill xmlns:a="http://schemas.openxmlformats.org/drawingml/2006/main">
            <a:srgbClr val="1C1A18"/>
          </a:solidFill>
          <a:ln xmlns:a="http://schemas.openxmlformats.org/drawingml/2006/main" w="9525">
            <a:solidFill>
              <a:srgbClr val="4D4640"/>
            </a:solidFill>
            <a:prstDash val="solid"/>
          </a:ln>
        </p:spPr>
      </p:sp>
      <p:sp>
        <p:nvSpPr>
          <p:cNvPr id="8" name="">
            <a:extLst xmlns:a="http://schemas.openxmlformats.org/drawingml/2006/main">
              <a:ext uri="{FF2B5EF4-FFF2-40B4-BE49-F238E27FC236}">
                <a16:creationId xmlns:a16="http://schemas.microsoft.com/office/drawing/2014/main" id="{086E214B-95D9-4500-ADA4-395EE273EEC3}"/>
              </a:ext>
            </a:extLst>
          </p:cNvPr>
          <p:cNvSpPr>
            <a:spLocks xmlns:a="http://schemas.openxmlformats.org/drawingml/2006/main" noGrp="1"/>
          </p:cNvSpPr>
          <p:nvPr/>
        </p:nvSpPr>
        <p:spPr>
          <a:xfrm xmlns:a="http://schemas.openxmlformats.org/drawingml/2006/main">
            <a:off x="838200" y="34099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No account</a:t>
            </a:r>
          </a:p>
        </p:txBody>
      </p:sp>
      <p:sp>
        <p:nvSpPr>
          <p:cNvPr id="9" name="">
            <a:extLst xmlns:a="http://schemas.openxmlformats.org/drawingml/2006/main">
              <a:ext uri="{FF2B5EF4-FFF2-40B4-BE49-F238E27FC236}">
                <a16:creationId xmlns:a16="http://schemas.microsoft.com/office/drawing/2014/main" id="{3BD29D9B-9827-4019-BF4E-C8546D6CCEC7}"/>
              </a:ext>
            </a:extLst>
          </p:cNvPr>
          <p:cNvSpPr>
            <a:spLocks xmlns:a="http://schemas.openxmlformats.org/drawingml/2006/main" noGrp="1"/>
          </p:cNvSpPr>
          <p:nvPr/>
        </p:nvSpPr>
        <p:spPr>
          <a:xfrm xmlns:a="http://schemas.openxmlformats.org/drawingml/2006/main">
            <a:off x="838200" y="3867150"/>
            <a:ext cx="2114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BEB4AB"/>
                </a:solidFill>
                <a:latin typeface="Helvetica Neue"/>
                <a:ea typeface="Helvetica Neue"/>
                <a:cs typeface="Helvetica Neue"/>
              </a:defRPr>
            </a:pPr>
            <a:r>
              <a:rPr sz="1425" b="0" i="0">
                <a:solidFill>
                  <a:srgbClr val="BEB4AB"/>
                </a:solidFill>
                <a:latin typeface="Helvetica Neue"/>
                <a:ea typeface="Helvetica Neue"/>
                <a:cs typeface="Helvetica Neue"/>
              </a:rPr>
              <a:t>No subscription and no analytics are required for core dictation.</a:t>
            </a:r>
          </a:p>
        </p:txBody>
      </p:sp>
      <p:sp>
        <p:nvSpPr>
          <p:cNvPr id="10" name="">
            <a:extLst xmlns:a="http://schemas.openxmlformats.org/drawingml/2006/main">
              <a:ext uri="{FF2B5EF4-FFF2-40B4-BE49-F238E27FC236}">
                <a16:creationId xmlns:a16="http://schemas.microsoft.com/office/drawing/2014/main" id="{F2326307-5AF3-4CC7-828F-0DF73D7A3C21}"/>
              </a:ext>
            </a:extLst>
          </p:cNvPr>
          <p:cNvSpPr>
            <a:spLocks xmlns:a="http://schemas.openxmlformats.org/drawingml/2006/main" noGrp="1"/>
          </p:cNvSpPr>
          <p:nvPr/>
        </p:nvSpPr>
        <p:spPr>
          <a:xfrm xmlns:a="http://schemas.openxmlformats.org/drawingml/2006/main">
            <a:off x="3810000" y="34099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Encrypted history</a:t>
            </a:r>
          </a:p>
        </p:txBody>
      </p:sp>
      <p:sp>
        <p:nvSpPr>
          <p:cNvPr id="11" name="">
            <a:extLst xmlns:a="http://schemas.openxmlformats.org/drawingml/2006/main">
              <a:ext uri="{FF2B5EF4-FFF2-40B4-BE49-F238E27FC236}">
                <a16:creationId xmlns:a16="http://schemas.microsoft.com/office/drawing/2014/main" id="{A2FB48BC-6422-44EA-BD8C-B6917AD020D4}"/>
              </a:ext>
            </a:extLst>
          </p:cNvPr>
          <p:cNvSpPr>
            <a:spLocks xmlns:a="http://schemas.openxmlformats.org/drawingml/2006/main" noGrp="1"/>
          </p:cNvSpPr>
          <p:nvPr/>
        </p:nvSpPr>
        <p:spPr>
          <a:xfrm xmlns:a="http://schemas.openxmlformats.org/drawingml/2006/main">
            <a:off x="3810000" y="3867150"/>
            <a:ext cx="2114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BEB4AB"/>
                </a:solidFill>
                <a:latin typeface="Helvetica Neue"/>
                <a:ea typeface="Helvetica Neue"/>
                <a:cs typeface="Helvetica Neue"/>
              </a:defRPr>
            </a:pPr>
            <a:r>
              <a:rPr sz="1425" b="0" i="0">
                <a:solidFill>
                  <a:srgbClr val="BEB4AB"/>
                </a:solidFill>
                <a:latin typeface="Helvetica Neue"/>
                <a:ea typeface="Helvetica Neue"/>
                <a:cs typeface="Helvetica Neue"/>
              </a:rPr>
              <a:t>Transcripts use AES-GCM in local SQLite; the key stays in macOS Keychain.</a:t>
            </a:r>
          </a:p>
        </p:txBody>
      </p:sp>
      <p:sp>
        <p:nvSpPr>
          <p:cNvPr id="12" name="">
            <a:extLst xmlns:a="http://schemas.openxmlformats.org/drawingml/2006/main">
              <a:ext uri="{FF2B5EF4-FFF2-40B4-BE49-F238E27FC236}">
                <a16:creationId xmlns:a16="http://schemas.microsoft.com/office/drawing/2014/main" id="{03D1712C-4E19-4585-B63F-102A3C09DF4F}"/>
              </a:ext>
            </a:extLst>
          </p:cNvPr>
          <p:cNvSpPr>
            <a:spLocks xmlns:a="http://schemas.openxmlformats.org/drawingml/2006/main" noGrp="1"/>
          </p:cNvSpPr>
          <p:nvPr/>
        </p:nvSpPr>
        <p:spPr>
          <a:xfrm xmlns:a="http://schemas.openxmlformats.org/drawingml/2006/main">
            <a:off x="6781800" y="34099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Private Dictation</a:t>
            </a:r>
          </a:p>
        </p:txBody>
      </p:sp>
      <p:sp>
        <p:nvSpPr>
          <p:cNvPr id="13" name="">
            <a:extLst xmlns:a="http://schemas.openxmlformats.org/drawingml/2006/main">
              <a:ext uri="{FF2B5EF4-FFF2-40B4-BE49-F238E27FC236}">
                <a16:creationId xmlns:a16="http://schemas.microsoft.com/office/drawing/2014/main" id="{15F4413E-A396-441E-969A-79B604D5FE6E}"/>
              </a:ext>
            </a:extLst>
          </p:cNvPr>
          <p:cNvSpPr>
            <a:spLocks xmlns:a="http://schemas.openxmlformats.org/drawingml/2006/main" noGrp="1"/>
          </p:cNvSpPr>
          <p:nvPr/>
        </p:nvSpPr>
        <p:spPr>
          <a:xfrm xmlns:a="http://schemas.openxmlformats.org/drawingml/2006/main">
            <a:off x="6781800" y="3867150"/>
            <a:ext cx="2114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BEB4AB"/>
                </a:solidFill>
                <a:latin typeface="Helvetica Neue"/>
                <a:ea typeface="Helvetica Neue"/>
                <a:cs typeface="Helvetica Neue"/>
              </a:defRPr>
            </a:pPr>
            <a:r>
              <a:rPr sz="1425" b="0" i="0">
                <a:solidFill>
                  <a:srgbClr val="BEB4AB"/>
                </a:solidFill>
                <a:latin typeface="Helvetica Neue"/>
                <a:ea typeface="Helvetica Neue"/>
                <a:cs typeface="Helvetica Neue"/>
              </a:rPr>
              <a:t>A dedicated mode keeps no transcript or recovery audio.</a:t>
            </a:r>
          </a:p>
        </p:txBody>
      </p:sp>
      <p:sp>
        <p:nvSpPr>
          <p:cNvPr id="14" name="">
            <a:extLst xmlns:a="http://schemas.openxmlformats.org/drawingml/2006/main">
              <a:ext uri="{FF2B5EF4-FFF2-40B4-BE49-F238E27FC236}">
                <a16:creationId xmlns:a16="http://schemas.microsoft.com/office/drawing/2014/main" id="{C1410318-696A-4E36-BFB6-36B761F0DEA1}"/>
              </a:ext>
            </a:extLst>
          </p:cNvPr>
          <p:cNvSpPr>
            <a:spLocks xmlns:a="http://schemas.openxmlformats.org/drawingml/2006/main" noGrp="1"/>
          </p:cNvSpPr>
          <p:nvPr/>
        </p:nvSpPr>
        <p:spPr>
          <a:xfrm xmlns:a="http://schemas.openxmlformats.org/drawingml/2006/main">
            <a:off x="9753600" y="34099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Optional cloud</a:t>
            </a:r>
          </a:p>
        </p:txBody>
      </p:sp>
      <p:sp>
        <p:nvSpPr>
          <p:cNvPr id="15" name="">
            <a:extLst xmlns:a="http://schemas.openxmlformats.org/drawingml/2006/main">
              <a:ext uri="{FF2B5EF4-FFF2-40B4-BE49-F238E27FC236}">
                <a16:creationId xmlns:a16="http://schemas.microsoft.com/office/drawing/2014/main" id="{52C46F26-7E86-4B27-9AD5-730F31E730F3}"/>
              </a:ext>
            </a:extLst>
          </p:cNvPr>
          <p:cNvSpPr>
            <a:spLocks xmlns:a="http://schemas.openxmlformats.org/drawingml/2006/main" noGrp="1"/>
          </p:cNvSpPr>
          <p:nvPr/>
        </p:nvSpPr>
        <p:spPr>
          <a:xfrm xmlns:a="http://schemas.openxmlformats.org/drawingml/2006/main">
            <a:off x="9753600" y="3867150"/>
            <a:ext cx="1524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BEB4AB"/>
                </a:solidFill>
                <a:latin typeface="Helvetica Neue"/>
                <a:ea typeface="Helvetica Neue"/>
                <a:cs typeface="Helvetica Neue"/>
              </a:defRPr>
            </a:pPr>
            <a:r>
              <a:rPr sz="1350" b="0" i="0">
                <a:solidFill>
                  <a:srgbClr val="BEB4AB"/>
                </a:solidFill>
                <a:latin typeface="Helvetica Neue"/>
                <a:ea typeface="Helvetica Neue"/>
                <a:cs typeface="Helvetica Neue"/>
              </a:rPr>
              <a:t>Finished text + a prompt — never audio.</a:t>
            </a:r>
          </a:p>
        </p:txBody>
      </p:sp>
      <p:sp>
        <p:nvSpPr>
          <p:cNvPr id="16" name="">
            <a:extLst xmlns:a="http://schemas.openxmlformats.org/drawingml/2006/main">
              <a:ext uri="{FF2B5EF4-FFF2-40B4-BE49-F238E27FC236}">
                <a16:creationId xmlns:a16="http://schemas.microsoft.com/office/drawing/2014/main" id="{06E79E90-B46A-4543-86DA-4CC4300227FC}"/>
              </a:ext>
            </a:extLst>
          </p:cNvPr>
          <p:cNvSpPr>
            <a:spLocks xmlns:a="http://schemas.openxmlformats.org/drawingml/2006/main" noGrp="1"/>
          </p:cNvSpPr>
          <p:nvPr/>
        </p:nvSpPr>
        <p:spPr>
          <a:xfrm xmlns:a="http://schemas.openxmlformats.org/drawingml/2006/main">
            <a:off x="609600" y="5476875"/>
            <a:ext cx="1076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i="0">
                <a:solidFill>
                  <a:srgbClr val="D8B67D"/>
                </a:solidFill>
                <a:latin typeface="Helvetica Neue"/>
                <a:ea typeface="Helvetica Neue"/>
                <a:cs typeface="Helvetica Neue"/>
              </a:defRPr>
            </a:pPr>
            <a:r>
              <a:rPr sz="1500" b="1" i="0">
                <a:solidFill>
                  <a:srgbClr val="D8B67D"/>
                </a:solidFill>
                <a:latin typeface="Helvetica Neue"/>
                <a:ea typeface="Helvetica Neue"/>
                <a:cs typeface="Helvetica Neue"/>
              </a:rPr>
              <a:t>Important nuance: optional Audio History is off by default and is not encrypted at rest. ZenVoice exposes that trade-off instead of hiding it.</a:t>
            </a:r>
          </a:p>
        </p:txBody>
      </p:sp>
      <p:sp>
        <p:nvSpPr>
          <p:cNvPr id="17" name="">
            <a:extLst xmlns:a="http://schemas.openxmlformats.org/drawingml/2006/main">
              <a:ext uri="{FF2B5EF4-FFF2-40B4-BE49-F238E27FC236}">
                <a16:creationId xmlns:a16="http://schemas.microsoft.com/office/drawing/2014/main" id="{C189210C-C66F-43A2-8100-999CA6A07D29}"/>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9D0C5"/>
            </a:solidFill>
            <a:prstDash val="solid"/>
          </a:ln>
        </p:spPr>
      </p:sp>
      <p:sp>
        <p:nvSpPr>
          <p:cNvPr id="18" name="">
            <a:extLst xmlns:a="http://schemas.openxmlformats.org/drawingml/2006/main">
              <a:ext uri="{FF2B5EF4-FFF2-40B4-BE49-F238E27FC236}">
                <a16:creationId xmlns:a16="http://schemas.microsoft.com/office/drawing/2014/main" id="{C96C33F4-AB91-4330-BCE4-A10144C0ABFF}"/>
              </a:ext>
            </a:extLst>
          </p:cNvPr>
          <p:cNvSpPr>
            <a:spLocks xmlns:a="http://schemas.openxmlformats.org/drawingml/2006/main" noGrp="1"/>
          </p:cNvSpPr>
          <p:nvPr/>
        </p:nvSpPr>
        <p:spPr>
          <a:xfrm xmlns:a="http://schemas.openxmlformats.org/drawingml/2006/main">
            <a:off x="609600" y="65627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9B9086"/>
                </a:solidFill>
                <a:latin typeface="Helvetica Neue"/>
                <a:ea typeface="Helvetica Neue"/>
                <a:cs typeface="Helvetica Neue"/>
              </a:defRPr>
            </a:pPr>
            <a:r>
              <a:rPr sz="900" b="1" i="0">
                <a:solidFill>
                  <a:srgbClr val="9B9086"/>
                </a:solidFill>
                <a:latin typeface="Helvetica Neue"/>
                <a:ea typeface="Helvetica Neue"/>
                <a:cs typeface="Helvetica Neue"/>
              </a:rPr>
              <a:t>ZENVOICE  |  PRIVATE LOCAL-FIRST DICTATION</a:t>
            </a:r>
          </a:p>
        </p:txBody>
      </p:sp>
      <p:sp>
        <p:nvSpPr>
          <p:cNvPr id="19" name="">
            <a:extLst xmlns:a="http://schemas.openxmlformats.org/drawingml/2006/main">
              <a:ext uri="{FF2B5EF4-FFF2-40B4-BE49-F238E27FC236}">
                <a16:creationId xmlns:a16="http://schemas.microsoft.com/office/drawing/2014/main" id="{9331B358-87E0-4CBE-9E17-F5C14EC60E9A}"/>
              </a:ext>
            </a:extLst>
          </p:cNvPr>
          <p:cNvSpPr>
            <a:spLocks xmlns:a="http://schemas.openxmlformats.org/drawingml/2006/main" noGrp="1"/>
          </p:cNvSpPr>
          <p:nvPr/>
        </p:nvSpPr>
        <p:spPr>
          <a:xfrm xmlns:a="http://schemas.openxmlformats.org/drawingml/2006/main">
            <a:off x="10668000" y="6562725"/>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9B9086"/>
                </a:solidFill>
                <a:latin typeface="Helvetica Neue"/>
                <a:ea typeface="Helvetica Neue"/>
                <a:cs typeface="Helvetica Neue"/>
              </a:defRPr>
            </a:pPr>
            <a:r>
              <a:rPr sz="900" b="1" i="0">
                <a:solidFill>
                  <a:srgbClr val="9B9086"/>
                </a:solidFill>
                <a:latin typeface="Helvetica Neue"/>
                <a:ea typeface="Helvetica Neue"/>
                <a:cs typeface="Helvetica Neue"/>
              </a:rPr>
              <a:t>06</a:t>
            </a:r>
          </a:p>
        </p:txBody>
      </p:sp>
    </p:spTree>
    <p:extLst>
      <p:ext uri="{BB962C8B-B14F-4D97-AF65-F5344CB8AC3E}">
        <p14:creationId xmlns:p14="http://schemas.microsoft.com/office/powerpoint/2010/main" val="1499582348"/>
      </p:ext>
    </p:extLst>
  </p:cSld>
  <p:transition spd="med" advClick="1">
    <p:fade/>
  </p:transition>
</p:sld>
</file>

<file path=ppt/slides/slide7.xml><?xml version="1.0" encoding="utf-8"?>
<p:sld xmlns:p="http://schemas.openxmlformats.org/presentationml/2006/main">
  <p:cSld>
    <p:bg>
      <p:bgPr>
        <a:solidFill xmlns:a="http://schemas.openxmlformats.org/drawingml/2006/main">
          <a:srgbClr val="FCFA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5D7B5FA-4296-4B17-B419-ABA884AD9E31}"/>
              </a:ext>
            </a:extLst>
          </p:cNvPr>
          <p:cNvSpPr>
            <a:spLocks xmlns:a="http://schemas.openxmlformats.org/drawingml/2006/main" noGrp="1"/>
          </p:cNvSpPr>
          <p:nvPr/>
        </p:nvSpPr>
        <p:spPr>
          <a:xfrm xmlns:a="http://schemas.openxmlformats.org/drawingml/2006/main">
            <a:off x="609600" y="457200"/>
            <a:ext cx="1104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B58A4A"/>
                </a:solidFill>
                <a:latin typeface="Helvetica Neue"/>
                <a:ea typeface="Helvetica Neue"/>
                <a:cs typeface="Helvetica Neue"/>
              </a:defRPr>
            </a:pPr>
            <a:r>
              <a:rPr sz="1125" b="1" i="0">
                <a:solidFill>
                  <a:srgbClr val="B58A4A"/>
                </a:solidFill>
                <a:latin typeface="Helvetica Neue"/>
                <a:ea typeface="Helvetica Neue"/>
                <a:cs typeface="Helvetica Neue"/>
              </a:rPr>
              <a:t>07  /  PERSONALIZATION</a:t>
            </a:r>
          </a:p>
        </p:txBody>
      </p:sp>
      <p:sp>
        <p:nvSpPr>
          <p:cNvPr id="2" name="">
            <a:extLst xmlns:a="http://schemas.openxmlformats.org/drawingml/2006/main">
              <a:ext uri="{FF2B5EF4-FFF2-40B4-BE49-F238E27FC236}">
                <a16:creationId xmlns:a16="http://schemas.microsoft.com/office/drawing/2014/main" id="{56FCAF87-C503-460E-8532-7A9A7A1D85C0}"/>
              </a:ext>
            </a:extLst>
          </p:cNvPr>
          <p:cNvSpPr>
            <a:spLocks xmlns:a="http://schemas.openxmlformats.org/drawingml/2006/main" noGrp="1"/>
          </p:cNvSpPr>
          <p:nvPr/>
        </p:nvSpPr>
        <p:spPr>
          <a:xfrm xmlns:a="http://schemas.openxmlformats.org/drawingml/2006/main">
            <a:off x="609600" y="838200"/>
            <a:ext cx="10287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00F"/>
                </a:solidFill>
                <a:latin typeface="Helvetica Neue"/>
                <a:ea typeface="Helvetica Neue"/>
                <a:cs typeface="Helvetica Neue"/>
              </a:defRPr>
            </a:pPr>
            <a:r>
              <a:rPr sz="3000" b="1" i="0">
                <a:solidFill>
                  <a:srgbClr val="11100F"/>
                </a:solidFill>
                <a:latin typeface="Helvetica Neue"/>
                <a:ea typeface="Helvetica Neue"/>
                <a:cs typeface="Helvetica Neue"/>
              </a:rPr>
              <a:t>Personalize text without profiling the person.</a:t>
            </a:r>
          </a:p>
        </p:txBody>
      </p:sp>
      <p:sp>
        <p:nvSpPr>
          <p:cNvPr id="3" name="">
            <a:extLst xmlns:a="http://schemas.openxmlformats.org/drawingml/2006/main">
              <a:ext uri="{FF2B5EF4-FFF2-40B4-BE49-F238E27FC236}">
                <a16:creationId xmlns:a16="http://schemas.microsoft.com/office/drawing/2014/main" id="{3F5A5D71-1845-452A-B580-EC2C43650259}"/>
              </a:ext>
            </a:extLst>
          </p:cNvPr>
          <p:cNvSpPr>
            <a:spLocks xmlns:a="http://schemas.openxmlformats.org/drawingml/2006/main" noGrp="1"/>
          </p:cNvSpPr>
          <p:nvPr/>
        </p:nvSpPr>
        <p:spPr>
          <a:xfrm xmlns:a="http://schemas.openxmlformats.org/drawingml/2006/main">
            <a:off x="609600" y="1952625"/>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6F665E"/>
                </a:solidFill>
                <a:latin typeface="Helvetica Neue"/>
                <a:ea typeface="Helvetica Neue"/>
                <a:cs typeface="Helvetica Neue"/>
              </a:defRPr>
            </a:pPr>
            <a:r>
              <a:rPr sz="1575" b="0" i="0">
                <a:solidFill>
                  <a:srgbClr val="6F665E"/>
                </a:solidFill>
                <a:latin typeface="Helvetica Neue"/>
                <a:ea typeface="Helvetica Neue"/>
                <a:cs typeface="Helvetica Neue"/>
              </a:rPr>
              <a:t>ZenVoice personalizes text behavior through local corrections and controls, not a biometric voiceprint.</a:t>
            </a:r>
          </a:p>
        </p:txBody>
      </p:sp>
      <p:sp>
        <p:nvSpPr>
          <p:cNvPr id="4" name="">
            <a:extLst xmlns:a="http://schemas.openxmlformats.org/drawingml/2006/main">
              <a:ext uri="{FF2B5EF4-FFF2-40B4-BE49-F238E27FC236}">
                <a16:creationId xmlns:a16="http://schemas.microsoft.com/office/drawing/2014/main" id="{F7CCF4E0-452D-48A4-A902-CD4860778B18}"/>
              </a:ext>
            </a:extLst>
          </p:cNvPr>
          <p:cNvSpPr>
            <a:spLocks xmlns:a="http://schemas.openxmlformats.org/drawingml/2006/main" noGrp="1"/>
          </p:cNvSpPr>
          <p:nvPr/>
        </p:nvSpPr>
        <p:spPr>
          <a:xfrm xmlns:a="http://schemas.openxmlformats.org/drawingml/2006/main">
            <a:off x="609600" y="2533650"/>
            <a:ext cx="10972800" cy="0"/>
          </a:xfrm>
          <a:prstGeom xmlns:a="http://schemas.openxmlformats.org/drawingml/2006/main" prst="line">
            <a:avLst/>
          </a:prstGeom>
          <a:noFill xmlns:a="http://schemas.openxmlformats.org/drawingml/2006/main"/>
          <a:ln xmlns:a="http://schemas.openxmlformats.org/drawingml/2006/main" w="9525">
            <a:solidFill>
              <a:srgbClr val="D9D0C5"/>
            </a:solidFill>
            <a:prstDash val="solid"/>
          </a:ln>
        </p:spPr>
      </p:sp>
      <p:sp>
        <p:nvSpPr>
          <p:cNvPr id="5" name="">
            <a:extLst xmlns:a="http://schemas.openxmlformats.org/drawingml/2006/main">
              <a:ext uri="{FF2B5EF4-FFF2-40B4-BE49-F238E27FC236}">
                <a16:creationId xmlns:a16="http://schemas.microsoft.com/office/drawing/2014/main" id="{E7921B3F-DA11-4034-9506-5C48D04B7931}"/>
              </a:ext>
            </a:extLst>
          </p:cNvPr>
          <p:cNvSpPr>
            <a:spLocks xmlns:a="http://schemas.openxmlformats.org/drawingml/2006/main" noGrp="1"/>
          </p:cNvSpPr>
          <p:nvPr/>
        </p:nvSpPr>
        <p:spPr>
          <a:xfrm xmlns:a="http://schemas.openxmlformats.org/drawingml/2006/main">
            <a:off x="609600" y="2895600"/>
            <a:ext cx="5219700" cy="2400300"/>
          </a:xfrm>
          <a:prstGeom xmlns:a="http://schemas.openxmlformats.org/drawingml/2006/main" prst="roundRect">
            <a:avLst>
              <a:gd name="adj" fmla="val 8730"/>
            </a:avLst>
          </a:prstGeom>
          <a:solidFill xmlns:a="http://schemas.openxmlformats.org/drawingml/2006/main">
            <a:srgbClr val="F6F2EC"/>
          </a:solidFill>
          <a:ln xmlns:a="http://schemas.openxmlformats.org/drawingml/2006/main" w="9525">
            <a:solidFill>
              <a:srgbClr val="D9D0C5"/>
            </a:solidFill>
            <a:prstDash val="solid"/>
          </a:ln>
        </p:spPr>
      </p:sp>
      <p:sp>
        <p:nvSpPr>
          <p:cNvPr id="6" name="">
            <a:extLst xmlns:a="http://schemas.openxmlformats.org/drawingml/2006/main">
              <a:ext uri="{FF2B5EF4-FFF2-40B4-BE49-F238E27FC236}">
                <a16:creationId xmlns:a16="http://schemas.microsoft.com/office/drawing/2014/main" id="{389F71E4-88C2-47DB-ADDD-BEBB96AE67B4}"/>
              </a:ext>
            </a:extLst>
          </p:cNvPr>
          <p:cNvSpPr>
            <a:spLocks xmlns:a="http://schemas.openxmlformats.org/drawingml/2006/main" noGrp="1"/>
          </p:cNvSpPr>
          <p:nvPr/>
        </p:nvSpPr>
        <p:spPr>
          <a:xfrm xmlns:a="http://schemas.openxmlformats.org/drawingml/2006/main">
            <a:off x="6362700" y="2895600"/>
            <a:ext cx="5219700" cy="2400300"/>
          </a:xfrm>
          <a:prstGeom xmlns:a="http://schemas.openxmlformats.org/drawingml/2006/main" prst="roundRect">
            <a:avLst>
              <a:gd name="adj" fmla="val 8730"/>
            </a:avLst>
          </a:prstGeom>
          <a:solidFill xmlns:a="http://schemas.openxmlformats.org/drawingml/2006/main">
            <a:srgbClr val="F6F2EC"/>
          </a:solidFill>
          <a:ln xmlns:a="http://schemas.openxmlformats.org/drawingml/2006/main" w="9525">
            <a:solidFill>
              <a:srgbClr val="D9D0C5"/>
            </a:solidFill>
            <a:prstDash val="solid"/>
          </a:ln>
        </p:spPr>
      </p:sp>
      <p:sp>
        <p:nvSpPr>
          <p:cNvPr id="7" name="">
            <a:extLst xmlns:a="http://schemas.openxmlformats.org/drawingml/2006/main">
              <a:ext uri="{FF2B5EF4-FFF2-40B4-BE49-F238E27FC236}">
                <a16:creationId xmlns:a16="http://schemas.microsoft.com/office/drawing/2014/main" id="{A907574F-A82C-4300-B335-B1E853C28BF0}"/>
              </a:ext>
            </a:extLst>
          </p:cNvPr>
          <p:cNvSpPr>
            <a:spLocks xmlns:a="http://schemas.openxmlformats.org/drawingml/2006/main" noGrp="1"/>
          </p:cNvSpPr>
          <p:nvPr/>
        </p:nvSpPr>
        <p:spPr>
          <a:xfrm xmlns:a="http://schemas.openxmlformats.org/drawingml/2006/main">
            <a:off x="895350" y="321945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0">
                <a:solidFill>
                  <a:srgbClr val="11100F"/>
                </a:solidFill>
                <a:latin typeface="Helvetica Neue"/>
                <a:ea typeface="Helvetica Neue"/>
                <a:cs typeface="Helvetica Neue"/>
              </a:defRPr>
            </a:pPr>
            <a:r>
              <a:rPr sz="2100" b="1" i="0">
                <a:solidFill>
                  <a:srgbClr val="11100F"/>
                </a:solidFill>
                <a:latin typeface="Helvetica Neue"/>
                <a:ea typeface="Helvetica Neue"/>
                <a:cs typeface="Helvetica Neue"/>
              </a:rPr>
              <a:t>Text quality controls</a:t>
            </a:r>
          </a:p>
        </p:txBody>
      </p:sp>
      <p:sp>
        <p:nvSpPr>
          <p:cNvPr id="8" name="">
            <a:extLst xmlns:a="http://schemas.openxmlformats.org/drawingml/2006/main">
              <a:ext uri="{FF2B5EF4-FFF2-40B4-BE49-F238E27FC236}">
                <a16:creationId xmlns:a16="http://schemas.microsoft.com/office/drawing/2014/main" id="{71969896-2A2F-4A47-8A55-84CAA0C20ED1}"/>
              </a:ext>
            </a:extLst>
          </p:cNvPr>
          <p:cNvSpPr>
            <a:spLocks xmlns:a="http://schemas.openxmlformats.org/drawingml/2006/main" noGrp="1"/>
          </p:cNvSpPr>
          <p:nvPr/>
        </p:nvSpPr>
        <p:spPr>
          <a:xfrm xmlns:a="http://schemas.openxmlformats.org/drawingml/2006/main">
            <a:off x="895350" y="3724275"/>
            <a:ext cx="4191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6F665E"/>
                </a:solidFill>
                <a:latin typeface="Helvetica Neue"/>
                <a:ea typeface="Helvetica Neue"/>
                <a:cs typeface="Helvetica Neue"/>
              </a:defRPr>
            </a:pPr>
            <a:r>
              <a:rPr sz="1575" b="0" i="0">
                <a:solidFill>
                  <a:srgbClr val="6F665E"/>
                </a:solidFill>
                <a:latin typeface="Helvetica Neue"/>
                <a:ea typeface="Helvetica Neue"/>
                <a:cs typeface="Helvetica Neue"/>
              </a:rPr>
              <a:t>• Deterministic Clean formatting</a:t>
            </a:r>
          </a:p>
          <a:p xmlns:a="http://schemas.openxmlformats.org/drawingml/2006/main">
            <a:pPr algn="l">
              <a:defRPr sz="1575" b="0" i="0">
                <a:solidFill>
                  <a:srgbClr val="6F665E"/>
                </a:solidFill>
                <a:latin typeface="Helvetica Neue"/>
                <a:ea typeface="Helvetica Neue"/>
                <a:cs typeface="Helvetica Neue"/>
              </a:defRPr>
            </a:pPr>
            <a:r>
              <a:rPr sz="1575" b="0" i="0">
                <a:solidFill>
                  <a:srgbClr val="6F665E"/>
                </a:solidFill>
                <a:latin typeface="Helvetica Neue"/>
                <a:ea typeface="Helvetica Neue"/>
                <a:cs typeface="Helvetica Neue"/>
              </a:rPr>
              <a:t>• Guarded on-device Smart refinement</a:t>
            </a:r>
          </a:p>
          <a:p xmlns:a="http://schemas.openxmlformats.org/drawingml/2006/main">
            <a:pPr algn="l">
              <a:defRPr sz="1575" b="0" i="0">
                <a:solidFill>
                  <a:srgbClr val="6F665E"/>
                </a:solidFill>
                <a:latin typeface="Helvetica Neue"/>
                <a:ea typeface="Helvetica Neue"/>
                <a:cs typeface="Helvetica Neue"/>
              </a:defRPr>
            </a:pPr>
            <a:r>
              <a:rPr sz="1575" b="0" i="0">
                <a:solidFill>
                  <a:srgbClr val="6F665E"/>
                </a:solidFill>
                <a:latin typeface="Helvetica Neue"/>
                <a:ea typeface="Helvetica Neue"/>
                <a:cs typeface="Helvetica Neue"/>
              </a:rPr>
              <a:t>• Local correction rules for names and repeated phrases</a:t>
            </a:r>
          </a:p>
          <a:p xmlns:a="http://schemas.openxmlformats.org/drawingml/2006/main">
            <a:pPr algn="l">
              <a:defRPr sz="1575" b="0" i="0">
                <a:solidFill>
                  <a:srgbClr val="6F665E"/>
                </a:solidFill>
                <a:latin typeface="Helvetica Neue"/>
                <a:ea typeface="Helvetica Neue"/>
                <a:cs typeface="Helvetica Neue"/>
              </a:defRPr>
            </a:pPr>
            <a:r>
              <a:rPr sz="1575" b="0" i="0">
                <a:solidFill>
                  <a:srgbClr val="6F665E"/>
                </a:solidFill>
                <a:latin typeface="Helvetica Neue"/>
                <a:ea typeface="Helvetica Neue"/>
                <a:cs typeface="Helvetica Neue"/>
              </a:rPr>
              <a:t>• Optional next-dictation context kept only in memory</a:t>
            </a:r>
          </a:p>
        </p:txBody>
      </p:sp>
      <p:sp>
        <p:nvSpPr>
          <p:cNvPr id="9" name="">
            <a:extLst xmlns:a="http://schemas.openxmlformats.org/drawingml/2006/main">
              <a:ext uri="{FF2B5EF4-FFF2-40B4-BE49-F238E27FC236}">
                <a16:creationId xmlns:a16="http://schemas.microsoft.com/office/drawing/2014/main" id="{C325861A-D129-439A-AFA1-9DE06E80BB5C}"/>
              </a:ext>
            </a:extLst>
          </p:cNvPr>
          <p:cNvSpPr>
            <a:spLocks xmlns:a="http://schemas.openxmlformats.org/drawingml/2006/main" noGrp="1"/>
          </p:cNvSpPr>
          <p:nvPr/>
        </p:nvSpPr>
        <p:spPr>
          <a:xfrm xmlns:a="http://schemas.openxmlformats.org/drawingml/2006/main">
            <a:off x="6648450" y="321945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0">
                <a:solidFill>
                  <a:srgbClr val="11100F"/>
                </a:solidFill>
                <a:latin typeface="Helvetica Neue"/>
                <a:ea typeface="Helvetica Neue"/>
                <a:cs typeface="Helvetica Neue"/>
              </a:defRPr>
            </a:pPr>
            <a:r>
              <a:rPr sz="2100" b="1" i="0">
                <a:solidFill>
                  <a:srgbClr val="11100F"/>
                </a:solidFill>
                <a:latin typeface="Helvetica Neue"/>
                <a:ea typeface="Helvetica Neue"/>
                <a:cs typeface="Helvetica Neue"/>
              </a:rPr>
              <a:t>History and insight controls</a:t>
            </a:r>
          </a:p>
        </p:txBody>
      </p:sp>
      <p:sp>
        <p:nvSpPr>
          <p:cNvPr id="10" name="">
            <a:extLst xmlns:a="http://schemas.openxmlformats.org/drawingml/2006/main">
              <a:ext uri="{FF2B5EF4-FFF2-40B4-BE49-F238E27FC236}">
                <a16:creationId xmlns:a16="http://schemas.microsoft.com/office/drawing/2014/main" id="{DABCB5AF-4FE8-4422-93B8-B7DD8CB4B9B8}"/>
              </a:ext>
            </a:extLst>
          </p:cNvPr>
          <p:cNvSpPr>
            <a:spLocks xmlns:a="http://schemas.openxmlformats.org/drawingml/2006/main" noGrp="1"/>
          </p:cNvSpPr>
          <p:nvPr/>
        </p:nvSpPr>
        <p:spPr>
          <a:xfrm xmlns:a="http://schemas.openxmlformats.org/drawingml/2006/main">
            <a:off x="6648450" y="3724275"/>
            <a:ext cx="4191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6F665E"/>
                </a:solidFill>
                <a:latin typeface="Helvetica Neue"/>
                <a:ea typeface="Helvetica Neue"/>
                <a:cs typeface="Helvetica Neue"/>
              </a:defRPr>
            </a:pPr>
            <a:r>
              <a:rPr sz="1425" b="0" i="0">
                <a:solidFill>
                  <a:srgbClr val="6F665E"/>
                </a:solidFill>
                <a:latin typeface="Helvetica Neue"/>
                <a:ea typeface="Helvetica Neue"/>
                <a:cs typeface="Helvetica Neue"/>
              </a:rPr>
              <a:t>• Search, copy, retry, delete, and Recovery Inbox</a:t>
            </a:r>
          </a:p>
          <a:p xmlns:a="http://schemas.openxmlformats.org/drawingml/2006/main">
            <a:pPr algn="l">
              <a:defRPr sz="1425" b="0" i="0">
                <a:solidFill>
                  <a:srgbClr val="6F665E"/>
                </a:solidFill>
                <a:latin typeface="Helvetica Neue"/>
                <a:ea typeface="Helvetica Neue"/>
                <a:cs typeface="Helvetica Neue"/>
              </a:defRPr>
            </a:pPr>
            <a:r>
              <a:rPr sz="1425" b="0" i="0">
                <a:solidFill>
                  <a:srgbClr val="6F665E"/>
                </a:solidFill>
                <a:latin typeface="Helvetica Neue"/>
                <a:ea typeface="Helvetica Neue"/>
                <a:cs typeface="Helvetica Neue"/>
              </a:rPr>
              <a:t>• Local words, WPM, streaks, and app insights</a:t>
            </a:r>
          </a:p>
          <a:p xmlns:a="http://schemas.openxmlformats.org/drawingml/2006/main">
            <a:pPr algn="l">
              <a:defRPr sz="1425" b="0" i="0">
                <a:solidFill>
                  <a:srgbClr val="6F665E"/>
                </a:solidFill>
                <a:latin typeface="Helvetica Neue"/>
                <a:ea typeface="Helvetica Neue"/>
                <a:cs typeface="Helvetica Neue"/>
              </a:defRPr>
            </a:pPr>
            <a:r>
              <a:rPr sz="1425" b="0" i="0">
                <a:solidFill>
                  <a:srgbClr val="6F665E"/>
                </a:solidFill>
                <a:latin typeface="Helvetica Neue"/>
                <a:ea typeface="Helvetica Neue"/>
                <a:cs typeface="Helvetica Neue"/>
              </a:rPr>
              <a:t>• Pause history; correction rules stay encrypted locally</a:t>
            </a:r>
          </a:p>
        </p:txBody>
      </p:sp>
      <p:sp>
        <p:nvSpPr>
          <p:cNvPr id="11" name="">
            <a:extLst xmlns:a="http://schemas.openxmlformats.org/drawingml/2006/main">
              <a:ext uri="{FF2B5EF4-FFF2-40B4-BE49-F238E27FC236}">
                <a16:creationId xmlns:a16="http://schemas.microsoft.com/office/drawing/2014/main" id="{06011EF6-8D8F-4BD6-9126-1B8BD55624E5}"/>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9D0C5"/>
            </a:solidFill>
            <a:prstDash val="solid"/>
          </a:ln>
        </p:spPr>
      </p:sp>
      <p:sp>
        <p:nvSpPr>
          <p:cNvPr id="12" name="">
            <a:extLst xmlns:a="http://schemas.openxmlformats.org/drawingml/2006/main">
              <a:ext uri="{FF2B5EF4-FFF2-40B4-BE49-F238E27FC236}">
                <a16:creationId xmlns:a16="http://schemas.microsoft.com/office/drawing/2014/main" id="{D2E6F477-0A77-4B6E-8C1D-B6AB99EABC8E}"/>
              </a:ext>
            </a:extLst>
          </p:cNvPr>
          <p:cNvSpPr>
            <a:spLocks xmlns:a="http://schemas.openxmlformats.org/drawingml/2006/main" noGrp="1"/>
          </p:cNvSpPr>
          <p:nvPr/>
        </p:nvSpPr>
        <p:spPr>
          <a:xfrm xmlns:a="http://schemas.openxmlformats.org/drawingml/2006/main">
            <a:off x="609600" y="65627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9B9086"/>
                </a:solidFill>
                <a:latin typeface="Helvetica Neue"/>
                <a:ea typeface="Helvetica Neue"/>
                <a:cs typeface="Helvetica Neue"/>
              </a:defRPr>
            </a:pPr>
            <a:r>
              <a:rPr sz="900" b="1" i="0">
                <a:solidFill>
                  <a:srgbClr val="9B9086"/>
                </a:solidFill>
                <a:latin typeface="Helvetica Neue"/>
                <a:ea typeface="Helvetica Neue"/>
                <a:cs typeface="Helvetica Neue"/>
              </a:rPr>
              <a:t>ZENVOICE  |  PRIVATE LOCAL-FIRST DICTATION</a:t>
            </a:r>
          </a:p>
        </p:txBody>
      </p:sp>
      <p:sp>
        <p:nvSpPr>
          <p:cNvPr id="13" name="">
            <a:extLst xmlns:a="http://schemas.openxmlformats.org/drawingml/2006/main">
              <a:ext uri="{FF2B5EF4-FFF2-40B4-BE49-F238E27FC236}">
                <a16:creationId xmlns:a16="http://schemas.microsoft.com/office/drawing/2014/main" id="{0CC16A53-0C06-462F-8F6B-72662CD48397}"/>
              </a:ext>
            </a:extLst>
          </p:cNvPr>
          <p:cNvSpPr>
            <a:spLocks xmlns:a="http://schemas.openxmlformats.org/drawingml/2006/main" noGrp="1"/>
          </p:cNvSpPr>
          <p:nvPr/>
        </p:nvSpPr>
        <p:spPr>
          <a:xfrm xmlns:a="http://schemas.openxmlformats.org/drawingml/2006/main">
            <a:off x="10668000" y="6562725"/>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9B9086"/>
                </a:solidFill>
                <a:latin typeface="Helvetica Neue"/>
                <a:ea typeface="Helvetica Neue"/>
                <a:cs typeface="Helvetica Neue"/>
              </a:defRPr>
            </a:pPr>
            <a:r>
              <a:rPr sz="900" b="1" i="0">
                <a:solidFill>
                  <a:srgbClr val="9B9086"/>
                </a:solidFill>
                <a:latin typeface="Helvetica Neue"/>
                <a:ea typeface="Helvetica Neue"/>
                <a:cs typeface="Helvetica Neue"/>
              </a:rPr>
              <a:t>07</a:t>
            </a:r>
          </a:p>
        </p:txBody>
      </p:sp>
    </p:spTree>
    <p:extLst>
      <p:ext uri="{BB962C8B-B14F-4D97-AF65-F5344CB8AC3E}">
        <p14:creationId xmlns:p14="http://schemas.microsoft.com/office/powerpoint/2010/main" val="1959414517"/>
      </p:ext>
    </p:extLst>
  </p:cSld>
  <p:transition spd="med" advClick="1">
    <p:fade/>
  </p:transition>
</p:sld>
</file>

<file path=ppt/slides/slide8.xml><?xml version="1.0" encoding="utf-8"?>
<p:sld xmlns:p="http://schemas.openxmlformats.org/presentationml/2006/main">
  <p:cSld>
    <p:bg>
      <p:bgPr>
        <a:solidFill xmlns:a="http://schemas.openxmlformats.org/drawingml/2006/main">
          <a:srgbClr val="FCFAF7"/>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63E1EA9-C9DD-4200-BF16-E42364469CBD}"/>
              </a:ext>
            </a:extLst>
          </p:cNvPr>
          <p:cNvSpPr>
            <a:spLocks xmlns:a="http://schemas.openxmlformats.org/drawingml/2006/main" noGrp="1"/>
          </p:cNvSpPr>
          <p:nvPr/>
        </p:nvSpPr>
        <p:spPr>
          <a:xfrm xmlns:a="http://schemas.openxmlformats.org/drawingml/2006/main">
            <a:off x="609600" y="457200"/>
            <a:ext cx="1104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B58A4A"/>
                </a:solidFill>
                <a:latin typeface="Helvetica Neue"/>
                <a:ea typeface="Helvetica Neue"/>
                <a:cs typeface="Helvetica Neue"/>
              </a:defRPr>
            </a:pPr>
            <a:r>
              <a:rPr sz="1125" b="1" i="0">
                <a:solidFill>
                  <a:srgbClr val="B58A4A"/>
                </a:solidFill>
                <a:latin typeface="Helvetica Neue"/>
                <a:ea typeface="Helvetica Neue"/>
                <a:cs typeface="Helvetica Neue"/>
              </a:rPr>
              <a:t>08  /  HOW IT WORKS</a:t>
            </a:r>
          </a:p>
        </p:txBody>
      </p:sp>
      <p:sp>
        <p:nvSpPr>
          <p:cNvPr id="2" name="">
            <a:extLst xmlns:a="http://schemas.openxmlformats.org/drawingml/2006/main">
              <a:ext uri="{FF2B5EF4-FFF2-40B4-BE49-F238E27FC236}">
                <a16:creationId xmlns:a16="http://schemas.microsoft.com/office/drawing/2014/main" id="{E581AC6C-B2D4-4F11-B964-E930E8925839}"/>
              </a:ext>
            </a:extLst>
          </p:cNvPr>
          <p:cNvSpPr>
            <a:spLocks xmlns:a="http://schemas.openxmlformats.org/drawingml/2006/main" noGrp="1"/>
          </p:cNvSpPr>
          <p:nvPr/>
        </p:nvSpPr>
        <p:spPr>
          <a:xfrm xmlns:a="http://schemas.openxmlformats.org/drawingml/2006/main">
            <a:off x="609600" y="838200"/>
            <a:ext cx="10287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00F"/>
                </a:solidFill>
                <a:latin typeface="Helvetica Neue"/>
                <a:ea typeface="Helvetica Neue"/>
                <a:cs typeface="Helvetica Neue"/>
              </a:defRPr>
            </a:pPr>
            <a:r>
              <a:rPr sz="3000" b="1" i="0">
                <a:solidFill>
                  <a:srgbClr val="11100F"/>
                </a:solidFill>
                <a:latin typeface="Helvetica Neue"/>
                <a:ea typeface="Helvetica Neue"/>
                <a:cs typeface="Helvetica Neue"/>
              </a:rPr>
              <a:t>A native Mac pipeline turns a shortcut into text.</a:t>
            </a:r>
          </a:p>
        </p:txBody>
      </p:sp>
      <p:sp>
        <p:nvSpPr>
          <p:cNvPr id="3" name="">
            <a:extLst xmlns:a="http://schemas.openxmlformats.org/drawingml/2006/main">
              <a:ext uri="{FF2B5EF4-FFF2-40B4-BE49-F238E27FC236}">
                <a16:creationId xmlns:a16="http://schemas.microsoft.com/office/drawing/2014/main" id="{6C6B4844-89CC-46A9-B044-6C5066C7D56D}"/>
              </a:ext>
            </a:extLst>
          </p:cNvPr>
          <p:cNvSpPr>
            <a:spLocks xmlns:a="http://schemas.openxmlformats.org/drawingml/2006/main" noGrp="1"/>
          </p:cNvSpPr>
          <p:nvPr/>
        </p:nvSpPr>
        <p:spPr>
          <a:xfrm xmlns:a="http://schemas.openxmlformats.org/drawingml/2006/main">
            <a:off x="609600" y="1952625"/>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6F665E"/>
                </a:solidFill>
                <a:latin typeface="Helvetica Neue"/>
                <a:ea typeface="Helvetica Neue"/>
                <a:cs typeface="Helvetica Neue"/>
              </a:defRPr>
            </a:pPr>
            <a:r>
              <a:rPr sz="1575" b="0" i="0">
                <a:solidFill>
                  <a:srgbClr val="6F665E"/>
                </a:solidFill>
                <a:latin typeface="Helvetica Neue"/>
                <a:ea typeface="Helvetica Neue"/>
                <a:cs typeface="Helvetica Neue"/>
              </a:rPr>
              <a:t>The architecture is intentionally direct: one user action, one local audio path, one selected engine, and a controlled insertion step.</a:t>
            </a:r>
          </a:p>
        </p:txBody>
      </p:sp>
      <p:sp>
        <p:nvSpPr>
          <p:cNvPr id="4" name="">
            <a:extLst xmlns:a="http://schemas.openxmlformats.org/drawingml/2006/main">
              <a:ext uri="{FF2B5EF4-FFF2-40B4-BE49-F238E27FC236}">
                <a16:creationId xmlns:a16="http://schemas.microsoft.com/office/drawing/2014/main" id="{BE03A474-4FA0-4CA2-9910-B0AEDF1141BF}"/>
              </a:ext>
            </a:extLst>
          </p:cNvPr>
          <p:cNvSpPr>
            <a:spLocks xmlns:a="http://schemas.openxmlformats.org/drawingml/2006/main" noGrp="1"/>
          </p:cNvSpPr>
          <p:nvPr/>
        </p:nvSpPr>
        <p:spPr>
          <a:xfrm xmlns:a="http://schemas.openxmlformats.org/drawingml/2006/main">
            <a:off x="609600" y="2533650"/>
            <a:ext cx="10972800" cy="0"/>
          </a:xfrm>
          <a:prstGeom xmlns:a="http://schemas.openxmlformats.org/drawingml/2006/main" prst="line">
            <a:avLst/>
          </a:prstGeom>
          <a:noFill xmlns:a="http://schemas.openxmlformats.org/drawingml/2006/main"/>
          <a:ln xmlns:a="http://schemas.openxmlformats.org/drawingml/2006/main" w="9525">
            <a:solidFill>
              <a:srgbClr val="D9D0C5"/>
            </a:solidFill>
            <a:prstDash val="solid"/>
          </a:ln>
        </p:spPr>
      </p:sp>
      <p:sp>
        <p:nvSpPr>
          <p:cNvPr id="5" name="">
            <a:extLst xmlns:a="http://schemas.openxmlformats.org/drawingml/2006/main">
              <a:ext uri="{FF2B5EF4-FFF2-40B4-BE49-F238E27FC236}">
                <a16:creationId xmlns:a16="http://schemas.microsoft.com/office/drawing/2014/main" id="{73350193-844F-4350-9CC3-210D9C767FA2}"/>
              </a:ext>
            </a:extLst>
          </p:cNvPr>
          <p:cNvSpPr>
            <a:spLocks xmlns:a="http://schemas.openxmlformats.org/drawingml/2006/main" noGrp="1"/>
          </p:cNvSpPr>
          <p:nvPr/>
        </p:nvSpPr>
        <p:spPr>
          <a:xfrm xmlns:a="http://schemas.openxmlformats.org/drawingml/2006/main">
            <a:off x="2038350" y="4000500"/>
            <a:ext cx="419100" cy="171450"/>
          </a:xfrm>
          <a:prstGeom xmlns:a="http://schemas.openxmlformats.org/drawingml/2006/main" prst="rightArrow">
            <a:avLst/>
          </a:prstGeom>
          <a:solidFill xmlns:a="http://schemas.openxmlformats.org/drawingml/2006/main">
            <a:srgbClr val="B58A4A"/>
          </a:solidFill>
          <a:ln xmlns:a="http://schemas.openxmlformats.org/drawingml/2006/main" w="0">
            <a:solidFill>
              <a:srgbClr val="B58A4A"/>
            </a:solidFill>
            <a:prstDash val="solid"/>
          </a:ln>
        </p:spPr>
      </p:sp>
      <p:sp>
        <p:nvSpPr>
          <p:cNvPr id="6" name="">
            <a:extLst xmlns:a="http://schemas.openxmlformats.org/drawingml/2006/main">
              <a:ext uri="{FF2B5EF4-FFF2-40B4-BE49-F238E27FC236}">
                <a16:creationId xmlns:a16="http://schemas.microsoft.com/office/drawing/2014/main" id="{32023089-810E-4F95-A55A-76B6319F9B9E}"/>
              </a:ext>
            </a:extLst>
          </p:cNvPr>
          <p:cNvSpPr>
            <a:spLocks xmlns:a="http://schemas.openxmlformats.org/drawingml/2006/main" noGrp="1"/>
          </p:cNvSpPr>
          <p:nvPr/>
        </p:nvSpPr>
        <p:spPr>
          <a:xfrm xmlns:a="http://schemas.openxmlformats.org/drawingml/2006/main">
            <a:off x="4171950" y="4000500"/>
            <a:ext cx="419100" cy="171450"/>
          </a:xfrm>
          <a:prstGeom xmlns:a="http://schemas.openxmlformats.org/drawingml/2006/main" prst="rightArrow">
            <a:avLst/>
          </a:prstGeom>
          <a:solidFill xmlns:a="http://schemas.openxmlformats.org/drawingml/2006/main">
            <a:srgbClr val="B58A4A"/>
          </a:solidFill>
          <a:ln xmlns:a="http://schemas.openxmlformats.org/drawingml/2006/main" w="0">
            <a:solidFill>
              <a:srgbClr val="B58A4A"/>
            </a:solidFill>
            <a:prstDash val="solid"/>
          </a:ln>
        </p:spPr>
      </p:sp>
      <p:sp>
        <p:nvSpPr>
          <p:cNvPr id="7" name="">
            <a:extLst xmlns:a="http://schemas.openxmlformats.org/drawingml/2006/main">
              <a:ext uri="{FF2B5EF4-FFF2-40B4-BE49-F238E27FC236}">
                <a16:creationId xmlns:a16="http://schemas.microsoft.com/office/drawing/2014/main" id="{7EB540DD-B763-4575-800A-E3A93EE8AE34}"/>
              </a:ext>
            </a:extLst>
          </p:cNvPr>
          <p:cNvSpPr>
            <a:spLocks xmlns:a="http://schemas.openxmlformats.org/drawingml/2006/main" noGrp="1"/>
          </p:cNvSpPr>
          <p:nvPr/>
        </p:nvSpPr>
        <p:spPr>
          <a:xfrm xmlns:a="http://schemas.openxmlformats.org/drawingml/2006/main">
            <a:off x="6305550" y="4000500"/>
            <a:ext cx="419100" cy="171450"/>
          </a:xfrm>
          <a:prstGeom xmlns:a="http://schemas.openxmlformats.org/drawingml/2006/main" prst="rightArrow">
            <a:avLst/>
          </a:prstGeom>
          <a:solidFill xmlns:a="http://schemas.openxmlformats.org/drawingml/2006/main">
            <a:srgbClr val="B58A4A"/>
          </a:solidFill>
          <a:ln xmlns:a="http://schemas.openxmlformats.org/drawingml/2006/main" w="0">
            <a:solidFill>
              <a:srgbClr val="B58A4A"/>
            </a:solidFill>
            <a:prstDash val="solid"/>
          </a:ln>
        </p:spPr>
      </p:sp>
      <p:sp>
        <p:nvSpPr>
          <p:cNvPr id="8" name="">
            <a:extLst xmlns:a="http://schemas.openxmlformats.org/drawingml/2006/main">
              <a:ext uri="{FF2B5EF4-FFF2-40B4-BE49-F238E27FC236}">
                <a16:creationId xmlns:a16="http://schemas.microsoft.com/office/drawing/2014/main" id="{E8134318-4163-4F4E-91DD-FDF4E069A0D0}"/>
              </a:ext>
            </a:extLst>
          </p:cNvPr>
          <p:cNvSpPr>
            <a:spLocks xmlns:a="http://schemas.openxmlformats.org/drawingml/2006/main" noGrp="1"/>
          </p:cNvSpPr>
          <p:nvPr/>
        </p:nvSpPr>
        <p:spPr>
          <a:xfrm xmlns:a="http://schemas.openxmlformats.org/drawingml/2006/main">
            <a:off x="8439150" y="4000500"/>
            <a:ext cx="419100" cy="171450"/>
          </a:xfrm>
          <a:prstGeom xmlns:a="http://schemas.openxmlformats.org/drawingml/2006/main" prst="rightArrow">
            <a:avLst/>
          </a:prstGeom>
          <a:solidFill xmlns:a="http://schemas.openxmlformats.org/drawingml/2006/main">
            <a:srgbClr val="B58A4A"/>
          </a:solidFill>
          <a:ln xmlns:a="http://schemas.openxmlformats.org/drawingml/2006/main" w="0">
            <a:solidFill>
              <a:srgbClr val="B58A4A"/>
            </a:solidFill>
            <a:prstDash val="solid"/>
          </a:ln>
        </p:spPr>
      </p:sp>
      <p:sp>
        <p:nvSpPr>
          <p:cNvPr id="9" name="">
            <a:extLst xmlns:a="http://schemas.openxmlformats.org/drawingml/2006/main">
              <a:ext uri="{FF2B5EF4-FFF2-40B4-BE49-F238E27FC236}">
                <a16:creationId xmlns:a16="http://schemas.microsoft.com/office/drawing/2014/main" id="{765347C3-9072-4EBA-8012-17226E635242}"/>
              </a:ext>
            </a:extLst>
          </p:cNvPr>
          <p:cNvSpPr>
            <a:spLocks xmlns:a="http://schemas.openxmlformats.org/drawingml/2006/main" noGrp="1"/>
          </p:cNvSpPr>
          <p:nvPr/>
        </p:nvSpPr>
        <p:spPr>
          <a:xfrm xmlns:a="http://schemas.openxmlformats.org/drawingml/2006/main">
            <a:off x="609600" y="3314700"/>
            <a:ext cx="1790700" cy="1524000"/>
          </a:xfrm>
          <a:prstGeom xmlns:a="http://schemas.openxmlformats.org/drawingml/2006/main" prst="roundRect">
            <a:avLst>
              <a:gd name="adj" fmla="val 13750"/>
            </a:avLst>
          </a:prstGeom>
          <a:solidFill xmlns:a="http://schemas.openxmlformats.org/drawingml/2006/main">
            <a:srgbClr val="F6F2EC"/>
          </a:solidFill>
          <a:ln xmlns:a="http://schemas.openxmlformats.org/drawingml/2006/main" w="9525">
            <a:solidFill>
              <a:srgbClr val="D9D0C5"/>
            </a:solidFill>
            <a:prstDash val="solid"/>
          </a:ln>
        </p:spPr>
      </p:sp>
      <p:sp>
        <p:nvSpPr>
          <p:cNvPr id="10" name="">
            <a:extLst xmlns:a="http://schemas.openxmlformats.org/drawingml/2006/main">
              <a:ext uri="{FF2B5EF4-FFF2-40B4-BE49-F238E27FC236}">
                <a16:creationId xmlns:a16="http://schemas.microsoft.com/office/drawing/2014/main" id="{BA3D47C7-CD86-4274-860C-6ED81474B310}"/>
              </a:ext>
            </a:extLst>
          </p:cNvPr>
          <p:cNvSpPr>
            <a:spLocks xmlns:a="http://schemas.openxmlformats.org/drawingml/2006/main" noGrp="1"/>
          </p:cNvSpPr>
          <p:nvPr/>
        </p:nvSpPr>
        <p:spPr>
          <a:xfrm xmlns:a="http://schemas.openxmlformats.org/drawingml/2006/main">
            <a:off x="781050" y="356235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i="0">
                <a:solidFill>
                  <a:srgbClr val="11100F"/>
                </a:solidFill>
                <a:latin typeface="Helvetica Neue"/>
                <a:ea typeface="Helvetica Neue"/>
                <a:cs typeface="Helvetica Neue"/>
              </a:defRPr>
            </a:pPr>
            <a:r>
              <a:rPr sz="1575" b="1" i="0">
                <a:solidFill>
                  <a:srgbClr val="11100F"/>
                </a:solidFill>
                <a:latin typeface="Helvetica Neue"/>
                <a:ea typeface="Helvetica Neue"/>
                <a:cs typeface="Helvetica Neue"/>
              </a:rPr>
              <a:t>Shortcut</a:t>
            </a:r>
          </a:p>
        </p:txBody>
      </p:sp>
      <p:sp>
        <p:nvSpPr>
          <p:cNvPr id="11" name="">
            <a:extLst xmlns:a="http://schemas.openxmlformats.org/drawingml/2006/main">
              <a:ext uri="{FF2B5EF4-FFF2-40B4-BE49-F238E27FC236}">
                <a16:creationId xmlns:a16="http://schemas.microsoft.com/office/drawing/2014/main" id="{D1B623E9-7FFE-4A56-81AF-08B394296BA4}"/>
              </a:ext>
            </a:extLst>
          </p:cNvPr>
          <p:cNvSpPr>
            <a:spLocks xmlns:a="http://schemas.openxmlformats.org/drawingml/2006/main" noGrp="1"/>
          </p:cNvSpPr>
          <p:nvPr/>
        </p:nvSpPr>
        <p:spPr>
          <a:xfrm xmlns:a="http://schemas.openxmlformats.org/drawingml/2006/main">
            <a:off x="781050" y="4000500"/>
            <a:ext cx="1447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i="0">
                <a:solidFill>
                  <a:srgbClr val="6F665E"/>
                </a:solidFill>
                <a:latin typeface="Helvetica Neue"/>
                <a:ea typeface="Helvetica Neue"/>
                <a:cs typeface="Helvetica Neue"/>
              </a:defRPr>
            </a:pPr>
            <a:r>
              <a:rPr sz="1275" b="0" i="0">
                <a:solidFill>
                  <a:srgbClr val="6F665E"/>
                </a:solidFill>
                <a:latin typeface="Helvetica Neue"/>
                <a:ea typeface="Helvetica Neue"/>
                <a:cs typeface="Helvetica Neue"/>
              </a:rPr>
              <a:t>Global hotkey</a:t>
            </a:r>
          </a:p>
        </p:txBody>
      </p:sp>
      <p:sp>
        <p:nvSpPr>
          <p:cNvPr id="12" name="">
            <a:extLst xmlns:a="http://schemas.openxmlformats.org/drawingml/2006/main">
              <a:ext uri="{FF2B5EF4-FFF2-40B4-BE49-F238E27FC236}">
                <a16:creationId xmlns:a16="http://schemas.microsoft.com/office/drawing/2014/main" id="{1C1BF208-6ABE-4D2A-9803-4AFDC830B642}"/>
              </a:ext>
            </a:extLst>
          </p:cNvPr>
          <p:cNvSpPr>
            <a:spLocks xmlns:a="http://schemas.openxmlformats.org/drawingml/2006/main" noGrp="1"/>
          </p:cNvSpPr>
          <p:nvPr/>
        </p:nvSpPr>
        <p:spPr>
          <a:xfrm xmlns:a="http://schemas.openxmlformats.org/drawingml/2006/main">
            <a:off x="2743200" y="3314700"/>
            <a:ext cx="1790700" cy="1524000"/>
          </a:xfrm>
          <a:prstGeom xmlns:a="http://schemas.openxmlformats.org/drawingml/2006/main" prst="roundRect">
            <a:avLst>
              <a:gd name="adj" fmla="val 13750"/>
            </a:avLst>
          </a:prstGeom>
          <a:solidFill xmlns:a="http://schemas.openxmlformats.org/drawingml/2006/main">
            <a:srgbClr val="F6F2EC"/>
          </a:solidFill>
          <a:ln xmlns:a="http://schemas.openxmlformats.org/drawingml/2006/main" w="9525">
            <a:solidFill>
              <a:srgbClr val="D9D0C5"/>
            </a:solidFill>
            <a:prstDash val="solid"/>
          </a:ln>
        </p:spPr>
      </p:sp>
      <p:sp>
        <p:nvSpPr>
          <p:cNvPr id="13" name="">
            <a:extLst xmlns:a="http://schemas.openxmlformats.org/drawingml/2006/main">
              <a:ext uri="{FF2B5EF4-FFF2-40B4-BE49-F238E27FC236}">
                <a16:creationId xmlns:a16="http://schemas.microsoft.com/office/drawing/2014/main" id="{4A8CF305-C046-4962-A683-BFAE4349FAFC}"/>
              </a:ext>
            </a:extLst>
          </p:cNvPr>
          <p:cNvSpPr>
            <a:spLocks xmlns:a="http://schemas.openxmlformats.org/drawingml/2006/main" noGrp="1"/>
          </p:cNvSpPr>
          <p:nvPr/>
        </p:nvSpPr>
        <p:spPr>
          <a:xfrm xmlns:a="http://schemas.openxmlformats.org/drawingml/2006/main">
            <a:off x="2914650" y="356235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i="0">
                <a:solidFill>
                  <a:srgbClr val="11100F"/>
                </a:solidFill>
                <a:latin typeface="Helvetica Neue"/>
                <a:ea typeface="Helvetica Neue"/>
                <a:cs typeface="Helvetica Neue"/>
              </a:defRPr>
            </a:pPr>
            <a:r>
              <a:rPr sz="1575" b="1" i="0">
                <a:solidFill>
                  <a:srgbClr val="11100F"/>
                </a:solidFill>
                <a:latin typeface="Helvetica Neue"/>
                <a:ea typeface="Helvetica Neue"/>
                <a:cs typeface="Helvetica Neue"/>
              </a:rPr>
              <a:t>Microphone</a:t>
            </a:r>
          </a:p>
        </p:txBody>
      </p:sp>
      <p:sp>
        <p:nvSpPr>
          <p:cNvPr id="14" name="">
            <a:extLst xmlns:a="http://schemas.openxmlformats.org/drawingml/2006/main">
              <a:ext uri="{FF2B5EF4-FFF2-40B4-BE49-F238E27FC236}">
                <a16:creationId xmlns:a16="http://schemas.microsoft.com/office/drawing/2014/main" id="{C905D4C6-4648-4AF5-B235-2279A381A09C}"/>
              </a:ext>
            </a:extLst>
          </p:cNvPr>
          <p:cNvSpPr>
            <a:spLocks xmlns:a="http://schemas.openxmlformats.org/drawingml/2006/main" noGrp="1"/>
          </p:cNvSpPr>
          <p:nvPr/>
        </p:nvSpPr>
        <p:spPr>
          <a:xfrm xmlns:a="http://schemas.openxmlformats.org/drawingml/2006/main">
            <a:off x="2914650" y="4000500"/>
            <a:ext cx="1447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i="0">
                <a:solidFill>
                  <a:srgbClr val="6F665E"/>
                </a:solidFill>
                <a:latin typeface="Helvetica Neue"/>
                <a:ea typeface="Helvetica Neue"/>
                <a:cs typeface="Helvetica Neue"/>
              </a:defRPr>
            </a:pPr>
            <a:r>
              <a:rPr sz="1275" b="0" i="0">
                <a:solidFill>
                  <a:srgbClr val="6F665E"/>
                </a:solidFill>
                <a:latin typeface="Helvetica Neue"/>
                <a:ea typeface="Helvetica Neue"/>
                <a:cs typeface="Helvetica Neue"/>
              </a:rPr>
              <a:t>16 kHz mono</a:t>
            </a:r>
          </a:p>
        </p:txBody>
      </p:sp>
      <p:sp>
        <p:nvSpPr>
          <p:cNvPr id="15" name="">
            <a:extLst xmlns:a="http://schemas.openxmlformats.org/drawingml/2006/main">
              <a:ext uri="{FF2B5EF4-FFF2-40B4-BE49-F238E27FC236}">
                <a16:creationId xmlns:a16="http://schemas.microsoft.com/office/drawing/2014/main" id="{2A9D9584-9D3E-4D80-9518-0CB6F406160C}"/>
              </a:ext>
            </a:extLst>
          </p:cNvPr>
          <p:cNvSpPr>
            <a:spLocks xmlns:a="http://schemas.openxmlformats.org/drawingml/2006/main" noGrp="1"/>
          </p:cNvSpPr>
          <p:nvPr/>
        </p:nvSpPr>
        <p:spPr>
          <a:xfrm xmlns:a="http://schemas.openxmlformats.org/drawingml/2006/main">
            <a:off x="4876800" y="3314700"/>
            <a:ext cx="1790700" cy="1524000"/>
          </a:xfrm>
          <a:prstGeom xmlns:a="http://schemas.openxmlformats.org/drawingml/2006/main" prst="roundRect">
            <a:avLst>
              <a:gd name="adj" fmla="val 13750"/>
            </a:avLst>
          </a:prstGeom>
          <a:solidFill xmlns:a="http://schemas.openxmlformats.org/drawingml/2006/main">
            <a:srgbClr val="EEE1CD"/>
          </a:solidFill>
          <a:ln xmlns:a="http://schemas.openxmlformats.org/drawingml/2006/main" w="9525">
            <a:solidFill>
              <a:srgbClr val="D9D0C5"/>
            </a:solidFill>
            <a:prstDash val="solid"/>
          </a:ln>
        </p:spPr>
      </p:sp>
      <p:sp>
        <p:nvSpPr>
          <p:cNvPr id="16" name="">
            <a:extLst xmlns:a="http://schemas.openxmlformats.org/drawingml/2006/main">
              <a:ext uri="{FF2B5EF4-FFF2-40B4-BE49-F238E27FC236}">
                <a16:creationId xmlns:a16="http://schemas.microsoft.com/office/drawing/2014/main" id="{C0C73E03-7F20-4CAF-A1FA-64082AA91990}"/>
              </a:ext>
            </a:extLst>
          </p:cNvPr>
          <p:cNvSpPr>
            <a:spLocks xmlns:a="http://schemas.openxmlformats.org/drawingml/2006/main" noGrp="1"/>
          </p:cNvSpPr>
          <p:nvPr/>
        </p:nvSpPr>
        <p:spPr>
          <a:xfrm xmlns:a="http://schemas.openxmlformats.org/drawingml/2006/main">
            <a:off x="5048250" y="356235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i="0">
                <a:solidFill>
                  <a:srgbClr val="11100F"/>
                </a:solidFill>
                <a:latin typeface="Helvetica Neue"/>
                <a:ea typeface="Helvetica Neue"/>
                <a:cs typeface="Helvetica Neue"/>
              </a:defRPr>
            </a:pPr>
            <a:r>
              <a:rPr sz="1575" b="1" i="0">
                <a:solidFill>
                  <a:srgbClr val="11100F"/>
                </a:solidFill>
                <a:latin typeface="Helvetica Neue"/>
                <a:ea typeface="Helvetica Neue"/>
                <a:cs typeface="Helvetica Neue"/>
              </a:rPr>
              <a:t>AI engine</a:t>
            </a:r>
          </a:p>
        </p:txBody>
      </p:sp>
      <p:sp>
        <p:nvSpPr>
          <p:cNvPr id="17" name="">
            <a:extLst xmlns:a="http://schemas.openxmlformats.org/drawingml/2006/main">
              <a:ext uri="{FF2B5EF4-FFF2-40B4-BE49-F238E27FC236}">
                <a16:creationId xmlns:a16="http://schemas.microsoft.com/office/drawing/2014/main" id="{99A0727D-171E-4794-B1B3-898642D4E20A}"/>
              </a:ext>
            </a:extLst>
          </p:cNvPr>
          <p:cNvSpPr>
            <a:spLocks xmlns:a="http://schemas.openxmlformats.org/drawingml/2006/main" noGrp="1"/>
          </p:cNvSpPr>
          <p:nvPr/>
        </p:nvSpPr>
        <p:spPr>
          <a:xfrm xmlns:a="http://schemas.openxmlformats.org/drawingml/2006/main">
            <a:off x="5048250" y="4000500"/>
            <a:ext cx="1447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i="0">
                <a:solidFill>
                  <a:srgbClr val="6F665E"/>
                </a:solidFill>
                <a:latin typeface="Helvetica Neue"/>
                <a:ea typeface="Helvetica Neue"/>
                <a:cs typeface="Helvetica Neue"/>
              </a:defRPr>
            </a:pPr>
            <a:r>
              <a:rPr sz="1275" b="0" i="0">
                <a:solidFill>
                  <a:srgbClr val="6F665E"/>
                </a:solidFill>
                <a:latin typeface="Helvetica Neue"/>
                <a:ea typeface="Helvetica Neue"/>
                <a:cs typeface="Helvetica Neue"/>
              </a:rPr>
              <a:t>Whisper / Parakeet / Apple Speech</a:t>
            </a:r>
          </a:p>
        </p:txBody>
      </p:sp>
      <p:sp>
        <p:nvSpPr>
          <p:cNvPr id="18" name="">
            <a:extLst xmlns:a="http://schemas.openxmlformats.org/drawingml/2006/main">
              <a:ext uri="{FF2B5EF4-FFF2-40B4-BE49-F238E27FC236}">
                <a16:creationId xmlns:a16="http://schemas.microsoft.com/office/drawing/2014/main" id="{04008756-CD8D-46A2-BDC3-8703BCF80091}"/>
              </a:ext>
            </a:extLst>
          </p:cNvPr>
          <p:cNvSpPr>
            <a:spLocks xmlns:a="http://schemas.openxmlformats.org/drawingml/2006/main" noGrp="1"/>
          </p:cNvSpPr>
          <p:nvPr/>
        </p:nvSpPr>
        <p:spPr>
          <a:xfrm xmlns:a="http://schemas.openxmlformats.org/drawingml/2006/main">
            <a:off x="7010400" y="3314700"/>
            <a:ext cx="1790700" cy="1524000"/>
          </a:xfrm>
          <a:prstGeom xmlns:a="http://schemas.openxmlformats.org/drawingml/2006/main" prst="roundRect">
            <a:avLst>
              <a:gd name="adj" fmla="val 13750"/>
            </a:avLst>
          </a:prstGeom>
          <a:solidFill xmlns:a="http://schemas.openxmlformats.org/drawingml/2006/main">
            <a:srgbClr val="F6F2EC"/>
          </a:solidFill>
          <a:ln xmlns:a="http://schemas.openxmlformats.org/drawingml/2006/main" w="9525">
            <a:solidFill>
              <a:srgbClr val="D9D0C5"/>
            </a:solidFill>
            <a:prstDash val="solid"/>
          </a:ln>
        </p:spPr>
      </p:sp>
      <p:sp>
        <p:nvSpPr>
          <p:cNvPr id="19" name="">
            <a:extLst xmlns:a="http://schemas.openxmlformats.org/drawingml/2006/main">
              <a:ext uri="{FF2B5EF4-FFF2-40B4-BE49-F238E27FC236}">
                <a16:creationId xmlns:a16="http://schemas.microsoft.com/office/drawing/2014/main" id="{0398819F-CBE8-426B-BF65-352B24FA2B0E}"/>
              </a:ext>
            </a:extLst>
          </p:cNvPr>
          <p:cNvSpPr>
            <a:spLocks xmlns:a="http://schemas.openxmlformats.org/drawingml/2006/main" noGrp="1"/>
          </p:cNvSpPr>
          <p:nvPr/>
        </p:nvSpPr>
        <p:spPr>
          <a:xfrm xmlns:a="http://schemas.openxmlformats.org/drawingml/2006/main">
            <a:off x="7181850" y="356235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i="0">
                <a:solidFill>
                  <a:srgbClr val="11100F"/>
                </a:solidFill>
                <a:latin typeface="Helvetica Neue"/>
                <a:ea typeface="Helvetica Neue"/>
                <a:cs typeface="Helvetica Neue"/>
              </a:defRPr>
            </a:pPr>
            <a:r>
              <a:rPr sz="1575" b="1" i="0">
                <a:solidFill>
                  <a:srgbClr val="11100F"/>
                </a:solidFill>
                <a:latin typeface="Helvetica Neue"/>
                <a:ea typeface="Helvetica Neue"/>
                <a:cs typeface="Helvetica Neue"/>
              </a:rPr>
              <a:t>Cleanup</a:t>
            </a:r>
          </a:p>
        </p:txBody>
      </p:sp>
      <p:sp>
        <p:nvSpPr>
          <p:cNvPr id="20" name="">
            <a:extLst xmlns:a="http://schemas.openxmlformats.org/drawingml/2006/main">
              <a:ext uri="{FF2B5EF4-FFF2-40B4-BE49-F238E27FC236}">
                <a16:creationId xmlns:a16="http://schemas.microsoft.com/office/drawing/2014/main" id="{94FBBEA3-BFFC-4D21-8BA8-39E75F80D55A}"/>
              </a:ext>
            </a:extLst>
          </p:cNvPr>
          <p:cNvSpPr>
            <a:spLocks xmlns:a="http://schemas.openxmlformats.org/drawingml/2006/main" noGrp="1"/>
          </p:cNvSpPr>
          <p:nvPr/>
        </p:nvSpPr>
        <p:spPr>
          <a:xfrm xmlns:a="http://schemas.openxmlformats.org/drawingml/2006/main">
            <a:off x="7181850" y="4000500"/>
            <a:ext cx="1447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i="0">
                <a:solidFill>
                  <a:srgbClr val="6F665E"/>
                </a:solidFill>
                <a:latin typeface="Helvetica Neue"/>
                <a:ea typeface="Helvetica Neue"/>
                <a:cs typeface="Helvetica Neue"/>
              </a:defRPr>
            </a:pPr>
            <a:r>
              <a:rPr sz="1275" b="0" i="0">
                <a:solidFill>
                  <a:srgbClr val="6F665E"/>
                </a:solidFill>
                <a:latin typeface="Helvetica Neue"/>
                <a:ea typeface="Helvetica Neue"/>
                <a:cs typeface="Helvetica Neue"/>
              </a:rPr>
              <a:t>Formatting + corrections</a:t>
            </a:r>
          </a:p>
        </p:txBody>
      </p:sp>
      <p:sp>
        <p:nvSpPr>
          <p:cNvPr id="21" name="">
            <a:extLst xmlns:a="http://schemas.openxmlformats.org/drawingml/2006/main">
              <a:ext uri="{FF2B5EF4-FFF2-40B4-BE49-F238E27FC236}">
                <a16:creationId xmlns:a16="http://schemas.microsoft.com/office/drawing/2014/main" id="{4F54F01C-8E60-408B-A2DA-2DAF75A12252}"/>
              </a:ext>
            </a:extLst>
          </p:cNvPr>
          <p:cNvSpPr>
            <a:spLocks xmlns:a="http://schemas.openxmlformats.org/drawingml/2006/main" noGrp="1"/>
          </p:cNvSpPr>
          <p:nvPr/>
        </p:nvSpPr>
        <p:spPr>
          <a:xfrm xmlns:a="http://schemas.openxmlformats.org/drawingml/2006/main">
            <a:off x="9144000" y="3314700"/>
            <a:ext cx="1790700" cy="1524000"/>
          </a:xfrm>
          <a:prstGeom xmlns:a="http://schemas.openxmlformats.org/drawingml/2006/main" prst="roundRect">
            <a:avLst>
              <a:gd name="adj" fmla="val 13750"/>
            </a:avLst>
          </a:prstGeom>
          <a:solidFill xmlns:a="http://schemas.openxmlformats.org/drawingml/2006/main">
            <a:srgbClr val="F6F2EC"/>
          </a:solidFill>
          <a:ln xmlns:a="http://schemas.openxmlformats.org/drawingml/2006/main" w="9525">
            <a:solidFill>
              <a:srgbClr val="D9D0C5"/>
            </a:solidFill>
            <a:prstDash val="solid"/>
          </a:ln>
        </p:spPr>
      </p:sp>
      <p:sp>
        <p:nvSpPr>
          <p:cNvPr id="22" name="">
            <a:extLst xmlns:a="http://schemas.openxmlformats.org/drawingml/2006/main">
              <a:ext uri="{FF2B5EF4-FFF2-40B4-BE49-F238E27FC236}">
                <a16:creationId xmlns:a16="http://schemas.microsoft.com/office/drawing/2014/main" id="{F810E86B-3908-4319-8D16-CCE5FC180AE1}"/>
              </a:ext>
            </a:extLst>
          </p:cNvPr>
          <p:cNvSpPr>
            <a:spLocks xmlns:a="http://schemas.openxmlformats.org/drawingml/2006/main" noGrp="1"/>
          </p:cNvSpPr>
          <p:nvPr/>
        </p:nvSpPr>
        <p:spPr>
          <a:xfrm xmlns:a="http://schemas.openxmlformats.org/drawingml/2006/main">
            <a:off x="9315450" y="356235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i="0">
                <a:solidFill>
                  <a:srgbClr val="11100F"/>
                </a:solidFill>
                <a:latin typeface="Helvetica Neue"/>
                <a:ea typeface="Helvetica Neue"/>
                <a:cs typeface="Helvetica Neue"/>
              </a:defRPr>
            </a:pPr>
            <a:r>
              <a:rPr sz="1575" b="1" i="0">
                <a:solidFill>
                  <a:srgbClr val="11100F"/>
                </a:solidFill>
                <a:latin typeface="Helvetica Neue"/>
                <a:ea typeface="Helvetica Neue"/>
                <a:cs typeface="Helvetica Neue"/>
              </a:rPr>
              <a:t>Insert</a:t>
            </a:r>
          </a:p>
        </p:txBody>
      </p:sp>
      <p:sp>
        <p:nvSpPr>
          <p:cNvPr id="23" name="">
            <a:extLst xmlns:a="http://schemas.openxmlformats.org/drawingml/2006/main">
              <a:ext uri="{FF2B5EF4-FFF2-40B4-BE49-F238E27FC236}">
                <a16:creationId xmlns:a16="http://schemas.microsoft.com/office/drawing/2014/main" id="{FA737A80-E161-4AC4-95DB-841A6768D82D}"/>
              </a:ext>
            </a:extLst>
          </p:cNvPr>
          <p:cNvSpPr>
            <a:spLocks xmlns:a="http://schemas.openxmlformats.org/drawingml/2006/main" noGrp="1"/>
          </p:cNvSpPr>
          <p:nvPr/>
        </p:nvSpPr>
        <p:spPr>
          <a:xfrm xmlns:a="http://schemas.openxmlformats.org/drawingml/2006/main">
            <a:off x="9315450" y="4000500"/>
            <a:ext cx="1447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i="0">
                <a:solidFill>
                  <a:srgbClr val="6F665E"/>
                </a:solidFill>
                <a:latin typeface="Helvetica Neue"/>
                <a:ea typeface="Helvetica Neue"/>
                <a:cs typeface="Helvetica Neue"/>
              </a:defRPr>
            </a:pPr>
            <a:r>
              <a:rPr sz="1275" b="0" i="0">
                <a:solidFill>
                  <a:srgbClr val="6F665E"/>
                </a:solidFill>
                <a:latin typeface="Helvetica Neue"/>
                <a:ea typeface="Helvetica Neue"/>
                <a:cs typeface="Helvetica Neue"/>
              </a:rPr>
              <a:t>Clipboard + Accessibility</a:t>
            </a:r>
          </a:p>
        </p:txBody>
      </p:sp>
      <p:sp>
        <p:nvSpPr>
          <p:cNvPr id="24" name="">
            <a:extLst xmlns:a="http://schemas.openxmlformats.org/drawingml/2006/main">
              <a:ext uri="{FF2B5EF4-FFF2-40B4-BE49-F238E27FC236}">
                <a16:creationId xmlns:a16="http://schemas.microsoft.com/office/drawing/2014/main" id="{CE3A6958-7DF7-447D-8457-4844B789EF8E}"/>
              </a:ext>
            </a:extLst>
          </p:cNvPr>
          <p:cNvSpPr>
            <a:spLocks xmlns:a="http://schemas.openxmlformats.org/drawingml/2006/main" noGrp="1"/>
          </p:cNvSpPr>
          <p:nvPr/>
        </p:nvSpPr>
        <p:spPr>
          <a:xfrm xmlns:a="http://schemas.openxmlformats.org/drawingml/2006/main">
            <a:off x="609600" y="546735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0" i="0">
                <a:solidFill>
                  <a:srgbClr val="6F665E"/>
                </a:solidFill>
                <a:latin typeface="Helvetica Neue"/>
                <a:ea typeface="Helvetica Neue"/>
                <a:cs typeface="Helvetica Neue"/>
              </a:defRPr>
            </a:pPr>
            <a:r>
              <a:rPr sz="1575" b="0" i="0">
                <a:solidFill>
                  <a:srgbClr val="6F665E"/>
                </a:solidFill>
                <a:latin typeface="Helvetica Neue"/>
                <a:ea typeface="Helvetica Neue"/>
                <a:cs typeface="Helvetica Neue"/>
              </a:rPr>
              <a:t>Storage is a separate choice: encrypted transcript history is local, while Private Dictation can leave no record at all.</a:t>
            </a:r>
          </a:p>
        </p:txBody>
      </p:sp>
      <p:sp>
        <p:nvSpPr>
          <p:cNvPr id="25" name="">
            <a:extLst xmlns:a="http://schemas.openxmlformats.org/drawingml/2006/main">
              <a:ext uri="{FF2B5EF4-FFF2-40B4-BE49-F238E27FC236}">
                <a16:creationId xmlns:a16="http://schemas.microsoft.com/office/drawing/2014/main" id="{94B13BA1-3B24-49D3-89FA-126D50DDBD2F}"/>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9D0C5"/>
            </a:solidFill>
            <a:prstDash val="solid"/>
          </a:ln>
        </p:spPr>
      </p:sp>
      <p:sp>
        <p:nvSpPr>
          <p:cNvPr id="26" name="">
            <a:extLst xmlns:a="http://schemas.openxmlformats.org/drawingml/2006/main">
              <a:ext uri="{FF2B5EF4-FFF2-40B4-BE49-F238E27FC236}">
                <a16:creationId xmlns:a16="http://schemas.microsoft.com/office/drawing/2014/main" id="{E3E648A8-B9FA-43CA-B961-17830224212D}"/>
              </a:ext>
            </a:extLst>
          </p:cNvPr>
          <p:cNvSpPr>
            <a:spLocks xmlns:a="http://schemas.openxmlformats.org/drawingml/2006/main" noGrp="1"/>
          </p:cNvSpPr>
          <p:nvPr/>
        </p:nvSpPr>
        <p:spPr>
          <a:xfrm xmlns:a="http://schemas.openxmlformats.org/drawingml/2006/main">
            <a:off x="609600" y="65627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9B9086"/>
                </a:solidFill>
                <a:latin typeface="Helvetica Neue"/>
                <a:ea typeface="Helvetica Neue"/>
                <a:cs typeface="Helvetica Neue"/>
              </a:defRPr>
            </a:pPr>
            <a:r>
              <a:rPr sz="900" b="1" i="0">
                <a:solidFill>
                  <a:srgbClr val="9B9086"/>
                </a:solidFill>
                <a:latin typeface="Helvetica Neue"/>
                <a:ea typeface="Helvetica Neue"/>
                <a:cs typeface="Helvetica Neue"/>
              </a:rPr>
              <a:t>ZENVOICE  |  PRIVATE LOCAL-FIRST DICTATION</a:t>
            </a:r>
          </a:p>
        </p:txBody>
      </p:sp>
      <p:sp>
        <p:nvSpPr>
          <p:cNvPr id="27" name="">
            <a:extLst xmlns:a="http://schemas.openxmlformats.org/drawingml/2006/main">
              <a:ext uri="{FF2B5EF4-FFF2-40B4-BE49-F238E27FC236}">
                <a16:creationId xmlns:a16="http://schemas.microsoft.com/office/drawing/2014/main" id="{3DDBC7EA-99F9-4C63-B058-48A0E3C405F7}"/>
              </a:ext>
            </a:extLst>
          </p:cNvPr>
          <p:cNvSpPr>
            <a:spLocks xmlns:a="http://schemas.openxmlformats.org/drawingml/2006/main" noGrp="1"/>
          </p:cNvSpPr>
          <p:nvPr/>
        </p:nvSpPr>
        <p:spPr>
          <a:xfrm xmlns:a="http://schemas.openxmlformats.org/drawingml/2006/main">
            <a:off x="10668000" y="6562725"/>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9B9086"/>
                </a:solidFill>
                <a:latin typeface="Helvetica Neue"/>
                <a:ea typeface="Helvetica Neue"/>
                <a:cs typeface="Helvetica Neue"/>
              </a:defRPr>
            </a:pPr>
            <a:r>
              <a:rPr sz="900" b="1" i="0">
                <a:solidFill>
                  <a:srgbClr val="9B9086"/>
                </a:solidFill>
                <a:latin typeface="Helvetica Neue"/>
                <a:ea typeface="Helvetica Neue"/>
                <a:cs typeface="Helvetica Neue"/>
              </a:rPr>
              <a:t>08</a:t>
            </a:r>
          </a:p>
        </p:txBody>
      </p:sp>
    </p:spTree>
    <p:extLst>
      <p:ext uri="{BB962C8B-B14F-4D97-AF65-F5344CB8AC3E}">
        <p14:creationId xmlns:p14="http://schemas.microsoft.com/office/powerpoint/2010/main" val="266695748"/>
      </p:ext>
    </p:extLst>
  </p:cSld>
  <p:transition spd="med" advClick="1">
    <p:fade/>
  </p:transition>
</p:sld>
</file>

<file path=ppt/slides/slide9.xml><?xml version="1.0" encoding="utf-8"?>
<p:sld xmlns:p="http://schemas.openxmlformats.org/presentationml/2006/main">
  <p:cSld>
    <p:bg>
      <p:bgPr>
        <a:solidFill xmlns:a="http://schemas.openxmlformats.org/drawingml/2006/main">
          <a:srgbClr val="FCFAF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AAE0BF6-4396-4BDF-BD21-758D822E8459}"/>
              </a:ext>
            </a:extLst>
          </p:cNvPr>
          <p:cNvSpPr>
            <a:spLocks xmlns:a="http://schemas.openxmlformats.org/drawingml/2006/main" noGrp="1"/>
          </p:cNvSpPr>
          <p:nvPr/>
        </p:nvSpPr>
        <p:spPr>
          <a:xfrm xmlns:a="http://schemas.openxmlformats.org/drawingml/2006/main">
            <a:off x="609600" y="457200"/>
            <a:ext cx="1104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B58A4A"/>
                </a:solidFill>
                <a:latin typeface="Helvetica Neue"/>
                <a:ea typeface="Helvetica Neue"/>
                <a:cs typeface="Helvetica Neue"/>
              </a:defRPr>
            </a:pPr>
            <a:r>
              <a:rPr sz="1125" b="1" i="0">
                <a:solidFill>
                  <a:srgbClr val="B58A4A"/>
                </a:solidFill>
                <a:latin typeface="Helvetica Neue"/>
                <a:ea typeface="Helvetica Neue"/>
                <a:cs typeface="Helvetica Neue"/>
              </a:rPr>
              <a:t>09  /  LOCAL AI MODEL STRATEGY</a:t>
            </a:r>
          </a:p>
        </p:txBody>
      </p:sp>
      <p:sp>
        <p:nvSpPr>
          <p:cNvPr id="2" name="">
            <a:extLst xmlns:a="http://schemas.openxmlformats.org/drawingml/2006/main">
              <a:ext uri="{FF2B5EF4-FFF2-40B4-BE49-F238E27FC236}">
                <a16:creationId xmlns:a16="http://schemas.microsoft.com/office/drawing/2014/main" id="{82543A6B-8D41-44BA-AD0C-6B0FA75DA7D0}"/>
              </a:ext>
            </a:extLst>
          </p:cNvPr>
          <p:cNvSpPr>
            <a:spLocks xmlns:a="http://schemas.openxmlformats.org/drawingml/2006/main" noGrp="1"/>
          </p:cNvSpPr>
          <p:nvPr/>
        </p:nvSpPr>
        <p:spPr>
          <a:xfrm xmlns:a="http://schemas.openxmlformats.org/drawingml/2006/main">
            <a:off x="609600" y="838200"/>
            <a:ext cx="10287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00F"/>
                </a:solidFill>
                <a:latin typeface="Helvetica Neue"/>
                <a:ea typeface="Helvetica Neue"/>
                <a:cs typeface="Helvetica Neue"/>
              </a:defRPr>
            </a:pPr>
            <a:r>
              <a:rPr sz="3000" b="1" i="0">
                <a:solidFill>
                  <a:srgbClr val="11100F"/>
                </a:solidFill>
                <a:latin typeface="Helvetica Neue"/>
                <a:ea typeface="Helvetica Neue"/>
                <a:cs typeface="Helvetica Neue"/>
              </a:rPr>
              <a:t>One model does not fit every language or Mac.</a:t>
            </a:r>
          </a:p>
        </p:txBody>
      </p:sp>
      <p:sp>
        <p:nvSpPr>
          <p:cNvPr id="3" name="">
            <a:extLst xmlns:a="http://schemas.openxmlformats.org/drawingml/2006/main">
              <a:ext uri="{FF2B5EF4-FFF2-40B4-BE49-F238E27FC236}">
                <a16:creationId xmlns:a16="http://schemas.microsoft.com/office/drawing/2014/main" id="{E3AC5038-4130-4169-9351-F918131D6349}"/>
              </a:ext>
            </a:extLst>
          </p:cNvPr>
          <p:cNvSpPr>
            <a:spLocks xmlns:a="http://schemas.openxmlformats.org/drawingml/2006/main" noGrp="1"/>
          </p:cNvSpPr>
          <p:nvPr/>
        </p:nvSpPr>
        <p:spPr>
          <a:xfrm xmlns:a="http://schemas.openxmlformats.org/drawingml/2006/main">
            <a:off x="609600" y="1952625"/>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6F665E"/>
                </a:solidFill>
                <a:latin typeface="Helvetica Neue"/>
                <a:ea typeface="Helvetica Neue"/>
                <a:cs typeface="Helvetica Neue"/>
              </a:defRPr>
            </a:pPr>
            <a:r>
              <a:rPr sz="1575" b="0" i="0">
                <a:solidFill>
                  <a:srgbClr val="6F665E"/>
                </a:solidFill>
                <a:latin typeface="Helvetica Neue"/>
                <a:ea typeface="Helvetica Neue"/>
                <a:cs typeface="Helvetica Neue"/>
              </a:rPr>
              <a:t>ZenVoice keeps an explicit, hardware-aware model catalogue so that the app recommends an engine rather than treating all models as interchangeable.</a:t>
            </a:r>
          </a:p>
        </p:txBody>
      </p:sp>
      <p:sp>
        <p:nvSpPr>
          <p:cNvPr id="4" name="">
            <a:extLst xmlns:a="http://schemas.openxmlformats.org/drawingml/2006/main">
              <a:ext uri="{FF2B5EF4-FFF2-40B4-BE49-F238E27FC236}">
                <a16:creationId xmlns:a16="http://schemas.microsoft.com/office/drawing/2014/main" id="{EB95539C-29EF-427E-9E22-72968E0712B1}"/>
              </a:ext>
            </a:extLst>
          </p:cNvPr>
          <p:cNvSpPr>
            <a:spLocks xmlns:a="http://schemas.openxmlformats.org/drawingml/2006/main" noGrp="1"/>
          </p:cNvSpPr>
          <p:nvPr/>
        </p:nvSpPr>
        <p:spPr>
          <a:xfrm xmlns:a="http://schemas.openxmlformats.org/drawingml/2006/main">
            <a:off x="609600" y="2533650"/>
            <a:ext cx="10972800" cy="0"/>
          </a:xfrm>
          <a:prstGeom xmlns:a="http://schemas.openxmlformats.org/drawingml/2006/main" prst="line">
            <a:avLst/>
          </a:prstGeom>
          <a:noFill xmlns:a="http://schemas.openxmlformats.org/drawingml/2006/main"/>
          <a:ln xmlns:a="http://schemas.openxmlformats.org/drawingml/2006/main" w="9525">
            <a:solidFill>
              <a:srgbClr val="D9D0C5"/>
            </a:solidFill>
            <a:prstDash val="solid"/>
          </a:ln>
        </p:spPr>
      </p:sp>
      <p:sp>
        <p:nvSpPr>
          <p:cNvPr id="5" name="">
            <a:extLst xmlns:a="http://schemas.openxmlformats.org/drawingml/2006/main">
              <a:ext uri="{FF2B5EF4-FFF2-40B4-BE49-F238E27FC236}">
                <a16:creationId xmlns:a16="http://schemas.microsoft.com/office/drawing/2014/main" id="{BE0B3700-5BB2-4740-90A9-46C86B6CAFCF}"/>
              </a:ext>
            </a:extLst>
          </p:cNvPr>
          <p:cNvSpPr>
            <a:spLocks xmlns:a="http://schemas.openxmlformats.org/drawingml/2006/main" noGrp="1"/>
          </p:cNvSpPr>
          <p:nvPr/>
        </p:nvSpPr>
        <p:spPr>
          <a:xfrm xmlns:a="http://schemas.openxmlformats.org/drawingml/2006/main">
            <a:off x="609600" y="2990850"/>
            <a:ext cx="3162300" cy="2381250"/>
          </a:xfrm>
          <a:prstGeom xmlns:a="http://schemas.openxmlformats.org/drawingml/2006/main" prst="roundRect">
            <a:avLst>
              <a:gd name="adj" fmla="val 8800"/>
            </a:avLst>
          </a:prstGeom>
          <a:solidFill xmlns:a="http://schemas.openxmlformats.org/drawingml/2006/main">
            <a:srgbClr val="F6F2EC"/>
          </a:solidFill>
          <a:ln xmlns:a="http://schemas.openxmlformats.org/drawingml/2006/main" w="9525">
            <a:solidFill>
              <a:srgbClr val="D9D0C5"/>
            </a:solidFill>
            <a:prstDash val="solid"/>
          </a:ln>
        </p:spPr>
      </p:sp>
      <p:sp>
        <p:nvSpPr>
          <p:cNvPr id="6" name="">
            <a:extLst xmlns:a="http://schemas.openxmlformats.org/drawingml/2006/main">
              <a:ext uri="{FF2B5EF4-FFF2-40B4-BE49-F238E27FC236}">
                <a16:creationId xmlns:a16="http://schemas.microsoft.com/office/drawing/2014/main" id="{A396FDA7-09BA-4772-A826-845DD9D539CB}"/>
              </a:ext>
            </a:extLst>
          </p:cNvPr>
          <p:cNvSpPr>
            <a:spLocks xmlns:a="http://schemas.openxmlformats.org/drawingml/2006/main" noGrp="1"/>
          </p:cNvSpPr>
          <p:nvPr/>
        </p:nvSpPr>
        <p:spPr>
          <a:xfrm xmlns:a="http://schemas.openxmlformats.org/drawingml/2006/main">
            <a:off x="609600" y="2990850"/>
            <a:ext cx="3162300" cy="114300"/>
          </a:xfrm>
          <a:prstGeom xmlns:a="http://schemas.openxmlformats.org/drawingml/2006/main" prst="roundRect">
            <a:avLst>
              <a:gd name="adj" fmla="val 50000"/>
            </a:avLst>
          </a:prstGeom>
          <a:solidFill xmlns:a="http://schemas.openxmlformats.org/drawingml/2006/main">
            <a:srgbClr val="B58A4A"/>
          </a:solidFill>
          <a:ln xmlns:a="http://schemas.openxmlformats.org/drawingml/2006/main" w="0">
            <a:solidFill>
              <a:srgbClr val="B58A4A"/>
            </a:solidFill>
            <a:prstDash val="solid"/>
          </a:ln>
        </p:spPr>
      </p:sp>
      <p:sp>
        <p:nvSpPr>
          <p:cNvPr id="7" name="">
            <a:extLst xmlns:a="http://schemas.openxmlformats.org/drawingml/2006/main">
              <a:ext uri="{FF2B5EF4-FFF2-40B4-BE49-F238E27FC236}">
                <a16:creationId xmlns:a16="http://schemas.microsoft.com/office/drawing/2014/main" id="{8E36EDDA-C1C0-4BD1-9107-B4B51C957696}"/>
              </a:ext>
            </a:extLst>
          </p:cNvPr>
          <p:cNvSpPr>
            <a:spLocks xmlns:a="http://schemas.openxmlformats.org/drawingml/2006/main" noGrp="1"/>
          </p:cNvSpPr>
          <p:nvPr/>
        </p:nvSpPr>
        <p:spPr>
          <a:xfrm xmlns:a="http://schemas.openxmlformats.org/drawingml/2006/main">
            <a:off x="857250" y="3333750"/>
            <a:ext cx="2647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i="0">
                <a:solidFill>
                  <a:srgbClr val="11100F"/>
                </a:solidFill>
                <a:latin typeface="Helvetica Neue"/>
                <a:ea typeface="Helvetica Neue"/>
                <a:cs typeface="Helvetica Neue"/>
              </a:defRPr>
            </a:pPr>
            <a:r>
              <a:rPr sz="2025" b="1" i="0">
                <a:solidFill>
                  <a:srgbClr val="11100F"/>
                </a:solidFill>
                <a:latin typeface="Helvetica Neue"/>
                <a:ea typeface="Helvetica Neue"/>
                <a:cs typeface="Helvetica Neue"/>
              </a:rPr>
              <a:t>Parakeet TDT v3</a:t>
            </a:r>
          </a:p>
        </p:txBody>
      </p:sp>
      <p:sp>
        <p:nvSpPr>
          <p:cNvPr id="8" name="">
            <a:extLst xmlns:a="http://schemas.openxmlformats.org/drawingml/2006/main">
              <a:ext uri="{FF2B5EF4-FFF2-40B4-BE49-F238E27FC236}">
                <a16:creationId xmlns:a16="http://schemas.microsoft.com/office/drawing/2014/main" id="{51AE20FD-2265-4C91-A34A-3E268B4D9093}"/>
              </a:ext>
            </a:extLst>
          </p:cNvPr>
          <p:cNvSpPr>
            <a:spLocks xmlns:a="http://schemas.openxmlformats.org/drawingml/2006/main" noGrp="1"/>
          </p:cNvSpPr>
          <p:nvPr/>
        </p:nvSpPr>
        <p:spPr>
          <a:xfrm xmlns:a="http://schemas.openxmlformats.org/drawingml/2006/main">
            <a:off x="857250" y="3990975"/>
            <a:ext cx="2647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6F665E"/>
                </a:solidFill>
                <a:latin typeface="Helvetica Neue"/>
                <a:ea typeface="Helvetica Neue"/>
                <a:cs typeface="Helvetica Neue"/>
              </a:defRPr>
            </a:pPr>
            <a:r>
              <a:rPr sz="1500" b="0" i="0">
                <a:solidFill>
                  <a:srgbClr val="6F665E"/>
                </a:solidFill>
                <a:latin typeface="Helvetica Neue"/>
                <a:ea typeface="Helvetica Neue"/>
                <a:cs typeface="Helvetica Neue"/>
              </a:rPr>
              <a:t>Recommended final insert for English and supported European languages on Apple Silicon.</a:t>
            </a:r>
          </a:p>
        </p:txBody>
      </p:sp>
      <p:sp>
        <p:nvSpPr>
          <p:cNvPr id="9" name="">
            <a:extLst xmlns:a="http://schemas.openxmlformats.org/drawingml/2006/main">
              <a:ext uri="{FF2B5EF4-FFF2-40B4-BE49-F238E27FC236}">
                <a16:creationId xmlns:a16="http://schemas.microsoft.com/office/drawing/2014/main" id="{A7F43102-BD5F-4928-A33F-B96A0CF93929}"/>
              </a:ext>
            </a:extLst>
          </p:cNvPr>
          <p:cNvSpPr>
            <a:spLocks xmlns:a="http://schemas.openxmlformats.org/drawingml/2006/main" noGrp="1"/>
          </p:cNvSpPr>
          <p:nvPr/>
        </p:nvSpPr>
        <p:spPr>
          <a:xfrm xmlns:a="http://schemas.openxmlformats.org/drawingml/2006/main">
            <a:off x="857250" y="4905375"/>
            <a:ext cx="2647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B58A4A"/>
                </a:solidFill>
                <a:latin typeface="Helvetica Neue"/>
                <a:ea typeface="Helvetica Neue"/>
                <a:cs typeface="Helvetica Neue"/>
              </a:defRPr>
            </a:pPr>
            <a:r>
              <a:rPr sz="1125" b="1" i="0">
                <a:solidFill>
                  <a:srgbClr val="B58A4A"/>
                </a:solidFill>
                <a:latin typeface="Helvetica Neue"/>
                <a:ea typeface="Helvetica Neue"/>
                <a:cs typeface="Helvetica Neue"/>
              </a:rPr>
              <a:t>25 languages • Apple Silicon</a:t>
            </a:r>
          </a:p>
        </p:txBody>
      </p:sp>
      <p:sp>
        <p:nvSpPr>
          <p:cNvPr id="10" name="">
            <a:extLst xmlns:a="http://schemas.openxmlformats.org/drawingml/2006/main">
              <a:ext uri="{FF2B5EF4-FFF2-40B4-BE49-F238E27FC236}">
                <a16:creationId xmlns:a16="http://schemas.microsoft.com/office/drawing/2014/main" id="{13F683A6-F9FD-448F-A1B6-7C5DD0EF19AC}"/>
              </a:ext>
            </a:extLst>
          </p:cNvPr>
          <p:cNvSpPr>
            <a:spLocks xmlns:a="http://schemas.openxmlformats.org/drawingml/2006/main" noGrp="1"/>
          </p:cNvSpPr>
          <p:nvPr/>
        </p:nvSpPr>
        <p:spPr>
          <a:xfrm xmlns:a="http://schemas.openxmlformats.org/drawingml/2006/main">
            <a:off x="4114800" y="2990850"/>
            <a:ext cx="3162300" cy="2381250"/>
          </a:xfrm>
          <a:prstGeom xmlns:a="http://schemas.openxmlformats.org/drawingml/2006/main" prst="roundRect">
            <a:avLst>
              <a:gd name="adj" fmla="val 8800"/>
            </a:avLst>
          </a:prstGeom>
          <a:solidFill xmlns:a="http://schemas.openxmlformats.org/drawingml/2006/main">
            <a:srgbClr val="F6F2EC"/>
          </a:solidFill>
          <a:ln xmlns:a="http://schemas.openxmlformats.org/drawingml/2006/main" w="9525">
            <a:solidFill>
              <a:srgbClr val="D9D0C5"/>
            </a:solidFill>
            <a:prstDash val="solid"/>
          </a:ln>
        </p:spPr>
      </p:sp>
      <p:sp>
        <p:nvSpPr>
          <p:cNvPr id="11" name="">
            <a:extLst xmlns:a="http://schemas.openxmlformats.org/drawingml/2006/main">
              <a:ext uri="{FF2B5EF4-FFF2-40B4-BE49-F238E27FC236}">
                <a16:creationId xmlns:a16="http://schemas.microsoft.com/office/drawing/2014/main" id="{CC0E96FB-3C60-4AF8-AFE9-EF4A9A64A678}"/>
              </a:ext>
            </a:extLst>
          </p:cNvPr>
          <p:cNvSpPr>
            <a:spLocks xmlns:a="http://schemas.openxmlformats.org/drawingml/2006/main" noGrp="1"/>
          </p:cNvSpPr>
          <p:nvPr/>
        </p:nvSpPr>
        <p:spPr>
          <a:xfrm xmlns:a="http://schemas.openxmlformats.org/drawingml/2006/main">
            <a:off x="4114800" y="2990850"/>
            <a:ext cx="3162300" cy="114300"/>
          </a:xfrm>
          <a:prstGeom xmlns:a="http://schemas.openxmlformats.org/drawingml/2006/main" prst="roundRect">
            <a:avLst>
              <a:gd name="adj" fmla="val 50000"/>
            </a:avLst>
          </a:prstGeom>
          <a:solidFill xmlns:a="http://schemas.openxmlformats.org/drawingml/2006/main">
            <a:srgbClr val="256B5B"/>
          </a:solidFill>
          <a:ln xmlns:a="http://schemas.openxmlformats.org/drawingml/2006/main" w="0">
            <a:solidFill>
              <a:srgbClr val="256B5B"/>
            </a:solidFill>
            <a:prstDash val="solid"/>
          </a:ln>
        </p:spPr>
      </p:sp>
      <p:sp>
        <p:nvSpPr>
          <p:cNvPr id="12" name="">
            <a:extLst xmlns:a="http://schemas.openxmlformats.org/drawingml/2006/main">
              <a:ext uri="{FF2B5EF4-FFF2-40B4-BE49-F238E27FC236}">
                <a16:creationId xmlns:a16="http://schemas.microsoft.com/office/drawing/2014/main" id="{32A54237-82FB-4D6C-9427-495C00448FDE}"/>
              </a:ext>
            </a:extLst>
          </p:cNvPr>
          <p:cNvSpPr>
            <a:spLocks xmlns:a="http://schemas.openxmlformats.org/drawingml/2006/main" noGrp="1"/>
          </p:cNvSpPr>
          <p:nvPr/>
        </p:nvSpPr>
        <p:spPr>
          <a:xfrm xmlns:a="http://schemas.openxmlformats.org/drawingml/2006/main">
            <a:off x="4362450" y="3333750"/>
            <a:ext cx="2647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i="0">
                <a:solidFill>
                  <a:srgbClr val="11100F"/>
                </a:solidFill>
                <a:latin typeface="Helvetica Neue"/>
                <a:ea typeface="Helvetica Neue"/>
                <a:cs typeface="Helvetica Neue"/>
              </a:defRPr>
            </a:pPr>
            <a:r>
              <a:rPr sz="2025" b="1" i="0">
                <a:solidFill>
                  <a:srgbClr val="11100F"/>
                </a:solidFill>
                <a:latin typeface="Helvetica Neue"/>
                <a:ea typeface="Helvetica Neue"/>
                <a:cs typeface="Helvetica Neue"/>
              </a:rPr>
              <a:t>Whisper Turbo</a:t>
            </a:r>
          </a:p>
        </p:txBody>
      </p:sp>
      <p:sp>
        <p:nvSpPr>
          <p:cNvPr id="13" name="">
            <a:extLst xmlns:a="http://schemas.openxmlformats.org/drawingml/2006/main">
              <a:ext uri="{FF2B5EF4-FFF2-40B4-BE49-F238E27FC236}">
                <a16:creationId xmlns:a16="http://schemas.microsoft.com/office/drawing/2014/main" id="{E3896AAF-DA32-49FA-800C-8C09AB3220A8}"/>
              </a:ext>
            </a:extLst>
          </p:cNvPr>
          <p:cNvSpPr>
            <a:spLocks xmlns:a="http://schemas.openxmlformats.org/drawingml/2006/main" noGrp="1"/>
          </p:cNvSpPr>
          <p:nvPr/>
        </p:nvSpPr>
        <p:spPr>
          <a:xfrm xmlns:a="http://schemas.openxmlformats.org/drawingml/2006/main">
            <a:off x="4362450" y="3990975"/>
            <a:ext cx="2647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6F665E"/>
                </a:solidFill>
                <a:latin typeface="Helvetica Neue"/>
                <a:ea typeface="Helvetica Neue"/>
                <a:cs typeface="Helvetica Neue"/>
              </a:defRPr>
            </a:pPr>
            <a:r>
              <a:rPr sz="1500" b="0" i="0">
                <a:solidFill>
                  <a:srgbClr val="6F665E"/>
                </a:solidFill>
                <a:latin typeface="Helvetica Neue"/>
                <a:ea typeface="Helvetica Neue"/>
                <a:cs typeface="Helvetica Neue"/>
              </a:rPr>
              <a:t>Multilingual and auto-detect fallback for a broad set of languages.</a:t>
            </a:r>
          </a:p>
        </p:txBody>
      </p:sp>
      <p:sp>
        <p:nvSpPr>
          <p:cNvPr id="14" name="">
            <a:extLst xmlns:a="http://schemas.openxmlformats.org/drawingml/2006/main">
              <a:ext uri="{FF2B5EF4-FFF2-40B4-BE49-F238E27FC236}">
                <a16:creationId xmlns:a16="http://schemas.microsoft.com/office/drawing/2014/main" id="{8A37582B-8434-4CD2-9591-FAA6D88DB508}"/>
              </a:ext>
            </a:extLst>
          </p:cNvPr>
          <p:cNvSpPr>
            <a:spLocks xmlns:a="http://schemas.openxmlformats.org/drawingml/2006/main" noGrp="1"/>
          </p:cNvSpPr>
          <p:nvPr/>
        </p:nvSpPr>
        <p:spPr>
          <a:xfrm xmlns:a="http://schemas.openxmlformats.org/drawingml/2006/main">
            <a:off x="4362450" y="4905375"/>
            <a:ext cx="2647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256B5B"/>
                </a:solidFill>
                <a:latin typeface="Helvetica Neue"/>
                <a:ea typeface="Helvetica Neue"/>
                <a:cs typeface="Helvetica Neue"/>
              </a:defRPr>
            </a:pPr>
            <a:r>
              <a:rPr sz="1125" b="1" i="0">
                <a:solidFill>
                  <a:srgbClr val="256B5B"/>
                </a:solidFill>
                <a:latin typeface="Helvetica Neue"/>
                <a:ea typeface="Helvetica Neue"/>
                <a:cs typeface="Helvetica Neue"/>
              </a:rPr>
              <a:t>Up to 99 languages • Apple Silicon</a:t>
            </a:r>
          </a:p>
        </p:txBody>
      </p:sp>
      <p:sp>
        <p:nvSpPr>
          <p:cNvPr id="15" name="">
            <a:extLst xmlns:a="http://schemas.openxmlformats.org/drawingml/2006/main">
              <a:ext uri="{FF2B5EF4-FFF2-40B4-BE49-F238E27FC236}">
                <a16:creationId xmlns:a16="http://schemas.microsoft.com/office/drawing/2014/main" id="{DCC9D946-87EA-41B4-A20B-08D078C9438A}"/>
              </a:ext>
            </a:extLst>
          </p:cNvPr>
          <p:cNvSpPr>
            <a:spLocks xmlns:a="http://schemas.openxmlformats.org/drawingml/2006/main" noGrp="1"/>
          </p:cNvSpPr>
          <p:nvPr/>
        </p:nvSpPr>
        <p:spPr>
          <a:xfrm xmlns:a="http://schemas.openxmlformats.org/drawingml/2006/main">
            <a:off x="7620000" y="2990850"/>
            <a:ext cx="3162300" cy="2381250"/>
          </a:xfrm>
          <a:prstGeom xmlns:a="http://schemas.openxmlformats.org/drawingml/2006/main" prst="roundRect">
            <a:avLst>
              <a:gd name="adj" fmla="val 8800"/>
            </a:avLst>
          </a:prstGeom>
          <a:solidFill xmlns:a="http://schemas.openxmlformats.org/drawingml/2006/main">
            <a:srgbClr val="F6F2EC"/>
          </a:solidFill>
          <a:ln xmlns:a="http://schemas.openxmlformats.org/drawingml/2006/main" w="9525">
            <a:solidFill>
              <a:srgbClr val="D9D0C5"/>
            </a:solidFill>
            <a:prstDash val="solid"/>
          </a:ln>
        </p:spPr>
      </p:sp>
      <p:sp>
        <p:nvSpPr>
          <p:cNvPr id="16" name="">
            <a:extLst xmlns:a="http://schemas.openxmlformats.org/drawingml/2006/main">
              <a:ext uri="{FF2B5EF4-FFF2-40B4-BE49-F238E27FC236}">
                <a16:creationId xmlns:a16="http://schemas.microsoft.com/office/drawing/2014/main" id="{2872CBF3-4F7D-45D6-80EC-B3E09FFC8ED2}"/>
              </a:ext>
            </a:extLst>
          </p:cNvPr>
          <p:cNvSpPr>
            <a:spLocks xmlns:a="http://schemas.openxmlformats.org/drawingml/2006/main" noGrp="1"/>
          </p:cNvSpPr>
          <p:nvPr/>
        </p:nvSpPr>
        <p:spPr>
          <a:xfrm xmlns:a="http://schemas.openxmlformats.org/drawingml/2006/main">
            <a:off x="7620000" y="2990850"/>
            <a:ext cx="3162300" cy="114300"/>
          </a:xfrm>
          <a:prstGeom xmlns:a="http://schemas.openxmlformats.org/drawingml/2006/main" prst="roundRect">
            <a:avLst>
              <a:gd name="adj" fmla="val 50000"/>
            </a:avLst>
          </a:prstGeom>
          <a:solidFill xmlns:a="http://schemas.openxmlformats.org/drawingml/2006/main">
            <a:srgbClr val="A74538"/>
          </a:solidFill>
          <a:ln xmlns:a="http://schemas.openxmlformats.org/drawingml/2006/main" w="0">
            <a:solidFill>
              <a:srgbClr val="A74538"/>
            </a:solidFill>
            <a:prstDash val="solid"/>
          </a:ln>
        </p:spPr>
      </p:sp>
      <p:sp>
        <p:nvSpPr>
          <p:cNvPr id="17" name="">
            <a:extLst xmlns:a="http://schemas.openxmlformats.org/drawingml/2006/main">
              <a:ext uri="{FF2B5EF4-FFF2-40B4-BE49-F238E27FC236}">
                <a16:creationId xmlns:a16="http://schemas.microsoft.com/office/drawing/2014/main" id="{53E5724D-FE5C-4C72-B26C-B9147E60C65F}"/>
              </a:ext>
            </a:extLst>
          </p:cNvPr>
          <p:cNvSpPr>
            <a:spLocks xmlns:a="http://schemas.openxmlformats.org/drawingml/2006/main" noGrp="1"/>
          </p:cNvSpPr>
          <p:nvPr/>
        </p:nvSpPr>
        <p:spPr>
          <a:xfrm xmlns:a="http://schemas.openxmlformats.org/drawingml/2006/main">
            <a:off x="7867650" y="3333750"/>
            <a:ext cx="2647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i="0">
                <a:solidFill>
                  <a:srgbClr val="11100F"/>
                </a:solidFill>
                <a:latin typeface="Helvetica Neue"/>
                <a:ea typeface="Helvetica Neue"/>
                <a:cs typeface="Helvetica Neue"/>
              </a:defRPr>
            </a:pPr>
            <a:r>
              <a:rPr sz="2025" b="1" i="0">
                <a:solidFill>
                  <a:srgbClr val="11100F"/>
                </a:solidFill>
                <a:latin typeface="Helvetica Neue"/>
                <a:ea typeface="Helvetica Neue"/>
                <a:cs typeface="Helvetica Neue"/>
              </a:rPr>
              <a:t>Apple Speech</a:t>
            </a:r>
          </a:p>
        </p:txBody>
      </p:sp>
      <p:sp>
        <p:nvSpPr>
          <p:cNvPr id="18" name="">
            <a:extLst xmlns:a="http://schemas.openxmlformats.org/drawingml/2006/main">
              <a:ext uri="{FF2B5EF4-FFF2-40B4-BE49-F238E27FC236}">
                <a16:creationId xmlns:a16="http://schemas.microsoft.com/office/drawing/2014/main" id="{3F4BE745-0C54-4F12-BFFC-1E3B49105ECB}"/>
              </a:ext>
            </a:extLst>
          </p:cNvPr>
          <p:cNvSpPr>
            <a:spLocks xmlns:a="http://schemas.openxmlformats.org/drawingml/2006/main" noGrp="1"/>
          </p:cNvSpPr>
          <p:nvPr/>
        </p:nvSpPr>
        <p:spPr>
          <a:xfrm xmlns:a="http://schemas.openxmlformats.org/drawingml/2006/main">
            <a:off x="7867650" y="3990975"/>
            <a:ext cx="2647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6F665E"/>
                </a:solidFill>
                <a:latin typeface="Helvetica Neue"/>
                <a:ea typeface="Helvetica Neue"/>
                <a:cs typeface="Helvetica Neue"/>
              </a:defRPr>
            </a:pPr>
            <a:r>
              <a:rPr sz="1500" b="0" i="0">
                <a:solidFill>
                  <a:srgbClr val="6F665E"/>
                </a:solidFill>
                <a:latin typeface="Helvetica Neue"/>
                <a:ea typeface="Helvetica Neue"/>
                <a:cs typeface="Helvetica Neue"/>
              </a:rPr>
              <a:t>Zero-download fallback that uses installed on-device macOS Speech languages.</a:t>
            </a:r>
          </a:p>
        </p:txBody>
      </p:sp>
      <p:sp>
        <p:nvSpPr>
          <p:cNvPr id="19" name="">
            <a:extLst xmlns:a="http://schemas.openxmlformats.org/drawingml/2006/main">
              <a:ext uri="{FF2B5EF4-FFF2-40B4-BE49-F238E27FC236}">
                <a16:creationId xmlns:a16="http://schemas.microsoft.com/office/drawing/2014/main" id="{A3E2D215-9F8C-4FA9-9B05-77193B20ABC8}"/>
              </a:ext>
            </a:extLst>
          </p:cNvPr>
          <p:cNvSpPr>
            <a:spLocks xmlns:a="http://schemas.openxmlformats.org/drawingml/2006/main" noGrp="1"/>
          </p:cNvSpPr>
          <p:nvPr/>
        </p:nvSpPr>
        <p:spPr>
          <a:xfrm xmlns:a="http://schemas.openxmlformats.org/drawingml/2006/main">
            <a:off x="7867650" y="4905375"/>
            <a:ext cx="2647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A74538"/>
                </a:solidFill>
                <a:latin typeface="Helvetica Neue"/>
                <a:ea typeface="Helvetica Neue"/>
                <a:cs typeface="Helvetica Neue"/>
              </a:defRPr>
            </a:pPr>
            <a:r>
              <a:rPr sz="1125" b="1" i="0">
                <a:solidFill>
                  <a:srgbClr val="A74538"/>
                </a:solidFill>
                <a:latin typeface="Helvetica Neue"/>
                <a:ea typeface="Helvetica Neue"/>
                <a:cs typeface="Helvetica Neue"/>
              </a:rPr>
              <a:t>System languages • Apple Silicon + Intel</a:t>
            </a:r>
          </a:p>
        </p:txBody>
      </p:sp>
      <p:sp>
        <p:nvSpPr>
          <p:cNvPr id="20" name="">
            <a:extLst xmlns:a="http://schemas.openxmlformats.org/drawingml/2006/main">
              <a:ext uri="{FF2B5EF4-FFF2-40B4-BE49-F238E27FC236}">
                <a16:creationId xmlns:a16="http://schemas.microsoft.com/office/drawing/2014/main" id="{EC0DDF9C-39F7-4864-992D-80A2BC4A178A}"/>
              </a:ext>
            </a:extLst>
          </p:cNvPr>
          <p:cNvSpPr>
            <a:spLocks xmlns:a="http://schemas.openxmlformats.org/drawingml/2006/main" noGrp="1"/>
          </p:cNvSpPr>
          <p:nvPr/>
        </p:nvSpPr>
        <p:spPr>
          <a:xfrm xmlns:a="http://schemas.openxmlformats.org/drawingml/2006/main">
            <a:off x="609600" y="5686425"/>
            <a:ext cx="1076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i="0">
                <a:solidFill>
                  <a:srgbClr val="6F665E"/>
                </a:solidFill>
                <a:latin typeface="Helvetica Neue"/>
                <a:ea typeface="Helvetica Neue"/>
                <a:cs typeface="Helvetica Neue"/>
              </a:defRPr>
            </a:pPr>
            <a:r>
              <a:rPr sz="1425" b="0" i="0">
                <a:solidFill>
                  <a:srgbClr val="6F665E"/>
                </a:solidFill>
                <a:latin typeface="Helvetica Neue"/>
                <a:ea typeface="Helvetica Neue"/>
                <a:cs typeface="Helvetica Neue"/>
              </a:rPr>
              <a:t>Model files are selected, downloaded, verified, and removable through the app — the engine runtime and model file are treated as separate things.</a:t>
            </a:r>
          </a:p>
        </p:txBody>
      </p:sp>
      <p:sp>
        <p:nvSpPr>
          <p:cNvPr id="21" name="">
            <a:extLst xmlns:a="http://schemas.openxmlformats.org/drawingml/2006/main">
              <a:ext uri="{FF2B5EF4-FFF2-40B4-BE49-F238E27FC236}">
                <a16:creationId xmlns:a16="http://schemas.microsoft.com/office/drawing/2014/main" id="{B93649DE-9D45-4B50-BEEF-893F9C2F7358}"/>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9D0C5"/>
            </a:solidFill>
            <a:prstDash val="solid"/>
          </a:ln>
        </p:spPr>
      </p:sp>
      <p:sp>
        <p:nvSpPr>
          <p:cNvPr id="22" name="">
            <a:extLst xmlns:a="http://schemas.openxmlformats.org/drawingml/2006/main">
              <a:ext uri="{FF2B5EF4-FFF2-40B4-BE49-F238E27FC236}">
                <a16:creationId xmlns:a16="http://schemas.microsoft.com/office/drawing/2014/main" id="{3EC4829A-2636-4F4E-B8AD-7D8DF041D4E2}"/>
              </a:ext>
            </a:extLst>
          </p:cNvPr>
          <p:cNvSpPr>
            <a:spLocks xmlns:a="http://schemas.openxmlformats.org/drawingml/2006/main" noGrp="1"/>
          </p:cNvSpPr>
          <p:nvPr/>
        </p:nvSpPr>
        <p:spPr>
          <a:xfrm xmlns:a="http://schemas.openxmlformats.org/drawingml/2006/main">
            <a:off x="609600" y="65627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9B9086"/>
                </a:solidFill>
                <a:latin typeface="Helvetica Neue"/>
                <a:ea typeface="Helvetica Neue"/>
                <a:cs typeface="Helvetica Neue"/>
              </a:defRPr>
            </a:pPr>
            <a:r>
              <a:rPr sz="900" b="1" i="0">
                <a:solidFill>
                  <a:srgbClr val="9B9086"/>
                </a:solidFill>
                <a:latin typeface="Helvetica Neue"/>
                <a:ea typeface="Helvetica Neue"/>
                <a:cs typeface="Helvetica Neue"/>
              </a:rPr>
              <a:t>ZENVOICE  |  PRIVATE LOCAL-FIRST DICTATION</a:t>
            </a:r>
          </a:p>
        </p:txBody>
      </p:sp>
      <p:sp>
        <p:nvSpPr>
          <p:cNvPr id="23" name="">
            <a:extLst xmlns:a="http://schemas.openxmlformats.org/drawingml/2006/main">
              <a:ext uri="{FF2B5EF4-FFF2-40B4-BE49-F238E27FC236}">
                <a16:creationId xmlns:a16="http://schemas.microsoft.com/office/drawing/2014/main" id="{3DC4AA3B-2CF2-4FDA-A4F7-9FDCD6DCC889}"/>
              </a:ext>
            </a:extLst>
          </p:cNvPr>
          <p:cNvSpPr>
            <a:spLocks xmlns:a="http://schemas.openxmlformats.org/drawingml/2006/main" noGrp="1"/>
          </p:cNvSpPr>
          <p:nvPr/>
        </p:nvSpPr>
        <p:spPr>
          <a:xfrm xmlns:a="http://schemas.openxmlformats.org/drawingml/2006/main">
            <a:off x="10668000" y="6562725"/>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9B9086"/>
                </a:solidFill>
                <a:latin typeface="Helvetica Neue"/>
                <a:ea typeface="Helvetica Neue"/>
                <a:cs typeface="Helvetica Neue"/>
              </a:defRPr>
            </a:pPr>
            <a:r>
              <a:rPr sz="900" b="1" i="0">
                <a:solidFill>
                  <a:srgbClr val="9B9086"/>
                </a:solidFill>
                <a:latin typeface="Helvetica Neue"/>
                <a:ea typeface="Helvetica Neue"/>
                <a:cs typeface="Helvetica Neue"/>
              </a:rPr>
              <a:t>09</a:t>
            </a:r>
          </a:p>
        </p:txBody>
      </p:sp>
    </p:spTree>
    <p:extLst>
      <p:ext uri="{BB962C8B-B14F-4D97-AF65-F5344CB8AC3E}">
        <p14:creationId xmlns:p14="http://schemas.microsoft.com/office/powerpoint/2010/main" val="2015792389"/>
      </p:ext>
    </p:extLst>
  </p:cSld>
  <p:transition spd="med" advClick="1">
    <p:fade/>
  </p:transition>
</p:sld>
</file>

<file path=ppt/slides/slide10.xml><?xml version="1.0" encoding="utf-8"?>
<p:sld xmlns:p="http://schemas.openxmlformats.org/presentationml/2006/main">
  <p:cSld>
    <p:bg>
      <p:bgPr>
        <a:solidFill xmlns:a="http://schemas.openxmlformats.org/drawingml/2006/main">
          <a:srgbClr val="FCFA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36C125A-6A24-4DE8-AC7E-EF311FD6BA7C}"/>
              </a:ext>
            </a:extLst>
          </p:cNvPr>
          <p:cNvSpPr>
            <a:spLocks xmlns:a="http://schemas.openxmlformats.org/drawingml/2006/main" noGrp="1"/>
          </p:cNvSpPr>
          <p:nvPr/>
        </p:nvSpPr>
        <p:spPr>
          <a:xfrm xmlns:a="http://schemas.openxmlformats.org/drawingml/2006/main">
            <a:off x="609600" y="457200"/>
            <a:ext cx="1104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B58A4A"/>
                </a:solidFill>
                <a:latin typeface="Helvetica Neue"/>
                <a:ea typeface="Helvetica Neue"/>
                <a:cs typeface="Helvetica Neue"/>
              </a:defRPr>
            </a:pPr>
            <a:r>
              <a:rPr sz="1125" b="1" i="0">
                <a:solidFill>
                  <a:srgbClr val="B58A4A"/>
                </a:solidFill>
                <a:latin typeface="Helvetica Neue"/>
                <a:ea typeface="Helvetica Neue"/>
                <a:cs typeface="Helvetica Neue"/>
              </a:rPr>
              <a:t>10  /  MEASURED QUALITY, NOT ONLY A FEATURE CLAIM</a:t>
            </a:r>
          </a:p>
        </p:txBody>
      </p:sp>
      <p:sp>
        <p:nvSpPr>
          <p:cNvPr id="2" name="">
            <a:extLst xmlns:a="http://schemas.openxmlformats.org/drawingml/2006/main">
              <a:ext uri="{FF2B5EF4-FFF2-40B4-BE49-F238E27FC236}">
                <a16:creationId xmlns:a16="http://schemas.microsoft.com/office/drawing/2014/main" id="{C7F2D280-0122-4290-879F-A0F41732C122}"/>
              </a:ext>
            </a:extLst>
          </p:cNvPr>
          <p:cNvSpPr>
            <a:spLocks xmlns:a="http://schemas.openxmlformats.org/drawingml/2006/main" noGrp="1"/>
          </p:cNvSpPr>
          <p:nvPr/>
        </p:nvSpPr>
        <p:spPr>
          <a:xfrm xmlns:a="http://schemas.openxmlformats.org/drawingml/2006/main">
            <a:off x="609600" y="838200"/>
            <a:ext cx="10287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00F"/>
                </a:solidFill>
                <a:latin typeface="Helvetica Neue"/>
                <a:ea typeface="Helvetica Neue"/>
                <a:cs typeface="Helvetica Neue"/>
              </a:defRPr>
            </a:pPr>
            <a:r>
              <a:rPr sz="3000" b="1" i="0">
                <a:solidFill>
                  <a:srgbClr val="11100F"/>
                </a:solidFill>
                <a:latin typeface="Helvetica Neue"/>
                <a:ea typeface="Helvetica Neue"/>
                <a:cs typeface="Helvetica Neue"/>
              </a:rPr>
              <a:t>The recommended engine leads on measured quality.</a:t>
            </a:r>
          </a:p>
        </p:txBody>
      </p:sp>
      <p:sp>
        <p:nvSpPr>
          <p:cNvPr id="3" name="">
            <a:extLst xmlns:a="http://schemas.openxmlformats.org/drawingml/2006/main">
              <a:ext uri="{FF2B5EF4-FFF2-40B4-BE49-F238E27FC236}">
                <a16:creationId xmlns:a16="http://schemas.microsoft.com/office/drawing/2014/main" id="{869140F6-2A6C-4F16-9067-F09176A0D8FF}"/>
              </a:ext>
            </a:extLst>
          </p:cNvPr>
          <p:cNvSpPr>
            <a:spLocks xmlns:a="http://schemas.openxmlformats.org/drawingml/2006/main" noGrp="1"/>
          </p:cNvSpPr>
          <p:nvPr/>
        </p:nvSpPr>
        <p:spPr>
          <a:xfrm xmlns:a="http://schemas.openxmlformats.org/drawingml/2006/main">
            <a:off x="609600" y="1952625"/>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6F665E"/>
                </a:solidFill>
                <a:latin typeface="Helvetica Neue"/>
                <a:ea typeface="Helvetica Neue"/>
                <a:cs typeface="Helvetica Neue"/>
              </a:defRPr>
            </a:pPr>
            <a:r>
              <a:rPr sz="1575" b="0" i="0">
                <a:solidFill>
                  <a:srgbClr val="6F665E"/>
                </a:solidFill>
                <a:latin typeface="Helvetica Neue"/>
                <a:ea typeface="Helvetica Neue"/>
                <a:cs typeface="Helvetica Neue"/>
              </a:rPr>
              <a:t>These numbers guide product defaults. They are not a promise that public speech data fully represents every user’s dictation.</a:t>
            </a:r>
          </a:p>
        </p:txBody>
      </p:sp>
      <p:sp>
        <p:nvSpPr>
          <p:cNvPr id="4" name="">
            <a:extLst xmlns:a="http://schemas.openxmlformats.org/drawingml/2006/main">
              <a:ext uri="{FF2B5EF4-FFF2-40B4-BE49-F238E27FC236}">
                <a16:creationId xmlns:a16="http://schemas.microsoft.com/office/drawing/2014/main" id="{E9ED5F56-BB88-4513-A9F6-1ECBA83F839F}"/>
              </a:ext>
            </a:extLst>
          </p:cNvPr>
          <p:cNvSpPr>
            <a:spLocks xmlns:a="http://schemas.openxmlformats.org/drawingml/2006/main" noGrp="1"/>
          </p:cNvSpPr>
          <p:nvPr/>
        </p:nvSpPr>
        <p:spPr>
          <a:xfrm xmlns:a="http://schemas.openxmlformats.org/drawingml/2006/main">
            <a:off x="609600" y="2533650"/>
            <a:ext cx="10972800" cy="0"/>
          </a:xfrm>
          <a:prstGeom xmlns:a="http://schemas.openxmlformats.org/drawingml/2006/main" prst="line">
            <a:avLst/>
          </a:prstGeom>
          <a:noFill xmlns:a="http://schemas.openxmlformats.org/drawingml/2006/main"/>
          <a:ln xmlns:a="http://schemas.openxmlformats.org/drawingml/2006/main" w="9525">
            <a:solidFill>
              <a:srgbClr val="D9D0C5"/>
            </a:solidFill>
            <a:prstDash val="solid"/>
          </a:ln>
        </p:spPr>
      </p:sp>
      <p:graphicFrame>
        <p:nvGraphicFramePr>
          <p:cNvPr id="15" name="Chart"/>
          <p:cNvGraphicFramePr/>
          <p:nvPr/>
        </p:nvGraphicFramePr>
        <p:xfrm>
          <a:off xmlns:a="http://schemas.openxmlformats.org/drawingml/2006/main" x="609600" y="2895600"/>
          <a:ext xmlns:a="http://schemas.openxmlformats.org/drawingml/2006/main" cx="4714875" cy="2514600"/>
        </p:xfrm>
        <a:graphic xmlns:a="http://schemas.openxmlformats.org/drawingml/2006/main">
          <a:graphicData uri="http://schemas.openxmlformats.org/drawingml/2006/chart">
            <c:chart xmlns:r="http://schemas.openxmlformats.org/officeDocument/2006/relationships" xmlns:c="http://schemas.openxmlformats.org/drawingml/2006/chart" r:id="R48322a7e2a1c4bb0"/>
          </a:graphicData>
        </a:graphic>
      </p:graphicFrame>
      <p:graphicFrame>
        <p:nvGraphicFramePr>
          <p:cNvPr id="16" name="Chart"/>
          <p:cNvGraphicFramePr/>
          <p:nvPr/>
        </p:nvGraphicFramePr>
        <p:xfrm>
          <a:off xmlns:a="http://schemas.openxmlformats.org/drawingml/2006/main" x="6229350" y="2895600"/>
          <a:ext xmlns:a="http://schemas.openxmlformats.org/drawingml/2006/main" cx="4714875" cy="2514600"/>
        </p:xfrm>
        <a:graphic xmlns:a="http://schemas.openxmlformats.org/drawingml/2006/main">
          <a:graphicData uri="http://schemas.openxmlformats.org/drawingml/2006/chart">
            <c:chart xmlns:r="http://schemas.openxmlformats.org/officeDocument/2006/relationships" xmlns:c="http://schemas.openxmlformats.org/drawingml/2006/chart" r:id="R5bd3235b1e8f43c7"/>
          </a:graphicData>
        </a:graphic>
      </p:graphicFrame>
      <p:sp>
        <p:nvSpPr>
          <p:cNvPr id="7" name="">
            <a:extLst xmlns:a="http://schemas.openxmlformats.org/drawingml/2006/main">
              <a:ext uri="{FF2B5EF4-FFF2-40B4-BE49-F238E27FC236}">
                <a16:creationId xmlns:a16="http://schemas.microsoft.com/office/drawing/2014/main" id="{FBFFFA85-7229-4F0A-99AD-775003B698CE}"/>
              </a:ext>
            </a:extLst>
          </p:cNvPr>
          <p:cNvSpPr>
            <a:spLocks xmlns:a="http://schemas.openxmlformats.org/drawingml/2006/main" noGrp="1"/>
          </p:cNvSpPr>
          <p:nvPr/>
        </p:nvSpPr>
        <p:spPr>
          <a:xfrm xmlns:a="http://schemas.openxmlformats.org/drawingml/2006/main">
            <a:off x="609600" y="571500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i="0">
                <a:solidFill>
                  <a:srgbClr val="6F665E"/>
                </a:solidFill>
                <a:latin typeface="Helvetica Neue"/>
                <a:ea typeface="Helvetica Neue"/>
                <a:cs typeface="Helvetica Neue"/>
              </a:defRPr>
            </a:pPr>
            <a:r>
              <a:rPr sz="1275" b="0" i="0">
                <a:solidFill>
                  <a:srgbClr val="6F665E"/>
                </a:solidFill>
                <a:latin typeface="Helvetica Neue"/>
                <a:ea typeface="Helvetica Neue"/>
                <a:cs typeface="Helvetica Neue"/>
              </a:rPr>
              <a:t>Test context: 262 frozen Common Voice Spontaneous English clips, 3,084 seconds, MacBook Pro M5, measured 2026-08-18. A consented representative dictation cohort is still pending.</a:t>
            </a:r>
          </a:p>
        </p:txBody>
      </p:sp>
      <p:sp>
        <p:nvSpPr>
          <p:cNvPr id="8" name="">
            <a:extLst xmlns:a="http://schemas.openxmlformats.org/drawingml/2006/main">
              <a:ext uri="{FF2B5EF4-FFF2-40B4-BE49-F238E27FC236}">
                <a16:creationId xmlns:a16="http://schemas.microsoft.com/office/drawing/2014/main" id="{37401BC6-D36B-45AE-866C-18E741405E55}"/>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9D0C5"/>
            </a:solidFill>
            <a:prstDash val="solid"/>
          </a:ln>
        </p:spPr>
      </p:sp>
      <p:sp>
        <p:nvSpPr>
          <p:cNvPr id="9" name="">
            <a:extLst xmlns:a="http://schemas.openxmlformats.org/drawingml/2006/main">
              <a:ext uri="{FF2B5EF4-FFF2-40B4-BE49-F238E27FC236}">
                <a16:creationId xmlns:a16="http://schemas.microsoft.com/office/drawing/2014/main" id="{26E87523-07EF-4B1E-8106-E1940A07B494}"/>
              </a:ext>
            </a:extLst>
          </p:cNvPr>
          <p:cNvSpPr>
            <a:spLocks xmlns:a="http://schemas.openxmlformats.org/drawingml/2006/main" noGrp="1"/>
          </p:cNvSpPr>
          <p:nvPr/>
        </p:nvSpPr>
        <p:spPr>
          <a:xfrm xmlns:a="http://schemas.openxmlformats.org/drawingml/2006/main">
            <a:off x="609600" y="65627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9B9086"/>
                </a:solidFill>
                <a:latin typeface="Helvetica Neue"/>
                <a:ea typeface="Helvetica Neue"/>
                <a:cs typeface="Helvetica Neue"/>
              </a:defRPr>
            </a:pPr>
            <a:r>
              <a:rPr sz="900" b="1" i="0">
                <a:solidFill>
                  <a:srgbClr val="9B9086"/>
                </a:solidFill>
                <a:latin typeface="Helvetica Neue"/>
                <a:ea typeface="Helvetica Neue"/>
                <a:cs typeface="Helvetica Neue"/>
              </a:rPr>
              <a:t>ZENVOICE  |  PRIVATE LOCAL-FIRST DICTATION</a:t>
            </a:r>
          </a:p>
        </p:txBody>
      </p:sp>
      <p:sp>
        <p:nvSpPr>
          <p:cNvPr id="10" name="">
            <a:extLst xmlns:a="http://schemas.openxmlformats.org/drawingml/2006/main">
              <a:ext uri="{FF2B5EF4-FFF2-40B4-BE49-F238E27FC236}">
                <a16:creationId xmlns:a16="http://schemas.microsoft.com/office/drawing/2014/main" id="{52C218C5-38A8-469C-8B73-82AF12BB5278}"/>
              </a:ext>
            </a:extLst>
          </p:cNvPr>
          <p:cNvSpPr>
            <a:spLocks xmlns:a="http://schemas.openxmlformats.org/drawingml/2006/main" noGrp="1"/>
          </p:cNvSpPr>
          <p:nvPr/>
        </p:nvSpPr>
        <p:spPr>
          <a:xfrm xmlns:a="http://schemas.openxmlformats.org/drawingml/2006/main">
            <a:off x="10668000" y="6562725"/>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9B9086"/>
                </a:solidFill>
                <a:latin typeface="Helvetica Neue"/>
                <a:ea typeface="Helvetica Neue"/>
                <a:cs typeface="Helvetica Neue"/>
              </a:defRPr>
            </a:pPr>
            <a:r>
              <a:rPr sz="900" b="1" i="0">
                <a:solidFill>
                  <a:srgbClr val="9B9086"/>
                </a:solidFill>
                <a:latin typeface="Helvetica Neue"/>
                <a:ea typeface="Helvetica Neue"/>
                <a:cs typeface="Helvetica Neue"/>
              </a:rPr>
              <a:t>10</a:t>
            </a:r>
          </a:p>
        </p:txBody>
      </p:sp>
    </p:spTree>
    <p:extLst>
      <p:ext uri="{BB962C8B-B14F-4D97-AF65-F5344CB8AC3E}">
        <p14:creationId xmlns:p14="http://schemas.microsoft.com/office/powerpoint/2010/main" val="1055724945"/>
      </p:ext>
    </p:extLst>
  </p:cSld>
  <p:transition spd="med" advClick="1">
    <p:fade/>
  </p:transition>
</p:sld>
</file>

<file path=ppt/slides/slide11.xml><?xml version="1.0" encoding="utf-8"?>
<p:sld xmlns:p="http://schemas.openxmlformats.org/presentationml/2006/main">
  <p:cSld>
    <p:bg>
      <p:bgPr>
        <a:solidFill xmlns:a="http://schemas.openxmlformats.org/drawingml/2006/main">
          <a:srgbClr val="FC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0106921-BC26-4100-929C-55DCD57D0B8E}"/>
              </a:ext>
            </a:extLst>
          </p:cNvPr>
          <p:cNvSpPr>
            <a:spLocks xmlns:a="http://schemas.openxmlformats.org/drawingml/2006/main" noGrp="1"/>
          </p:cNvSpPr>
          <p:nvPr/>
        </p:nvSpPr>
        <p:spPr>
          <a:xfrm xmlns:a="http://schemas.openxmlformats.org/drawingml/2006/main">
            <a:off x="609600" y="457200"/>
            <a:ext cx="1104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B58A4A"/>
                </a:solidFill>
                <a:latin typeface="Helvetica Neue"/>
                <a:ea typeface="Helvetica Neue"/>
                <a:cs typeface="Helvetica Neue"/>
              </a:defRPr>
            </a:pPr>
            <a:r>
              <a:rPr sz="1125" b="1" i="0">
                <a:solidFill>
                  <a:srgbClr val="B58A4A"/>
                </a:solidFill>
                <a:latin typeface="Helvetica Neue"/>
                <a:ea typeface="Helvetica Neue"/>
                <a:cs typeface="Helvetica Neue"/>
              </a:rPr>
              <a:t>11  /  WHERE THE PRODUCT CREATES VALUE</a:t>
            </a:r>
          </a:p>
        </p:txBody>
      </p:sp>
      <p:sp>
        <p:nvSpPr>
          <p:cNvPr id="2" name="">
            <a:extLst xmlns:a="http://schemas.openxmlformats.org/drawingml/2006/main">
              <a:ext uri="{FF2B5EF4-FFF2-40B4-BE49-F238E27FC236}">
                <a16:creationId xmlns:a16="http://schemas.microsoft.com/office/drawing/2014/main" id="{447C9938-1FE3-4190-9535-DA6B216FFB51}"/>
              </a:ext>
            </a:extLst>
          </p:cNvPr>
          <p:cNvSpPr>
            <a:spLocks xmlns:a="http://schemas.openxmlformats.org/drawingml/2006/main" noGrp="1"/>
          </p:cNvSpPr>
          <p:nvPr/>
        </p:nvSpPr>
        <p:spPr>
          <a:xfrm xmlns:a="http://schemas.openxmlformats.org/drawingml/2006/main">
            <a:off x="609600" y="838200"/>
            <a:ext cx="10287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00F"/>
                </a:solidFill>
                <a:latin typeface="Helvetica Neue"/>
                <a:ea typeface="Helvetica Neue"/>
                <a:cs typeface="Helvetica Neue"/>
              </a:defRPr>
            </a:pPr>
            <a:r>
              <a:rPr sz="3000" b="1" i="0">
                <a:solidFill>
                  <a:srgbClr val="11100F"/>
                </a:solidFill>
                <a:latin typeface="Helvetica Neue"/>
                <a:ea typeface="Helvetica Neue"/>
                <a:cs typeface="Helvetica Neue"/>
              </a:rPr>
              <a:t>One local-first core, three kinds of value.</a:t>
            </a:r>
          </a:p>
        </p:txBody>
      </p:sp>
      <p:sp>
        <p:nvSpPr>
          <p:cNvPr id="3" name="">
            <a:extLst xmlns:a="http://schemas.openxmlformats.org/drawingml/2006/main">
              <a:ext uri="{FF2B5EF4-FFF2-40B4-BE49-F238E27FC236}">
                <a16:creationId xmlns:a16="http://schemas.microsoft.com/office/drawing/2014/main" id="{623C0555-65F8-4237-8962-139C6A0A3A82}"/>
              </a:ext>
            </a:extLst>
          </p:cNvPr>
          <p:cNvSpPr>
            <a:spLocks xmlns:a="http://schemas.openxmlformats.org/drawingml/2006/main" noGrp="1"/>
          </p:cNvSpPr>
          <p:nvPr/>
        </p:nvSpPr>
        <p:spPr>
          <a:xfrm xmlns:a="http://schemas.openxmlformats.org/drawingml/2006/main">
            <a:off x="609600" y="1952625"/>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6F665E"/>
                </a:solidFill>
                <a:latin typeface="Helvetica Neue"/>
                <a:ea typeface="Helvetica Neue"/>
                <a:cs typeface="Helvetica Neue"/>
              </a:defRPr>
            </a:pPr>
            <a:r>
              <a:rPr sz="1575" b="0" i="0">
                <a:solidFill>
                  <a:srgbClr val="6F665E"/>
                </a:solidFill>
                <a:latin typeface="Helvetica Neue"/>
                <a:ea typeface="Helvetica Neue"/>
                <a:cs typeface="Helvetica Neue"/>
              </a:rPr>
              <a:t>Different users get different value from the same basic flow: faster text input in the place they already work.</a:t>
            </a:r>
          </a:p>
        </p:txBody>
      </p:sp>
      <p:sp>
        <p:nvSpPr>
          <p:cNvPr id="4" name="">
            <a:extLst xmlns:a="http://schemas.openxmlformats.org/drawingml/2006/main">
              <a:ext uri="{FF2B5EF4-FFF2-40B4-BE49-F238E27FC236}">
                <a16:creationId xmlns:a16="http://schemas.microsoft.com/office/drawing/2014/main" id="{D5141DD2-388B-4CA4-BCB1-07E82F16538E}"/>
              </a:ext>
            </a:extLst>
          </p:cNvPr>
          <p:cNvSpPr>
            <a:spLocks xmlns:a="http://schemas.openxmlformats.org/drawingml/2006/main" noGrp="1"/>
          </p:cNvSpPr>
          <p:nvPr/>
        </p:nvSpPr>
        <p:spPr>
          <a:xfrm xmlns:a="http://schemas.openxmlformats.org/drawingml/2006/main">
            <a:off x="609600" y="2533650"/>
            <a:ext cx="10972800" cy="0"/>
          </a:xfrm>
          <a:prstGeom xmlns:a="http://schemas.openxmlformats.org/drawingml/2006/main" prst="line">
            <a:avLst/>
          </a:prstGeom>
          <a:noFill xmlns:a="http://schemas.openxmlformats.org/drawingml/2006/main"/>
          <a:ln xmlns:a="http://schemas.openxmlformats.org/drawingml/2006/main" w="9525">
            <a:solidFill>
              <a:srgbClr val="D9D0C5"/>
            </a:solidFill>
            <a:prstDash val="solid"/>
          </a:ln>
        </p:spPr>
      </p:sp>
      <p:sp>
        <p:nvSpPr>
          <p:cNvPr id="5" name="">
            <a:extLst xmlns:a="http://schemas.openxmlformats.org/drawingml/2006/main">
              <a:ext uri="{FF2B5EF4-FFF2-40B4-BE49-F238E27FC236}">
                <a16:creationId xmlns:a16="http://schemas.microsoft.com/office/drawing/2014/main" id="{8185FA59-7964-4463-ACFA-2C5E5CE12B27}"/>
              </a:ext>
            </a:extLst>
          </p:cNvPr>
          <p:cNvSpPr>
            <a:spLocks xmlns:a="http://schemas.openxmlformats.org/drawingml/2006/main" noGrp="1"/>
          </p:cNvSpPr>
          <p:nvPr/>
        </p:nvSpPr>
        <p:spPr>
          <a:xfrm xmlns:a="http://schemas.openxmlformats.org/drawingml/2006/main">
            <a:off x="609600" y="2971800"/>
            <a:ext cx="3390900" cy="2247900"/>
          </a:xfrm>
          <a:prstGeom xmlns:a="http://schemas.openxmlformats.org/drawingml/2006/main" prst="roundRect">
            <a:avLst>
              <a:gd name="adj" fmla="val 9322"/>
            </a:avLst>
          </a:prstGeom>
          <a:solidFill xmlns:a="http://schemas.openxmlformats.org/drawingml/2006/main">
            <a:srgbClr val="F6F2EC"/>
          </a:solidFill>
          <a:ln xmlns:a="http://schemas.openxmlformats.org/drawingml/2006/main" w="9525">
            <a:solidFill>
              <a:srgbClr val="D9D0C5"/>
            </a:solidFill>
            <a:prstDash val="solid"/>
          </a:ln>
        </p:spPr>
      </p:sp>
      <p:sp>
        <p:nvSpPr>
          <p:cNvPr id="6" name="">
            <a:extLst xmlns:a="http://schemas.openxmlformats.org/drawingml/2006/main">
              <a:ext uri="{FF2B5EF4-FFF2-40B4-BE49-F238E27FC236}">
                <a16:creationId xmlns:a16="http://schemas.microsoft.com/office/drawing/2014/main" id="{46B3D5FF-8EDE-4F3B-8F52-7FE2C7E33F19}"/>
              </a:ext>
            </a:extLst>
          </p:cNvPr>
          <p:cNvSpPr>
            <a:spLocks xmlns:a="http://schemas.openxmlformats.org/drawingml/2006/main" noGrp="1"/>
          </p:cNvSpPr>
          <p:nvPr/>
        </p:nvSpPr>
        <p:spPr>
          <a:xfrm xmlns:a="http://schemas.openxmlformats.org/drawingml/2006/main">
            <a:off x="4400550" y="2971800"/>
            <a:ext cx="3390900" cy="2247900"/>
          </a:xfrm>
          <a:prstGeom xmlns:a="http://schemas.openxmlformats.org/drawingml/2006/main" prst="roundRect">
            <a:avLst>
              <a:gd name="adj" fmla="val 9322"/>
            </a:avLst>
          </a:prstGeom>
          <a:solidFill xmlns:a="http://schemas.openxmlformats.org/drawingml/2006/main">
            <a:srgbClr val="F6F2EC"/>
          </a:solidFill>
          <a:ln xmlns:a="http://schemas.openxmlformats.org/drawingml/2006/main" w="9525">
            <a:solidFill>
              <a:srgbClr val="D9D0C5"/>
            </a:solidFill>
            <a:prstDash val="solid"/>
          </a:ln>
        </p:spPr>
      </p:sp>
      <p:sp>
        <p:nvSpPr>
          <p:cNvPr id="7" name="">
            <a:extLst xmlns:a="http://schemas.openxmlformats.org/drawingml/2006/main">
              <a:ext uri="{FF2B5EF4-FFF2-40B4-BE49-F238E27FC236}">
                <a16:creationId xmlns:a16="http://schemas.microsoft.com/office/drawing/2014/main" id="{3A01EF62-5ECC-4752-BA62-3CF48A0E3FBE}"/>
              </a:ext>
            </a:extLst>
          </p:cNvPr>
          <p:cNvSpPr>
            <a:spLocks xmlns:a="http://schemas.openxmlformats.org/drawingml/2006/main" noGrp="1"/>
          </p:cNvSpPr>
          <p:nvPr/>
        </p:nvSpPr>
        <p:spPr>
          <a:xfrm xmlns:a="http://schemas.openxmlformats.org/drawingml/2006/main">
            <a:off x="8191500" y="2971800"/>
            <a:ext cx="3390900" cy="2247900"/>
          </a:xfrm>
          <a:prstGeom xmlns:a="http://schemas.openxmlformats.org/drawingml/2006/main" prst="roundRect">
            <a:avLst>
              <a:gd name="adj" fmla="val 9322"/>
            </a:avLst>
          </a:prstGeom>
          <a:solidFill xmlns:a="http://schemas.openxmlformats.org/drawingml/2006/main">
            <a:srgbClr val="F6F2EC"/>
          </a:solidFill>
          <a:ln xmlns:a="http://schemas.openxmlformats.org/drawingml/2006/main" w="9525">
            <a:solidFill>
              <a:srgbClr val="D9D0C5"/>
            </a:solidFill>
            <a:prstDash val="solid"/>
          </a:ln>
        </p:spPr>
      </p:sp>
      <p:sp>
        <p:nvSpPr>
          <p:cNvPr id="8" name="">
            <a:extLst xmlns:a="http://schemas.openxmlformats.org/drawingml/2006/main">
              <a:ext uri="{FF2B5EF4-FFF2-40B4-BE49-F238E27FC236}">
                <a16:creationId xmlns:a16="http://schemas.microsoft.com/office/drawing/2014/main" id="{C6F64B0C-415B-481F-9798-A4E95064DEAD}"/>
              </a:ext>
            </a:extLst>
          </p:cNvPr>
          <p:cNvSpPr>
            <a:spLocks xmlns:a="http://schemas.openxmlformats.org/drawingml/2006/main" noGrp="1"/>
          </p:cNvSpPr>
          <p:nvPr/>
        </p:nvSpPr>
        <p:spPr>
          <a:xfrm xmlns:a="http://schemas.openxmlformats.org/drawingml/2006/main">
            <a:off x="876300" y="33147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i="0">
                <a:solidFill>
                  <a:srgbClr val="11100F"/>
                </a:solidFill>
                <a:latin typeface="Helvetica Neue"/>
                <a:ea typeface="Helvetica Neue"/>
                <a:cs typeface="Helvetica Neue"/>
              </a:defRPr>
            </a:pPr>
            <a:r>
              <a:rPr sz="2025" b="1" i="0">
                <a:solidFill>
                  <a:srgbClr val="11100F"/>
                </a:solidFill>
                <a:latin typeface="Helvetica Neue"/>
                <a:ea typeface="Helvetica Neue"/>
                <a:cs typeface="Helvetica Neue"/>
              </a:rPr>
              <a:t>College project</a:t>
            </a:r>
          </a:p>
        </p:txBody>
      </p:sp>
      <p:sp>
        <p:nvSpPr>
          <p:cNvPr id="9" name="">
            <a:extLst xmlns:a="http://schemas.openxmlformats.org/drawingml/2006/main">
              <a:ext uri="{FF2B5EF4-FFF2-40B4-BE49-F238E27FC236}">
                <a16:creationId xmlns:a16="http://schemas.microsoft.com/office/drawing/2014/main" id="{C23525EF-8818-4B80-AA10-58A13B54791F}"/>
              </a:ext>
            </a:extLst>
          </p:cNvPr>
          <p:cNvSpPr>
            <a:spLocks xmlns:a="http://schemas.openxmlformats.org/drawingml/2006/main" noGrp="1"/>
          </p:cNvSpPr>
          <p:nvPr/>
        </p:nvSpPr>
        <p:spPr>
          <a:xfrm xmlns:a="http://schemas.openxmlformats.org/drawingml/2006/main">
            <a:off x="876300" y="3790950"/>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6F665E"/>
                </a:solidFill>
                <a:latin typeface="Helvetica Neue"/>
                <a:ea typeface="Helvetica Neue"/>
                <a:cs typeface="Helvetica Neue"/>
              </a:defRPr>
            </a:pPr>
            <a:r>
              <a:rPr sz="1575" b="0" i="0">
                <a:solidFill>
                  <a:srgbClr val="6F665E"/>
                </a:solidFill>
                <a:latin typeface="Helvetica Neue"/>
                <a:ea typeface="Helvetica Neue"/>
                <a:cs typeface="Helvetica Neue"/>
              </a:rPr>
              <a:t>Practice local AI/ML integration, accuracy evaluation, native macOS engineering, and responsible data design.</a:t>
            </a:r>
          </a:p>
        </p:txBody>
      </p:sp>
      <p:sp>
        <p:nvSpPr>
          <p:cNvPr id="10" name="">
            <a:extLst xmlns:a="http://schemas.openxmlformats.org/drawingml/2006/main">
              <a:ext uri="{FF2B5EF4-FFF2-40B4-BE49-F238E27FC236}">
                <a16:creationId xmlns:a16="http://schemas.microsoft.com/office/drawing/2014/main" id="{77596BA2-59E7-4090-9824-6E4F8E44778E}"/>
              </a:ext>
            </a:extLst>
          </p:cNvPr>
          <p:cNvSpPr>
            <a:spLocks xmlns:a="http://schemas.openxmlformats.org/drawingml/2006/main" noGrp="1"/>
          </p:cNvSpPr>
          <p:nvPr/>
        </p:nvSpPr>
        <p:spPr>
          <a:xfrm xmlns:a="http://schemas.openxmlformats.org/drawingml/2006/main">
            <a:off x="4667250" y="33147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i="0">
                <a:solidFill>
                  <a:srgbClr val="11100F"/>
                </a:solidFill>
                <a:latin typeface="Helvetica Neue"/>
                <a:ea typeface="Helvetica Neue"/>
                <a:cs typeface="Helvetica Neue"/>
              </a:defRPr>
            </a:pPr>
            <a:r>
              <a:rPr sz="2025" b="1" i="0">
                <a:solidFill>
                  <a:srgbClr val="11100F"/>
                </a:solidFill>
                <a:latin typeface="Helvetica Neue"/>
                <a:ea typeface="Helvetica Neue"/>
                <a:cs typeface="Helvetica Neue"/>
              </a:rPr>
              <a:t>Company workflow</a:t>
            </a:r>
          </a:p>
        </p:txBody>
      </p:sp>
      <p:sp>
        <p:nvSpPr>
          <p:cNvPr id="11" name="">
            <a:extLst xmlns:a="http://schemas.openxmlformats.org/drawingml/2006/main">
              <a:ext uri="{FF2B5EF4-FFF2-40B4-BE49-F238E27FC236}">
                <a16:creationId xmlns:a16="http://schemas.microsoft.com/office/drawing/2014/main" id="{4EDAC0C7-22AA-49A3-87A1-EBBB35EC9A57}"/>
              </a:ext>
            </a:extLst>
          </p:cNvPr>
          <p:cNvSpPr>
            <a:spLocks xmlns:a="http://schemas.openxmlformats.org/drawingml/2006/main" noGrp="1"/>
          </p:cNvSpPr>
          <p:nvPr/>
        </p:nvSpPr>
        <p:spPr>
          <a:xfrm xmlns:a="http://schemas.openxmlformats.org/drawingml/2006/main">
            <a:off x="4667250" y="3790950"/>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6F665E"/>
                </a:solidFill>
                <a:latin typeface="Helvetica Neue"/>
                <a:ea typeface="Helvetica Neue"/>
                <a:cs typeface="Helvetica Neue"/>
              </a:defRPr>
            </a:pPr>
            <a:r>
              <a:rPr sz="1575" b="0" i="0">
                <a:solidFill>
                  <a:srgbClr val="6F665E"/>
                </a:solidFill>
                <a:latin typeface="Helvetica Neue"/>
                <a:ea typeface="Helvetica Neue"/>
                <a:cs typeface="Helvetica Neue"/>
              </a:rPr>
              <a:t>Draft emails, reports, tickets, documentation, and notes without switching to a separate dictation workspace.</a:t>
            </a:r>
          </a:p>
        </p:txBody>
      </p:sp>
      <p:sp>
        <p:nvSpPr>
          <p:cNvPr id="12" name="">
            <a:extLst xmlns:a="http://schemas.openxmlformats.org/drawingml/2006/main">
              <a:ext uri="{FF2B5EF4-FFF2-40B4-BE49-F238E27FC236}">
                <a16:creationId xmlns:a16="http://schemas.microsoft.com/office/drawing/2014/main" id="{BCFC4F76-1785-4DFE-830C-DD0BD9775265}"/>
              </a:ext>
            </a:extLst>
          </p:cNvPr>
          <p:cNvSpPr>
            <a:spLocks xmlns:a="http://schemas.openxmlformats.org/drawingml/2006/main" noGrp="1"/>
          </p:cNvSpPr>
          <p:nvPr/>
        </p:nvSpPr>
        <p:spPr>
          <a:xfrm xmlns:a="http://schemas.openxmlformats.org/drawingml/2006/main">
            <a:off x="8458200" y="33147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i="0">
                <a:solidFill>
                  <a:srgbClr val="11100F"/>
                </a:solidFill>
                <a:latin typeface="Helvetica Neue"/>
                <a:ea typeface="Helvetica Neue"/>
                <a:cs typeface="Helvetica Neue"/>
              </a:defRPr>
            </a:pPr>
            <a:r>
              <a:rPr sz="2025" b="1" i="0">
                <a:solidFill>
                  <a:srgbClr val="11100F"/>
                </a:solidFill>
                <a:latin typeface="Helvetica Neue"/>
                <a:ea typeface="Helvetica Neue"/>
                <a:cs typeface="Helvetica Neue"/>
              </a:rPr>
              <a:t>Individual use</a:t>
            </a:r>
          </a:p>
        </p:txBody>
      </p:sp>
      <p:sp>
        <p:nvSpPr>
          <p:cNvPr id="13" name="">
            <a:extLst xmlns:a="http://schemas.openxmlformats.org/drawingml/2006/main">
              <a:ext uri="{FF2B5EF4-FFF2-40B4-BE49-F238E27FC236}">
                <a16:creationId xmlns:a16="http://schemas.microsoft.com/office/drawing/2014/main" id="{FDB3A56E-F69C-4DC8-80F3-C86AEC79B0F6}"/>
              </a:ext>
            </a:extLst>
          </p:cNvPr>
          <p:cNvSpPr>
            <a:spLocks xmlns:a="http://schemas.openxmlformats.org/drawingml/2006/main" noGrp="1"/>
          </p:cNvSpPr>
          <p:nvPr/>
        </p:nvSpPr>
        <p:spPr>
          <a:xfrm xmlns:a="http://schemas.openxmlformats.org/drawingml/2006/main">
            <a:off x="8458200" y="3790950"/>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6F665E"/>
                </a:solidFill>
                <a:latin typeface="Helvetica Neue"/>
                <a:ea typeface="Helvetica Neue"/>
                <a:cs typeface="Helvetica Neue"/>
              </a:defRPr>
            </a:pPr>
            <a:r>
              <a:rPr sz="1575" b="0" i="0">
                <a:solidFill>
                  <a:srgbClr val="6F665E"/>
                </a:solidFill>
                <a:latin typeface="Helvetica Neue"/>
                <a:ea typeface="Helvetica Neue"/>
                <a:cs typeface="Helvetica Neue"/>
              </a:rPr>
              <a:t>Keep control over shortcuts, language, correction rules, history, and whether anything is saved.</a:t>
            </a:r>
          </a:p>
        </p:txBody>
      </p:sp>
      <p:sp>
        <p:nvSpPr>
          <p:cNvPr id="14" name="">
            <a:extLst xmlns:a="http://schemas.openxmlformats.org/drawingml/2006/main">
              <a:ext uri="{FF2B5EF4-FFF2-40B4-BE49-F238E27FC236}">
                <a16:creationId xmlns:a16="http://schemas.microsoft.com/office/drawing/2014/main" id="{734C6FEE-B569-4DBB-875C-5B3400D7D14B}"/>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9D0C5"/>
            </a:solidFill>
            <a:prstDash val="solid"/>
          </a:ln>
        </p:spPr>
      </p:sp>
      <p:sp>
        <p:nvSpPr>
          <p:cNvPr id="15" name="">
            <a:extLst xmlns:a="http://schemas.openxmlformats.org/drawingml/2006/main">
              <a:ext uri="{FF2B5EF4-FFF2-40B4-BE49-F238E27FC236}">
                <a16:creationId xmlns:a16="http://schemas.microsoft.com/office/drawing/2014/main" id="{E0CC89E8-8807-4D06-852D-9C2F51982B64}"/>
              </a:ext>
            </a:extLst>
          </p:cNvPr>
          <p:cNvSpPr>
            <a:spLocks xmlns:a="http://schemas.openxmlformats.org/drawingml/2006/main" noGrp="1"/>
          </p:cNvSpPr>
          <p:nvPr/>
        </p:nvSpPr>
        <p:spPr>
          <a:xfrm xmlns:a="http://schemas.openxmlformats.org/drawingml/2006/main">
            <a:off x="609600" y="65627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9B9086"/>
                </a:solidFill>
                <a:latin typeface="Helvetica Neue"/>
                <a:ea typeface="Helvetica Neue"/>
                <a:cs typeface="Helvetica Neue"/>
              </a:defRPr>
            </a:pPr>
            <a:r>
              <a:rPr sz="900" b="1" i="0">
                <a:solidFill>
                  <a:srgbClr val="9B9086"/>
                </a:solidFill>
                <a:latin typeface="Helvetica Neue"/>
                <a:ea typeface="Helvetica Neue"/>
                <a:cs typeface="Helvetica Neue"/>
              </a:rPr>
              <a:t>ZENVOICE  |  PRIVATE LOCAL-FIRST DICTATION</a:t>
            </a:r>
          </a:p>
        </p:txBody>
      </p:sp>
      <p:sp>
        <p:nvSpPr>
          <p:cNvPr id="16" name="">
            <a:extLst xmlns:a="http://schemas.openxmlformats.org/drawingml/2006/main">
              <a:ext uri="{FF2B5EF4-FFF2-40B4-BE49-F238E27FC236}">
                <a16:creationId xmlns:a16="http://schemas.microsoft.com/office/drawing/2014/main" id="{0A5DB06D-1ACF-4D3D-BB91-1E2072B9F572}"/>
              </a:ext>
            </a:extLst>
          </p:cNvPr>
          <p:cNvSpPr>
            <a:spLocks xmlns:a="http://schemas.openxmlformats.org/drawingml/2006/main" noGrp="1"/>
          </p:cNvSpPr>
          <p:nvPr/>
        </p:nvSpPr>
        <p:spPr>
          <a:xfrm xmlns:a="http://schemas.openxmlformats.org/drawingml/2006/main">
            <a:off x="10668000" y="6562725"/>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9B9086"/>
                </a:solidFill>
                <a:latin typeface="Helvetica Neue"/>
                <a:ea typeface="Helvetica Neue"/>
                <a:cs typeface="Helvetica Neue"/>
              </a:defRPr>
            </a:pPr>
            <a:r>
              <a:rPr sz="900" b="1" i="0">
                <a:solidFill>
                  <a:srgbClr val="9B9086"/>
                </a:solidFill>
                <a:latin typeface="Helvetica Neue"/>
                <a:ea typeface="Helvetica Neue"/>
                <a:cs typeface="Helvetica Neue"/>
              </a:rPr>
              <a:t>11</a:t>
            </a:r>
          </a:p>
        </p:txBody>
      </p:sp>
    </p:spTree>
    <p:extLst>
      <p:ext uri="{BB962C8B-B14F-4D97-AF65-F5344CB8AC3E}">
        <p14:creationId xmlns:p14="http://schemas.microsoft.com/office/powerpoint/2010/main" val="577757129"/>
      </p:ext>
    </p:extLst>
  </p:cSld>
  <p:transition spd="med" advClick="1">
    <p:fade/>
  </p:transition>
</p:sld>
</file>

<file path=ppt/slides/slide12.xml><?xml version="1.0" encoding="utf-8"?>
<p:sld xmlns:p="http://schemas.openxmlformats.org/presentationml/2006/main">
  <p:cSld>
    <p:bg>
      <p:bgPr>
        <a:solidFill xmlns:a="http://schemas.openxmlformats.org/drawingml/2006/main">
          <a:srgbClr val="FCFAF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B2A32F0-1AA4-4DF4-AD9D-4F7929843E81}"/>
              </a:ext>
            </a:extLst>
          </p:cNvPr>
          <p:cNvSpPr>
            <a:spLocks xmlns:a="http://schemas.openxmlformats.org/drawingml/2006/main" noGrp="1"/>
          </p:cNvSpPr>
          <p:nvPr/>
        </p:nvSpPr>
        <p:spPr>
          <a:xfrm xmlns:a="http://schemas.openxmlformats.org/drawingml/2006/main">
            <a:off x="609600" y="457200"/>
            <a:ext cx="1104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B58A4A"/>
                </a:solidFill>
                <a:latin typeface="Helvetica Neue"/>
                <a:ea typeface="Helvetica Neue"/>
                <a:cs typeface="Helvetica Neue"/>
              </a:defRPr>
            </a:pPr>
            <a:r>
              <a:rPr sz="1125" b="1" i="0">
                <a:solidFill>
                  <a:srgbClr val="B58A4A"/>
                </a:solidFill>
                <a:latin typeface="Helvetica Neue"/>
                <a:ea typeface="Helvetica Neue"/>
                <a:cs typeface="Helvetica Neue"/>
              </a:rPr>
              <a:t>12  /  EDUCATION DIRECTION</a:t>
            </a:r>
          </a:p>
        </p:txBody>
      </p:sp>
      <p:sp>
        <p:nvSpPr>
          <p:cNvPr id="2" name="">
            <a:extLst xmlns:a="http://schemas.openxmlformats.org/drawingml/2006/main">
              <a:ext uri="{FF2B5EF4-FFF2-40B4-BE49-F238E27FC236}">
                <a16:creationId xmlns:a16="http://schemas.microsoft.com/office/drawing/2014/main" id="{85B539E7-E637-46F3-92C6-07077019B502}"/>
              </a:ext>
            </a:extLst>
          </p:cNvPr>
          <p:cNvSpPr>
            <a:spLocks xmlns:a="http://schemas.openxmlformats.org/drawingml/2006/main" noGrp="1"/>
          </p:cNvSpPr>
          <p:nvPr/>
        </p:nvSpPr>
        <p:spPr>
          <a:xfrm xmlns:a="http://schemas.openxmlformats.org/drawingml/2006/main">
            <a:off x="609600" y="838200"/>
            <a:ext cx="10287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00F"/>
                </a:solidFill>
                <a:latin typeface="Helvetica Neue"/>
                <a:ea typeface="Helvetica Neue"/>
                <a:cs typeface="Helvetica Neue"/>
              </a:defRPr>
            </a:pPr>
            <a:r>
              <a:rPr sz="3000" b="1" i="0">
                <a:solidFill>
                  <a:srgbClr val="11100F"/>
                </a:solidFill>
                <a:latin typeface="Helvetica Neue"/>
                <a:ea typeface="Helvetica Neue"/>
                <a:cs typeface="Helvetica Neue"/>
              </a:rPr>
              <a:t>Lecture capture: useful, local, and safely scoped.</a:t>
            </a:r>
          </a:p>
        </p:txBody>
      </p:sp>
      <p:sp>
        <p:nvSpPr>
          <p:cNvPr id="3" name="">
            <a:extLst xmlns:a="http://schemas.openxmlformats.org/drawingml/2006/main">
              <a:ext uri="{FF2B5EF4-FFF2-40B4-BE49-F238E27FC236}">
                <a16:creationId xmlns:a16="http://schemas.microsoft.com/office/drawing/2014/main" id="{F69CE901-8953-4E06-91EA-96453E63A124}"/>
              </a:ext>
            </a:extLst>
          </p:cNvPr>
          <p:cNvSpPr>
            <a:spLocks xmlns:a="http://schemas.openxmlformats.org/drawingml/2006/main" noGrp="1"/>
          </p:cNvSpPr>
          <p:nvPr/>
        </p:nvSpPr>
        <p:spPr>
          <a:xfrm xmlns:a="http://schemas.openxmlformats.org/drawingml/2006/main">
            <a:off x="609600" y="1952625"/>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6F665E"/>
                </a:solidFill>
                <a:latin typeface="Helvetica Neue"/>
                <a:ea typeface="Helvetica Neue"/>
                <a:cs typeface="Helvetica Neue"/>
              </a:defRPr>
            </a:pPr>
            <a:r>
              <a:rPr sz="1575" b="0" i="0">
                <a:solidFill>
                  <a:srgbClr val="6F665E"/>
                </a:solidFill>
                <a:latin typeface="Helvetica Neue"/>
                <a:ea typeface="Helvetica Neue"/>
                <a:cs typeface="Helvetica Neue"/>
              </a:rPr>
              <a:t>This is a defined product direction — not a claim that ZenVoice can reliably identify teachers or students today.</a:t>
            </a:r>
          </a:p>
        </p:txBody>
      </p:sp>
      <p:sp>
        <p:nvSpPr>
          <p:cNvPr id="4" name="">
            <a:extLst xmlns:a="http://schemas.openxmlformats.org/drawingml/2006/main">
              <a:ext uri="{FF2B5EF4-FFF2-40B4-BE49-F238E27FC236}">
                <a16:creationId xmlns:a16="http://schemas.microsoft.com/office/drawing/2014/main" id="{2E4FF825-6AC5-4F96-807D-FD771BBD20E6}"/>
              </a:ext>
            </a:extLst>
          </p:cNvPr>
          <p:cNvSpPr>
            <a:spLocks xmlns:a="http://schemas.openxmlformats.org/drawingml/2006/main" noGrp="1"/>
          </p:cNvSpPr>
          <p:nvPr/>
        </p:nvSpPr>
        <p:spPr>
          <a:xfrm xmlns:a="http://schemas.openxmlformats.org/drawingml/2006/main">
            <a:off x="609600" y="2533650"/>
            <a:ext cx="10972800" cy="0"/>
          </a:xfrm>
          <a:prstGeom xmlns:a="http://schemas.openxmlformats.org/drawingml/2006/main" prst="line">
            <a:avLst/>
          </a:prstGeom>
          <a:noFill xmlns:a="http://schemas.openxmlformats.org/drawingml/2006/main"/>
          <a:ln xmlns:a="http://schemas.openxmlformats.org/drawingml/2006/main" w="9525">
            <a:solidFill>
              <a:srgbClr val="D9D0C5"/>
            </a:solidFill>
            <a:prstDash val="solid"/>
          </a:ln>
        </p:spPr>
      </p:sp>
      <p:sp>
        <p:nvSpPr>
          <p:cNvPr id="5" name="">
            <a:extLst xmlns:a="http://schemas.openxmlformats.org/drawingml/2006/main">
              <a:ext uri="{FF2B5EF4-FFF2-40B4-BE49-F238E27FC236}">
                <a16:creationId xmlns:a16="http://schemas.microsoft.com/office/drawing/2014/main" id="{0BEFB4B9-77FC-4C34-B2BB-3DC552C5AF3D}"/>
              </a:ext>
            </a:extLst>
          </p:cNvPr>
          <p:cNvSpPr>
            <a:spLocks xmlns:a="http://schemas.openxmlformats.org/drawingml/2006/main" noGrp="1"/>
          </p:cNvSpPr>
          <p:nvPr/>
        </p:nvSpPr>
        <p:spPr>
          <a:xfrm xmlns:a="http://schemas.openxmlformats.org/drawingml/2006/main">
            <a:off x="609600" y="3009900"/>
            <a:ext cx="3314700" cy="2171700"/>
          </a:xfrm>
          <a:prstGeom xmlns:a="http://schemas.openxmlformats.org/drawingml/2006/main" prst="roundRect">
            <a:avLst>
              <a:gd name="adj" fmla="val 9649"/>
            </a:avLst>
          </a:prstGeom>
          <a:solidFill xmlns:a="http://schemas.openxmlformats.org/drawingml/2006/main">
            <a:srgbClr val="F6F2EC"/>
          </a:solidFill>
          <a:ln xmlns:a="http://schemas.openxmlformats.org/drawingml/2006/main" w="9525">
            <a:solidFill>
              <a:srgbClr val="D9D0C5"/>
            </a:solidFill>
            <a:prstDash val="solid"/>
          </a:ln>
        </p:spPr>
      </p:sp>
      <p:sp>
        <p:nvSpPr>
          <p:cNvPr id="6" name="">
            <a:extLst xmlns:a="http://schemas.openxmlformats.org/drawingml/2006/main">
              <a:ext uri="{FF2B5EF4-FFF2-40B4-BE49-F238E27FC236}">
                <a16:creationId xmlns:a16="http://schemas.microsoft.com/office/drawing/2014/main" id="{23AAD40E-49CC-4264-B3A4-173EEA68B763}"/>
              </a:ext>
            </a:extLst>
          </p:cNvPr>
          <p:cNvSpPr>
            <a:spLocks xmlns:a="http://schemas.openxmlformats.org/drawingml/2006/main" noGrp="1"/>
          </p:cNvSpPr>
          <p:nvPr/>
        </p:nvSpPr>
        <p:spPr>
          <a:xfrm xmlns:a="http://schemas.openxmlformats.org/drawingml/2006/main">
            <a:off x="4438650" y="3009900"/>
            <a:ext cx="3314700" cy="2171700"/>
          </a:xfrm>
          <a:prstGeom xmlns:a="http://schemas.openxmlformats.org/drawingml/2006/main" prst="roundRect">
            <a:avLst>
              <a:gd name="adj" fmla="val 9649"/>
            </a:avLst>
          </a:prstGeom>
          <a:solidFill xmlns:a="http://schemas.openxmlformats.org/drawingml/2006/main">
            <a:srgbClr val="F6F2EC"/>
          </a:solidFill>
          <a:ln xmlns:a="http://schemas.openxmlformats.org/drawingml/2006/main" w="9525">
            <a:solidFill>
              <a:srgbClr val="D9D0C5"/>
            </a:solidFill>
            <a:prstDash val="solid"/>
          </a:ln>
        </p:spPr>
      </p:sp>
      <p:sp>
        <p:nvSpPr>
          <p:cNvPr id="7" name="">
            <a:extLst xmlns:a="http://schemas.openxmlformats.org/drawingml/2006/main">
              <a:ext uri="{FF2B5EF4-FFF2-40B4-BE49-F238E27FC236}">
                <a16:creationId xmlns:a16="http://schemas.microsoft.com/office/drawing/2014/main" id="{3D1F51B1-04F3-47A3-AE20-F5CF11E55579}"/>
              </a:ext>
            </a:extLst>
          </p:cNvPr>
          <p:cNvSpPr>
            <a:spLocks xmlns:a="http://schemas.openxmlformats.org/drawingml/2006/main" noGrp="1"/>
          </p:cNvSpPr>
          <p:nvPr/>
        </p:nvSpPr>
        <p:spPr>
          <a:xfrm xmlns:a="http://schemas.openxmlformats.org/drawingml/2006/main">
            <a:off x="8267700" y="3009900"/>
            <a:ext cx="3314700" cy="2171700"/>
          </a:xfrm>
          <a:prstGeom xmlns:a="http://schemas.openxmlformats.org/drawingml/2006/main" prst="roundRect">
            <a:avLst>
              <a:gd name="adj" fmla="val 9649"/>
            </a:avLst>
          </a:prstGeom>
          <a:solidFill xmlns:a="http://schemas.openxmlformats.org/drawingml/2006/main">
            <a:srgbClr val="F6F2EC"/>
          </a:solidFill>
          <a:ln xmlns:a="http://schemas.openxmlformats.org/drawingml/2006/main" w="9525">
            <a:solidFill>
              <a:srgbClr val="D9D0C5"/>
            </a:solidFill>
            <a:prstDash val="solid"/>
          </a:ln>
        </p:spPr>
      </p:sp>
      <p:sp>
        <p:nvSpPr>
          <p:cNvPr id="8" name="">
            <a:extLst xmlns:a="http://schemas.openxmlformats.org/drawingml/2006/main">
              <a:ext uri="{FF2B5EF4-FFF2-40B4-BE49-F238E27FC236}">
                <a16:creationId xmlns:a16="http://schemas.microsoft.com/office/drawing/2014/main" id="{51BEAD76-E934-4EB8-8C43-00E1E09F33AD}"/>
              </a:ext>
            </a:extLst>
          </p:cNvPr>
          <p:cNvSpPr>
            <a:spLocks xmlns:a="http://schemas.openxmlformats.org/drawingml/2006/main" noGrp="1"/>
          </p:cNvSpPr>
          <p:nvPr/>
        </p:nvSpPr>
        <p:spPr>
          <a:xfrm xmlns:a="http://schemas.openxmlformats.org/drawingml/2006/main">
            <a:off x="876300" y="3333750"/>
            <a:ext cx="278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i="0">
                <a:solidFill>
                  <a:srgbClr val="11100F"/>
                </a:solidFill>
                <a:latin typeface="Helvetica Neue"/>
                <a:ea typeface="Helvetica Neue"/>
                <a:cs typeface="Helvetica Neue"/>
              </a:defRPr>
            </a:pPr>
            <a:r>
              <a:rPr sz="1950" b="1" i="0">
                <a:solidFill>
                  <a:srgbClr val="11100F"/>
                </a:solidFill>
                <a:latin typeface="Helvetica Neue"/>
                <a:ea typeface="Helvetica Neue"/>
                <a:cs typeface="Helvetica Neue"/>
              </a:rPr>
              <a:t>V1: usable core</a:t>
            </a:r>
          </a:p>
        </p:txBody>
      </p:sp>
      <p:sp>
        <p:nvSpPr>
          <p:cNvPr id="9" name="">
            <a:extLst xmlns:a="http://schemas.openxmlformats.org/drawingml/2006/main">
              <a:ext uri="{FF2B5EF4-FFF2-40B4-BE49-F238E27FC236}">
                <a16:creationId xmlns:a16="http://schemas.microsoft.com/office/drawing/2014/main" id="{BD2CD8E4-E665-4465-BC68-6BDB8DF1B145}"/>
              </a:ext>
            </a:extLst>
          </p:cNvPr>
          <p:cNvSpPr>
            <a:spLocks xmlns:a="http://schemas.openxmlformats.org/drawingml/2006/main" noGrp="1"/>
          </p:cNvSpPr>
          <p:nvPr/>
        </p:nvSpPr>
        <p:spPr>
          <a:xfrm xmlns:a="http://schemas.openxmlformats.org/drawingml/2006/main">
            <a:off x="876300" y="4095750"/>
            <a:ext cx="2781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6F665E"/>
                </a:solidFill>
                <a:latin typeface="Helvetica Neue"/>
                <a:ea typeface="Helvetica Neue"/>
                <a:cs typeface="Helvetica Neue"/>
              </a:defRPr>
            </a:pPr>
            <a:r>
              <a:rPr sz="1500" b="0" i="0">
                <a:solidFill>
                  <a:srgbClr val="6F665E"/>
                </a:solidFill>
                <a:latin typeface="Helvetica Neue"/>
                <a:ea typeface="Helvetica Neue"/>
                <a:cs typeface="Helvetica Neue"/>
              </a:rPr>
              <a:t>Local WAV + immutable transcript + encrypted summary. Delete removes its local data.</a:t>
            </a:r>
          </a:p>
        </p:txBody>
      </p:sp>
      <p:sp>
        <p:nvSpPr>
          <p:cNvPr id="10" name="">
            <a:extLst xmlns:a="http://schemas.openxmlformats.org/drawingml/2006/main">
              <a:ext uri="{FF2B5EF4-FFF2-40B4-BE49-F238E27FC236}">
                <a16:creationId xmlns:a16="http://schemas.microsoft.com/office/drawing/2014/main" id="{FFEE1292-D06D-4FC1-9ADC-20794D09B4DA}"/>
              </a:ext>
            </a:extLst>
          </p:cNvPr>
          <p:cNvSpPr>
            <a:spLocks xmlns:a="http://schemas.openxmlformats.org/drawingml/2006/main" noGrp="1"/>
          </p:cNvSpPr>
          <p:nvPr/>
        </p:nvSpPr>
        <p:spPr>
          <a:xfrm xmlns:a="http://schemas.openxmlformats.org/drawingml/2006/main">
            <a:off x="4705350" y="3333750"/>
            <a:ext cx="278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1100F"/>
                </a:solidFill>
                <a:latin typeface="Helvetica Neue"/>
                <a:ea typeface="Helvetica Neue"/>
                <a:cs typeface="Helvetica Neue"/>
              </a:defRPr>
            </a:pPr>
            <a:r>
              <a:rPr sz="1800" b="1" i="0">
                <a:solidFill>
                  <a:srgbClr val="11100F"/>
                </a:solidFill>
                <a:latin typeface="Helvetica Neue"/>
                <a:ea typeface="Helvetica Neue"/>
                <a:cs typeface="Helvetica Neue"/>
              </a:rPr>
              <a:t>Text-only cloud summary</a:t>
            </a:r>
          </a:p>
        </p:txBody>
      </p:sp>
      <p:sp>
        <p:nvSpPr>
          <p:cNvPr id="11" name="">
            <a:extLst xmlns:a="http://schemas.openxmlformats.org/drawingml/2006/main">
              <a:ext uri="{FF2B5EF4-FFF2-40B4-BE49-F238E27FC236}">
                <a16:creationId xmlns:a16="http://schemas.microsoft.com/office/drawing/2014/main" id="{72AEE858-316D-4FE2-A793-625D5AEFBC57}"/>
              </a:ext>
            </a:extLst>
          </p:cNvPr>
          <p:cNvSpPr>
            <a:spLocks xmlns:a="http://schemas.openxmlformats.org/drawingml/2006/main" noGrp="1"/>
          </p:cNvSpPr>
          <p:nvPr/>
        </p:nvSpPr>
        <p:spPr>
          <a:xfrm xmlns:a="http://schemas.openxmlformats.org/drawingml/2006/main">
            <a:off x="4705350" y="4095750"/>
            <a:ext cx="2781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6F665E"/>
                </a:solidFill>
                <a:latin typeface="Helvetica Neue"/>
                <a:ea typeface="Helvetica Neue"/>
                <a:cs typeface="Helvetica Neue"/>
              </a:defRPr>
            </a:pPr>
            <a:r>
              <a:rPr sz="1500" b="0" i="0">
                <a:solidFill>
                  <a:srgbClr val="6F665E"/>
                </a:solidFill>
                <a:latin typeface="Helvetica Neue"/>
                <a:ea typeface="Helvetica Neue"/>
                <a:cs typeface="Helvetica Neue"/>
              </a:rPr>
              <a:t>Only finished text may go through the existing BYO-key cloud summary path; audio never goes to that service.</a:t>
            </a:r>
          </a:p>
        </p:txBody>
      </p:sp>
      <p:sp>
        <p:nvSpPr>
          <p:cNvPr id="12" name="">
            <a:extLst xmlns:a="http://schemas.openxmlformats.org/drawingml/2006/main">
              <a:ext uri="{FF2B5EF4-FFF2-40B4-BE49-F238E27FC236}">
                <a16:creationId xmlns:a16="http://schemas.microsoft.com/office/drawing/2014/main" id="{07DCEF64-5B7A-4064-8F8E-4D57183A4D2D}"/>
              </a:ext>
            </a:extLst>
          </p:cNvPr>
          <p:cNvSpPr>
            <a:spLocks xmlns:a="http://schemas.openxmlformats.org/drawingml/2006/main" noGrp="1"/>
          </p:cNvSpPr>
          <p:nvPr/>
        </p:nvSpPr>
        <p:spPr>
          <a:xfrm xmlns:a="http://schemas.openxmlformats.org/drawingml/2006/main">
            <a:off x="8534400" y="3333750"/>
            <a:ext cx="278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i="0">
                <a:solidFill>
                  <a:srgbClr val="11100F"/>
                </a:solidFill>
                <a:latin typeface="Helvetica Neue"/>
                <a:ea typeface="Helvetica Neue"/>
                <a:cs typeface="Helvetica Neue"/>
              </a:defRPr>
            </a:pPr>
            <a:r>
              <a:rPr sz="1950" b="1" i="0">
                <a:solidFill>
                  <a:srgbClr val="11100F"/>
                </a:solidFill>
                <a:latin typeface="Helvetica Neue"/>
                <a:ea typeface="Helvetica Neue"/>
                <a:cs typeface="Helvetica Neue"/>
              </a:rPr>
              <a:t>V2: deliberately gated</a:t>
            </a:r>
          </a:p>
        </p:txBody>
      </p:sp>
      <p:sp>
        <p:nvSpPr>
          <p:cNvPr id="13" name="">
            <a:extLst xmlns:a="http://schemas.openxmlformats.org/drawingml/2006/main">
              <a:ext uri="{FF2B5EF4-FFF2-40B4-BE49-F238E27FC236}">
                <a16:creationId xmlns:a16="http://schemas.microsoft.com/office/drawing/2014/main" id="{9FBF8C18-6FFA-4DAE-B9DB-EC2D5CA10925}"/>
              </a:ext>
            </a:extLst>
          </p:cNvPr>
          <p:cNvSpPr>
            <a:spLocks xmlns:a="http://schemas.openxmlformats.org/drawingml/2006/main" noGrp="1"/>
          </p:cNvSpPr>
          <p:nvPr/>
        </p:nvSpPr>
        <p:spPr>
          <a:xfrm xmlns:a="http://schemas.openxmlformats.org/drawingml/2006/main">
            <a:off x="8534400" y="4095750"/>
            <a:ext cx="2781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6F665E"/>
                </a:solidFill>
                <a:latin typeface="Helvetica Neue"/>
                <a:ea typeface="Helvetica Neue"/>
                <a:cs typeface="Helvetica Neue"/>
              </a:defRPr>
            </a:pPr>
            <a:r>
              <a:rPr sz="1500" b="0" i="0">
                <a:solidFill>
                  <a:srgbClr val="6F665E"/>
                </a:solidFill>
                <a:latin typeface="Helvetica Neue"/>
                <a:ea typeface="Helvetica Neue"/>
                <a:cs typeface="Helvetica Neue"/>
              </a:rPr>
              <a:t>Teacher/student diarization is not being integrated because tested candidates did not meet the reliability gate.</a:t>
            </a:r>
          </a:p>
        </p:txBody>
      </p:sp>
      <p:sp>
        <p:nvSpPr>
          <p:cNvPr id="14" name="">
            <a:extLst xmlns:a="http://schemas.openxmlformats.org/drawingml/2006/main">
              <a:ext uri="{FF2B5EF4-FFF2-40B4-BE49-F238E27FC236}">
                <a16:creationId xmlns:a16="http://schemas.microsoft.com/office/drawing/2014/main" id="{63C611F6-D147-482F-B1CC-29D889D09C73}"/>
              </a:ext>
            </a:extLst>
          </p:cNvPr>
          <p:cNvSpPr>
            <a:spLocks xmlns:a="http://schemas.openxmlformats.org/drawingml/2006/main" noGrp="1"/>
          </p:cNvSpPr>
          <p:nvPr/>
        </p:nvSpPr>
        <p:spPr>
          <a:xfrm xmlns:a="http://schemas.openxmlformats.org/drawingml/2006/main">
            <a:off x="609600" y="5638800"/>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i="0">
                <a:solidFill>
                  <a:srgbClr val="A74538"/>
                </a:solidFill>
                <a:latin typeface="Helvetica Neue"/>
                <a:ea typeface="Helvetica Neue"/>
                <a:cs typeface="Helvetica Neue"/>
              </a:defRPr>
            </a:pPr>
            <a:r>
              <a:rPr sz="1575" b="1" i="0">
                <a:solidFill>
                  <a:srgbClr val="A74538"/>
                </a:solidFill>
                <a:latin typeface="Helvetica Neue"/>
                <a:ea typeface="Helvetica Neue"/>
                <a:cs typeface="Helvetica Neue"/>
              </a:rPr>
              <a:t>Product lesson: a feature that mislabels people is worse than no feature. The safer version waits for evidence.</a:t>
            </a:r>
          </a:p>
        </p:txBody>
      </p:sp>
      <p:sp>
        <p:nvSpPr>
          <p:cNvPr id="15" name="">
            <a:extLst xmlns:a="http://schemas.openxmlformats.org/drawingml/2006/main">
              <a:ext uri="{FF2B5EF4-FFF2-40B4-BE49-F238E27FC236}">
                <a16:creationId xmlns:a16="http://schemas.microsoft.com/office/drawing/2014/main" id="{FB51B28B-29A2-435C-83DB-23342FF56211}"/>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9D0C5"/>
            </a:solidFill>
            <a:prstDash val="solid"/>
          </a:ln>
        </p:spPr>
      </p:sp>
      <p:sp>
        <p:nvSpPr>
          <p:cNvPr id="16" name="">
            <a:extLst xmlns:a="http://schemas.openxmlformats.org/drawingml/2006/main">
              <a:ext uri="{FF2B5EF4-FFF2-40B4-BE49-F238E27FC236}">
                <a16:creationId xmlns:a16="http://schemas.microsoft.com/office/drawing/2014/main" id="{CFE18931-FE3B-4E7B-BC79-D2DF6097594D}"/>
              </a:ext>
            </a:extLst>
          </p:cNvPr>
          <p:cNvSpPr>
            <a:spLocks xmlns:a="http://schemas.openxmlformats.org/drawingml/2006/main" noGrp="1"/>
          </p:cNvSpPr>
          <p:nvPr/>
        </p:nvSpPr>
        <p:spPr>
          <a:xfrm xmlns:a="http://schemas.openxmlformats.org/drawingml/2006/main">
            <a:off x="609600" y="65627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9B9086"/>
                </a:solidFill>
                <a:latin typeface="Helvetica Neue"/>
                <a:ea typeface="Helvetica Neue"/>
                <a:cs typeface="Helvetica Neue"/>
              </a:defRPr>
            </a:pPr>
            <a:r>
              <a:rPr sz="900" b="1" i="0">
                <a:solidFill>
                  <a:srgbClr val="9B9086"/>
                </a:solidFill>
                <a:latin typeface="Helvetica Neue"/>
                <a:ea typeface="Helvetica Neue"/>
                <a:cs typeface="Helvetica Neue"/>
              </a:rPr>
              <a:t>ZENVOICE  |  PRIVATE LOCAL-FIRST DICTATION</a:t>
            </a:r>
          </a:p>
        </p:txBody>
      </p:sp>
      <p:sp>
        <p:nvSpPr>
          <p:cNvPr id="17" name="">
            <a:extLst xmlns:a="http://schemas.openxmlformats.org/drawingml/2006/main">
              <a:ext uri="{FF2B5EF4-FFF2-40B4-BE49-F238E27FC236}">
                <a16:creationId xmlns:a16="http://schemas.microsoft.com/office/drawing/2014/main" id="{AF6DDEC7-D074-4933-BE98-E2428598C1CE}"/>
              </a:ext>
            </a:extLst>
          </p:cNvPr>
          <p:cNvSpPr>
            <a:spLocks xmlns:a="http://schemas.openxmlformats.org/drawingml/2006/main" noGrp="1"/>
          </p:cNvSpPr>
          <p:nvPr/>
        </p:nvSpPr>
        <p:spPr>
          <a:xfrm xmlns:a="http://schemas.openxmlformats.org/drawingml/2006/main">
            <a:off x="10668000" y="6562725"/>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9B9086"/>
                </a:solidFill>
                <a:latin typeface="Helvetica Neue"/>
                <a:ea typeface="Helvetica Neue"/>
                <a:cs typeface="Helvetica Neue"/>
              </a:defRPr>
            </a:pPr>
            <a:r>
              <a:rPr sz="900" b="1" i="0">
                <a:solidFill>
                  <a:srgbClr val="9B9086"/>
                </a:solidFill>
                <a:latin typeface="Helvetica Neue"/>
                <a:ea typeface="Helvetica Neue"/>
                <a:cs typeface="Helvetica Neue"/>
              </a:rPr>
              <a:t>12</a:t>
            </a:r>
          </a:p>
        </p:txBody>
      </p:sp>
    </p:spTree>
    <p:extLst>
      <p:ext uri="{BB962C8B-B14F-4D97-AF65-F5344CB8AC3E}">
        <p14:creationId xmlns:p14="http://schemas.microsoft.com/office/powerpoint/2010/main" val="954116168"/>
      </p:ext>
    </p:extLst>
  </p:cSld>
  <p:transition spd="med" advClick="1">
    <p:fade/>
  </p:transition>
</p:sld>
</file>

<file path=ppt/slides/slide13.xml><?xml version="1.0" encoding="utf-8"?>
<p:sld xmlns:p="http://schemas.openxmlformats.org/presentationml/2006/main">
  <p:cSld>
    <p:bg>
      <p:bgPr>
        <a:solidFill xmlns:a="http://schemas.openxmlformats.org/drawingml/2006/main">
          <a:srgbClr val="FCFA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6270FA2-6879-45DB-B40A-03222E9CFA27}"/>
              </a:ext>
            </a:extLst>
          </p:cNvPr>
          <p:cNvSpPr>
            <a:spLocks xmlns:a="http://schemas.openxmlformats.org/drawingml/2006/main" noGrp="1"/>
          </p:cNvSpPr>
          <p:nvPr/>
        </p:nvSpPr>
        <p:spPr>
          <a:xfrm xmlns:a="http://schemas.openxmlformats.org/drawingml/2006/main">
            <a:off x="609600" y="457200"/>
            <a:ext cx="1104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B58A4A"/>
                </a:solidFill>
                <a:latin typeface="Helvetica Neue"/>
                <a:ea typeface="Helvetica Neue"/>
                <a:cs typeface="Helvetica Neue"/>
              </a:defRPr>
            </a:pPr>
            <a:r>
              <a:rPr sz="1125" b="1" i="0">
                <a:solidFill>
                  <a:srgbClr val="B58A4A"/>
                </a:solidFill>
                <a:latin typeface="Helvetica Neue"/>
                <a:ea typeface="Helvetica Neue"/>
                <a:cs typeface="Helvetica Neue"/>
              </a:rPr>
              <a:t>13  /  CURRENT STATUS AND NEXT MILESTONES</a:t>
            </a:r>
          </a:p>
        </p:txBody>
      </p:sp>
      <p:sp>
        <p:nvSpPr>
          <p:cNvPr id="2" name="">
            <a:extLst xmlns:a="http://schemas.openxmlformats.org/drawingml/2006/main">
              <a:ext uri="{FF2B5EF4-FFF2-40B4-BE49-F238E27FC236}">
                <a16:creationId xmlns:a16="http://schemas.microsoft.com/office/drawing/2014/main" id="{2B38C950-B8FC-4037-8C75-D7B9F36E0071}"/>
              </a:ext>
            </a:extLst>
          </p:cNvPr>
          <p:cNvSpPr>
            <a:spLocks xmlns:a="http://schemas.openxmlformats.org/drawingml/2006/main" noGrp="1"/>
          </p:cNvSpPr>
          <p:nvPr/>
        </p:nvSpPr>
        <p:spPr>
          <a:xfrm xmlns:a="http://schemas.openxmlformats.org/drawingml/2006/main">
            <a:off x="609600" y="838200"/>
            <a:ext cx="10287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00F"/>
                </a:solidFill>
                <a:latin typeface="Helvetica Neue"/>
                <a:ea typeface="Helvetica Neue"/>
                <a:cs typeface="Helvetica Neue"/>
              </a:defRPr>
            </a:pPr>
            <a:r>
              <a:rPr sz="3000" b="1" i="0">
                <a:solidFill>
                  <a:srgbClr val="11100F"/>
                </a:solidFill>
                <a:latin typeface="Helvetica Neue"/>
                <a:ea typeface="Helvetica Neue"/>
                <a:cs typeface="Helvetica Neue"/>
              </a:rPr>
              <a:t>Working personal alpha. Clear path to shipping.</a:t>
            </a:r>
          </a:p>
        </p:txBody>
      </p:sp>
      <p:sp>
        <p:nvSpPr>
          <p:cNvPr id="3" name="">
            <a:extLst xmlns:a="http://schemas.openxmlformats.org/drawingml/2006/main">
              <a:ext uri="{FF2B5EF4-FFF2-40B4-BE49-F238E27FC236}">
                <a16:creationId xmlns:a16="http://schemas.microsoft.com/office/drawing/2014/main" id="{BE76835E-02F8-4242-BA57-69EA9E3A38F9}"/>
              </a:ext>
            </a:extLst>
          </p:cNvPr>
          <p:cNvSpPr>
            <a:spLocks xmlns:a="http://schemas.openxmlformats.org/drawingml/2006/main" noGrp="1"/>
          </p:cNvSpPr>
          <p:nvPr/>
        </p:nvSpPr>
        <p:spPr>
          <a:xfrm xmlns:a="http://schemas.openxmlformats.org/drawingml/2006/main">
            <a:off x="609600" y="1952625"/>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6F665E"/>
                </a:solidFill>
                <a:latin typeface="Helvetica Neue"/>
                <a:ea typeface="Helvetica Neue"/>
                <a:cs typeface="Helvetica Neue"/>
              </a:defRPr>
            </a:pPr>
            <a:r>
              <a:rPr sz="1575" b="0" i="0">
                <a:solidFill>
                  <a:srgbClr val="6F665E"/>
                </a:solidFill>
                <a:latin typeface="Helvetica Neue"/>
                <a:ea typeface="Helvetica Neue"/>
                <a:cs typeface="Helvetica Neue"/>
              </a:rPr>
              <a:t>The app is running and the core product is implemented; public shipping is intentionally deferred until release gates are completed.</a:t>
            </a:r>
          </a:p>
        </p:txBody>
      </p:sp>
      <p:sp>
        <p:nvSpPr>
          <p:cNvPr id="4" name="">
            <a:extLst xmlns:a="http://schemas.openxmlformats.org/drawingml/2006/main">
              <a:ext uri="{FF2B5EF4-FFF2-40B4-BE49-F238E27FC236}">
                <a16:creationId xmlns:a16="http://schemas.microsoft.com/office/drawing/2014/main" id="{D4AF1802-E857-4A95-867D-CCE5EF5C3E81}"/>
              </a:ext>
            </a:extLst>
          </p:cNvPr>
          <p:cNvSpPr>
            <a:spLocks xmlns:a="http://schemas.openxmlformats.org/drawingml/2006/main" noGrp="1"/>
          </p:cNvSpPr>
          <p:nvPr/>
        </p:nvSpPr>
        <p:spPr>
          <a:xfrm xmlns:a="http://schemas.openxmlformats.org/drawingml/2006/main">
            <a:off x="609600" y="2533650"/>
            <a:ext cx="10972800" cy="0"/>
          </a:xfrm>
          <a:prstGeom xmlns:a="http://schemas.openxmlformats.org/drawingml/2006/main" prst="line">
            <a:avLst/>
          </a:prstGeom>
          <a:noFill xmlns:a="http://schemas.openxmlformats.org/drawingml/2006/main"/>
          <a:ln xmlns:a="http://schemas.openxmlformats.org/drawingml/2006/main" w="9525">
            <a:solidFill>
              <a:srgbClr val="D9D0C5"/>
            </a:solidFill>
            <a:prstDash val="solid"/>
          </a:ln>
        </p:spPr>
      </p:sp>
      <p:sp>
        <p:nvSpPr>
          <p:cNvPr id="5" name="">
            <a:extLst xmlns:a="http://schemas.openxmlformats.org/drawingml/2006/main">
              <a:ext uri="{FF2B5EF4-FFF2-40B4-BE49-F238E27FC236}">
                <a16:creationId xmlns:a16="http://schemas.microsoft.com/office/drawing/2014/main" id="{10EF48AA-7654-4D96-B933-0B6EA9AB987C}"/>
              </a:ext>
            </a:extLst>
          </p:cNvPr>
          <p:cNvSpPr>
            <a:spLocks xmlns:a="http://schemas.openxmlformats.org/drawingml/2006/main" noGrp="1"/>
          </p:cNvSpPr>
          <p:nvPr/>
        </p:nvSpPr>
        <p:spPr>
          <a:xfrm xmlns:a="http://schemas.openxmlformats.org/drawingml/2006/main">
            <a:off x="1885950" y="4114800"/>
            <a:ext cx="8153400" cy="0"/>
          </a:xfrm>
          <a:prstGeom xmlns:a="http://schemas.openxmlformats.org/drawingml/2006/main" prst="line">
            <a:avLst/>
          </a:prstGeom>
          <a:noFill xmlns:a="http://schemas.openxmlformats.org/drawingml/2006/main"/>
          <a:ln xmlns:a="http://schemas.openxmlformats.org/drawingml/2006/main" w="28575">
            <a:solidFill>
              <a:srgbClr val="D9D0C5"/>
            </a:solidFill>
            <a:prstDash val="solid"/>
          </a:ln>
        </p:spPr>
      </p:sp>
      <p:sp>
        <p:nvSpPr>
          <p:cNvPr id="6" name="">
            <a:extLst xmlns:a="http://schemas.openxmlformats.org/drawingml/2006/main">
              <a:ext uri="{FF2B5EF4-FFF2-40B4-BE49-F238E27FC236}">
                <a16:creationId xmlns:a16="http://schemas.microsoft.com/office/drawing/2014/main" id="{C8677FA7-DE75-4427-828A-33C9DA92C989}"/>
              </a:ext>
            </a:extLst>
          </p:cNvPr>
          <p:cNvSpPr>
            <a:spLocks xmlns:a="http://schemas.openxmlformats.org/drawingml/2006/main" noGrp="1"/>
          </p:cNvSpPr>
          <p:nvPr/>
        </p:nvSpPr>
        <p:spPr>
          <a:xfrm xmlns:a="http://schemas.openxmlformats.org/drawingml/2006/main">
            <a:off x="1143000" y="3771900"/>
            <a:ext cx="704850" cy="704850"/>
          </a:xfrm>
          <a:prstGeom xmlns:a="http://schemas.openxmlformats.org/drawingml/2006/main" prst="ellipse">
            <a:avLst/>
          </a:prstGeom>
          <a:solidFill xmlns:a="http://schemas.openxmlformats.org/drawingml/2006/main">
            <a:srgbClr val="256B5B"/>
          </a:solidFill>
          <a:ln xmlns:a="http://schemas.openxmlformats.org/drawingml/2006/main" w="0">
            <a:solidFill>
              <a:srgbClr val="256B5B"/>
            </a:solidFill>
            <a:prstDash val="solid"/>
          </a:ln>
        </p:spPr>
      </p:sp>
      <p:sp>
        <p:nvSpPr>
          <p:cNvPr id="7" name="">
            <a:extLst xmlns:a="http://schemas.openxmlformats.org/drawingml/2006/main">
              <a:ext uri="{FF2B5EF4-FFF2-40B4-BE49-F238E27FC236}">
                <a16:creationId xmlns:a16="http://schemas.microsoft.com/office/drawing/2014/main" id="{E4EF051B-E5F1-453E-988E-9107D21D79D1}"/>
              </a:ext>
            </a:extLst>
          </p:cNvPr>
          <p:cNvSpPr>
            <a:spLocks xmlns:a="http://schemas.openxmlformats.org/drawingml/2006/main" noGrp="1"/>
          </p:cNvSpPr>
          <p:nvPr/>
        </p:nvSpPr>
        <p:spPr>
          <a:xfrm xmlns:a="http://schemas.openxmlformats.org/drawingml/2006/main">
            <a:off x="1066800" y="4629150"/>
            <a:ext cx="876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i="0">
                <a:solidFill>
                  <a:srgbClr val="11100F"/>
                </a:solidFill>
                <a:latin typeface="Helvetica Neue"/>
                <a:ea typeface="Helvetica Neue"/>
                <a:cs typeface="Helvetica Neue"/>
              </a:defRPr>
            </a:pPr>
            <a:r>
              <a:rPr sz="1500" b="1" i="0">
                <a:solidFill>
                  <a:srgbClr val="11100F"/>
                </a:solidFill>
                <a:latin typeface="Helvetica Neue"/>
                <a:ea typeface="Helvetica Neue"/>
                <a:cs typeface="Helvetica Neue"/>
              </a:rPr>
              <a:t>Now</a:t>
            </a:r>
          </a:p>
        </p:txBody>
      </p:sp>
      <p:sp>
        <p:nvSpPr>
          <p:cNvPr id="8" name="">
            <a:extLst xmlns:a="http://schemas.openxmlformats.org/drawingml/2006/main">
              <a:ext uri="{FF2B5EF4-FFF2-40B4-BE49-F238E27FC236}">
                <a16:creationId xmlns:a16="http://schemas.microsoft.com/office/drawing/2014/main" id="{99E071F3-9524-45F5-9E72-0327EF236ECD}"/>
              </a:ext>
            </a:extLst>
          </p:cNvPr>
          <p:cNvSpPr>
            <a:spLocks xmlns:a="http://schemas.openxmlformats.org/drawingml/2006/main" noGrp="1"/>
          </p:cNvSpPr>
          <p:nvPr/>
        </p:nvSpPr>
        <p:spPr>
          <a:xfrm xmlns:a="http://schemas.openxmlformats.org/drawingml/2006/main">
            <a:off x="476250" y="5010150"/>
            <a:ext cx="203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i="0">
                <a:solidFill>
                  <a:srgbClr val="6F665E"/>
                </a:solidFill>
                <a:latin typeface="Helvetica Neue"/>
                <a:ea typeface="Helvetica Neue"/>
                <a:cs typeface="Helvetica Neue"/>
              </a:defRPr>
            </a:pPr>
            <a:r>
              <a:rPr sz="1425" b="0" i="0">
                <a:solidFill>
                  <a:srgbClr val="6F665E"/>
                </a:solidFill>
                <a:latin typeface="Helvetica Neue"/>
                <a:ea typeface="Helvetica Neue"/>
                <a:cs typeface="Helvetica Neue"/>
              </a:rPr>
              <a:t>Native menu-bar app</a:t>
            </a:r>
          </a:p>
          <a:p xmlns:a="http://schemas.openxmlformats.org/drawingml/2006/main">
            <a:pPr algn="ctr">
              <a:defRPr sz="1425" b="0" i="0">
                <a:solidFill>
                  <a:srgbClr val="6F665E"/>
                </a:solidFill>
                <a:latin typeface="Helvetica Neue"/>
                <a:ea typeface="Helvetica Neue"/>
                <a:cs typeface="Helvetica Neue"/>
              </a:defRPr>
            </a:pPr>
            <a:r>
              <a:rPr sz="1425" b="0" i="0">
                <a:solidFill>
                  <a:srgbClr val="6F665E"/>
                </a:solidFill>
                <a:latin typeface="Helvetica Neue"/>
                <a:ea typeface="Helvetica Neue"/>
                <a:cs typeface="Helvetica Neue"/>
              </a:rPr>
              <a:t>Local engines</a:t>
            </a:r>
          </a:p>
          <a:p xmlns:a="http://schemas.openxmlformats.org/drawingml/2006/main">
            <a:pPr algn="ctr">
              <a:defRPr sz="1425" b="0" i="0">
                <a:solidFill>
                  <a:srgbClr val="6F665E"/>
                </a:solidFill>
                <a:latin typeface="Helvetica Neue"/>
                <a:ea typeface="Helvetica Neue"/>
                <a:cs typeface="Helvetica Neue"/>
              </a:defRPr>
            </a:pPr>
            <a:r>
              <a:rPr sz="1425" b="0" i="0">
                <a:solidFill>
                  <a:srgbClr val="6F665E"/>
                </a:solidFill>
                <a:latin typeface="Helvetica Neue"/>
                <a:ea typeface="Helvetica Neue"/>
                <a:cs typeface="Helvetica Neue"/>
              </a:rPr>
              <a:t>Encrypted history</a:t>
            </a:r>
          </a:p>
        </p:txBody>
      </p:sp>
      <p:sp>
        <p:nvSpPr>
          <p:cNvPr id="9" name="">
            <a:extLst xmlns:a="http://schemas.openxmlformats.org/drawingml/2006/main">
              <a:ext uri="{FF2B5EF4-FFF2-40B4-BE49-F238E27FC236}">
                <a16:creationId xmlns:a16="http://schemas.microsoft.com/office/drawing/2014/main" id="{6908CDA8-1661-43CA-BB39-0B7BA3655707}"/>
              </a:ext>
            </a:extLst>
          </p:cNvPr>
          <p:cNvSpPr>
            <a:spLocks xmlns:a="http://schemas.openxmlformats.org/drawingml/2006/main" noGrp="1"/>
          </p:cNvSpPr>
          <p:nvPr/>
        </p:nvSpPr>
        <p:spPr>
          <a:xfrm xmlns:a="http://schemas.openxmlformats.org/drawingml/2006/main">
            <a:off x="4610100" y="3771900"/>
            <a:ext cx="704850" cy="704850"/>
          </a:xfrm>
          <a:prstGeom xmlns:a="http://schemas.openxmlformats.org/drawingml/2006/main" prst="ellipse">
            <a:avLst/>
          </a:prstGeom>
          <a:solidFill xmlns:a="http://schemas.openxmlformats.org/drawingml/2006/main">
            <a:srgbClr val="B58A4A"/>
          </a:solidFill>
          <a:ln xmlns:a="http://schemas.openxmlformats.org/drawingml/2006/main" w="0">
            <a:solidFill>
              <a:srgbClr val="B58A4A"/>
            </a:solidFill>
            <a:prstDash val="solid"/>
          </a:ln>
        </p:spPr>
      </p:sp>
      <p:sp>
        <p:nvSpPr>
          <p:cNvPr id="10" name="">
            <a:extLst xmlns:a="http://schemas.openxmlformats.org/drawingml/2006/main">
              <a:ext uri="{FF2B5EF4-FFF2-40B4-BE49-F238E27FC236}">
                <a16:creationId xmlns:a16="http://schemas.microsoft.com/office/drawing/2014/main" id="{060430EB-6CA6-4945-848E-0F2133AAE6DC}"/>
              </a:ext>
            </a:extLst>
          </p:cNvPr>
          <p:cNvSpPr>
            <a:spLocks xmlns:a="http://schemas.openxmlformats.org/drawingml/2006/main" noGrp="1"/>
          </p:cNvSpPr>
          <p:nvPr/>
        </p:nvSpPr>
        <p:spPr>
          <a:xfrm xmlns:a="http://schemas.openxmlformats.org/drawingml/2006/main">
            <a:off x="4533900" y="4629150"/>
            <a:ext cx="876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i="0">
                <a:solidFill>
                  <a:srgbClr val="11100F"/>
                </a:solidFill>
                <a:latin typeface="Helvetica Neue"/>
                <a:ea typeface="Helvetica Neue"/>
                <a:cs typeface="Helvetica Neue"/>
              </a:defRPr>
            </a:pPr>
            <a:r>
              <a:rPr sz="1500" b="1" i="0">
                <a:solidFill>
                  <a:srgbClr val="11100F"/>
                </a:solidFill>
                <a:latin typeface="Helvetica Neue"/>
                <a:ea typeface="Helvetica Neue"/>
                <a:cs typeface="Helvetica Neue"/>
              </a:rPr>
              <a:t>Next</a:t>
            </a:r>
          </a:p>
        </p:txBody>
      </p:sp>
      <p:sp>
        <p:nvSpPr>
          <p:cNvPr id="11" name="">
            <a:extLst xmlns:a="http://schemas.openxmlformats.org/drawingml/2006/main">
              <a:ext uri="{FF2B5EF4-FFF2-40B4-BE49-F238E27FC236}">
                <a16:creationId xmlns:a16="http://schemas.microsoft.com/office/drawing/2014/main" id="{D664885B-2296-4481-82E6-EE0CA5A3FDB1}"/>
              </a:ext>
            </a:extLst>
          </p:cNvPr>
          <p:cNvSpPr>
            <a:spLocks xmlns:a="http://schemas.openxmlformats.org/drawingml/2006/main" noGrp="1"/>
          </p:cNvSpPr>
          <p:nvPr/>
        </p:nvSpPr>
        <p:spPr>
          <a:xfrm xmlns:a="http://schemas.openxmlformats.org/drawingml/2006/main">
            <a:off x="3943350" y="5010150"/>
            <a:ext cx="203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i="0">
                <a:solidFill>
                  <a:srgbClr val="6F665E"/>
                </a:solidFill>
                <a:latin typeface="Helvetica Neue"/>
                <a:ea typeface="Helvetica Neue"/>
                <a:cs typeface="Helvetica Neue"/>
              </a:defRPr>
            </a:pPr>
            <a:r>
              <a:rPr sz="1425" b="0" i="0">
                <a:solidFill>
                  <a:srgbClr val="6F665E"/>
                </a:solidFill>
                <a:latin typeface="Helvetica Neue"/>
                <a:ea typeface="Helvetica Neue"/>
                <a:cs typeface="Helvetica Neue"/>
              </a:rPr>
              <a:t>Daily reliability</a:t>
            </a:r>
          </a:p>
          <a:p xmlns:a="http://schemas.openxmlformats.org/drawingml/2006/main">
            <a:pPr algn="ctr">
              <a:defRPr sz="1425" b="0" i="0">
                <a:solidFill>
                  <a:srgbClr val="6F665E"/>
                </a:solidFill>
                <a:latin typeface="Helvetica Neue"/>
                <a:ea typeface="Helvetica Neue"/>
                <a:cs typeface="Helvetica Neue"/>
              </a:defRPr>
            </a:pPr>
            <a:r>
              <a:rPr sz="1425" b="0" i="0">
                <a:solidFill>
                  <a:srgbClr val="6F665E"/>
                </a:solidFill>
                <a:latin typeface="Helvetica Neue"/>
                <a:ea typeface="Helvetica Neue"/>
                <a:cs typeface="Helvetica Neue"/>
              </a:rPr>
              <a:t>Lifecycle coverage</a:t>
            </a:r>
          </a:p>
          <a:p xmlns:a="http://schemas.openxmlformats.org/drawingml/2006/main">
            <a:pPr algn="ctr">
              <a:defRPr sz="1425" b="0" i="0">
                <a:solidFill>
                  <a:srgbClr val="6F665E"/>
                </a:solidFill>
                <a:latin typeface="Helvetica Neue"/>
                <a:ea typeface="Helvetica Neue"/>
                <a:cs typeface="Helvetica Neue"/>
              </a:defRPr>
            </a:pPr>
            <a:r>
              <a:rPr sz="1425" b="0" i="0">
                <a:solidFill>
                  <a:srgbClr val="6F665E"/>
                </a:solidFill>
                <a:latin typeface="Helvetica Neue"/>
                <a:ea typeface="Helvetica Neue"/>
                <a:cs typeface="Helvetica Neue"/>
              </a:rPr>
              <a:t>Manual QA</a:t>
            </a:r>
          </a:p>
        </p:txBody>
      </p:sp>
      <p:sp>
        <p:nvSpPr>
          <p:cNvPr id="12" name="">
            <a:extLst xmlns:a="http://schemas.openxmlformats.org/drawingml/2006/main">
              <a:ext uri="{FF2B5EF4-FFF2-40B4-BE49-F238E27FC236}">
                <a16:creationId xmlns:a16="http://schemas.microsoft.com/office/drawing/2014/main" id="{7556673B-238B-44FB-A98D-F6733206F9C5}"/>
              </a:ext>
            </a:extLst>
          </p:cNvPr>
          <p:cNvSpPr>
            <a:spLocks xmlns:a="http://schemas.openxmlformats.org/drawingml/2006/main" noGrp="1"/>
          </p:cNvSpPr>
          <p:nvPr/>
        </p:nvSpPr>
        <p:spPr>
          <a:xfrm xmlns:a="http://schemas.openxmlformats.org/drawingml/2006/main">
            <a:off x="8077200" y="3771900"/>
            <a:ext cx="704850" cy="704850"/>
          </a:xfrm>
          <a:prstGeom xmlns:a="http://schemas.openxmlformats.org/drawingml/2006/main" prst="ellipse">
            <a:avLst/>
          </a:prstGeom>
          <a:solidFill xmlns:a="http://schemas.openxmlformats.org/drawingml/2006/main">
            <a:srgbClr val="A74538"/>
          </a:solidFill>
          <a:ln xmlns:a="http://schemas.openxmlformats.org/drawingml/2006/main" w="0">
            <a:solidFill>
              <a:srgbClr val="A74538"/>
            </a:solidFill>
            <a:prstDash val="solid"/>
          </a:ln>
        </p:spPr>
      </p:sp>
      <p:sp>
        <p:nvSpPr>
          <p:cNvPr id="13" name="">
            <a:extLst xmlns:a="http://schemas.openxmlformats.org/drawingml/2006/main">
              <a:ext uri="{FF2B5EF4-FFF2-40B4-BE49-F238E27FC236}">
                <a16:creationId xmlns:a16="http://schemas.microsoft.com/office/drawing/2014/main" id="{64DF7FA1-48F7-4988-8C24-E1C4A16ECF2B}"/>
              </a:ext>
            </a:extLst>
          </p:cNvPr>
          <p:cNvSpPr>
            <a:spLocks xmlns:a="http://schemas.openxmlformats.org/drawingml/2006/main" noGrp="1"/>
          </p:cNvSpPr>
          <p:nvPr/>
        </p:nvSpPr>
        <p:spPr>
          <a:xfrm xmlns:a="http://schemas.openxmlformats.org/drawingml/2006/main">
            <a:off x="8001000" y="4629150"/>
            <a:ext cx="876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i="0">
                <a:solidFill>
                  <a:srgbClr val="11100F"/>
                </a:solidFill>
                <a:latin typeface="Helvetica Neue"/>
                <a:ea typeface="Helvetica Neue"/>
                <a:cs typeface="Helvetica Neue"/>
              </a:defRPr>
            </a:pPr>
            <a:r>
              <a:rPr sz="1500" b="1" i="0">
                <a:solidFill>
                  <a:srgbClr val="11100F"/>
                </a:solidFill>
                <a:latin typeface="Helvetica Neue"/>
                <a:ea typeface="Helvetica Neue"/>
                <a:cs typeface="Helvetica Neue"/>
              </a:rPr>
              <a:t>Ship</a:t>
            </a:r>
          </a:p>
        </p:txBody>
      </p:sp>
      <p:sp>
        <p:nvSpPr>
          <p:cNvPr id="14" name="">
            <a:extLst xmlns:a="http://schemas.openxmlformats.org/drawingml/2006/main">
              <a:ext uri="{FF2B5EF4-FFF2-40B4-BE49-F238E27FC236}">
                <a16:creationId xmlns:a16="http://schemas.microsoft.com/office/drawing/2014/main" id="{4B48F215-B146-46A1-9429-C6EBF569AC7D}"/>
              </a:ext>
            </a:extLst>
          </p:cNvPr>
          <p:cNvSpPr>
            <a:spLocks xmlns:a="http://schemas.openxmlformats.org/drawingml/2006/main" noGrp="1"/>
          </p:cNvSpPr>
          <p:nvPr/>
        </p:nvSpPr>
        <p:spPr>
          <a:xfrm xmlns:a="http://schemas.openxmlformats.org/drawingml/2006/main">
            <a:off x="7410450" y="5010150"/>
            <a:ext cx="203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i="0">
                <a:solidFill>
                  <a:srgbClr val="6F665E"/>
                </a:solidFill>
                <a:latin typeface="Helvetica Neue"/>
                <a:ea typeface="Helvetica Neue"/>
                <a:cs typeface="Helvetica Neue"/>
              </a:defRPr>
            </a:pPr>
            <a:r>
              <a:rPr sz="1425" b="0" i="0">
                <a:solidFill>
                  <a:srgbClr val="6F665E"/>
                </a:solidFill>
                <a:latin typeface="Helvetica Neue"/>
                <a:ea typeface="Helvetica Neue"/>
                <a:cs typeface="Helvetica Neue"/>
              </a:rPr>
              <a:t>Developer ID signing</a:t>
            </a:r>
          </a:p>
          <a:p xmlns:a="http://schemas.openxmlformats.org/drawingml/2006/main">
            <a:pPr algn="ctr">
              <a:defRPr sz="1425" b="0" i="0">
                <a:solidFill>
                  <a:srgbClr val="6F665E"/>
                </a:solidFill>
                <a:latin typeface="Helvetica Neue"/>
                <a:ea typeface="Helvetica Neue"/>
                <a:cs typeface="Helvetica Neue"/>
              </a:defRPr>
            </a:pPr>
            <a:r>
              <a:rPr sz="1425" b="0" i="0">
                <a:solidFill>
                  <a:srgbClr val="6F665E"/>
                </a:solidFill>
                <a:latin typeface="Helvetica Neue"/>
                <a:ea typeface="Helvetica Neue"/>
                <a:cs typeface="Helvetica Neue"/>
              </a:rPr>
              <a:t>Notarization</a:t>
            </a:r>
          </a:p>
          <a:p xmlns:a="http://schemas.openxmlformats.org/drawingml/2006/main">
            <a:pPr algn="ctr">
              <a:defRPr sz="1425" b="0" i="0">
                <a:solidFill>
                  <a:srgbClr val="6F665E"/>
                </a:solidFill>
                <a:latin typeface="Helvetica Neue"/>
                <a:ea typeface="Helvetica Neue"/>
                <a:cs typeface="Helvetica Neue"/>
              </a:defRPr>
            </a:pPr>
            <a:r>
              <a:rPr sz="1425" b="0" i="0">
                <a:solidFill>
                  <a:srgbClr val="6F665E"/>
                </a:solidFill>
                <a:latin typeface="Helvetica Neue"/>
                <a:ea typeface="Helvetica Neue"/>
                <a:cs typeface="Helvetica Neue"/>
              </a:rPr>
              <a:t>Clean-device + accessibility QA</a:t>
            </a:r>
          </a:p>
        </p:txBody>
      </p:sp>
      <p:sp>
        <p:nvSpPr>
          <p:cNvPr id="15" name="">
            <a:extLst xmlns:a="http://schemas.openxmlformats.org/drawingml/2006/main">
              <a:ext uri="{FF2B5EF4-FFF2-40B4-BE49-F238E27FC236}">
                <a16:creationId xmlns:a16="http://schemas.microsoft.com/office/drawing/2014/main" id="{58B19CDC-6FAD-451A-9AA7-CF4DD994A747}"/>
              </a:ext>
            </a:extLst>
          </p:cNvPr>
          <p:cNvSpPr>
            <a:spLocks xmlns:a="http://schemas.openxmlformats.org/drawingml/2006/main" noGrp="1"/>
          </p:cNvSpPr>
          <p:nvPr/>
        </p:nvSpPr>
        <p:spPr>
          <a:xfrm xmlns:a="http://schemas.openxmlformats.org/drawingml/2006/main">
            <a:off x="609600" y="2724150"/>
            <a:ext cx="10972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i="0">
                <a:solidFill>
                  <a:srgbClr val="11100F"/>
                </a:solidFill>
                <a:latin typeface="Helvetica Neue"/>
                <a:ea typeface="Helvetica Neue"/>
                <a:cs typeface="Helvetica Neue"/>
              </a:defRPr>
            </a:pPr>
            <a:r>
              <a:rPr sz="1875" b="1" i="0">
                <a:solidFill>
                  <a:srgbClr val="11100F"/>
                </a:solidFill>
                <a:latin typeface="Helvetica Neue"/>
                <a:ea typeface="Helvetica Neue"/>
                <a:cs typeface="Helvetica Neue"/>
              </a:rPr>
              <a:t>The guiding rule: do not call a green build or a running prototype a finished public release without the delivery evidence.</a:t>
            </a:r>
          </a:p>
        </p:txBody>
      </p:sp>
      <p:sp>
        <p:nvSpPr>
          <p:cNvPr id="16" name="">
            <a:extLst xmlns:a="http://schemas.openxmlformats.org/drawingml/2006/main">
              <a:ext uri="{FF2B5EF4-FFF2-40B4-BE49-F238E27FC236}">
                <a16:creationId xmlns:a16="http://schemas.microsoft.com/office/drawing/2014/main" id="{05C5D6FF-F5ED-4CFB-896C-1CDC2269515A}"/>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9D0C5"/>
            </a:solidFill>
            <a:prstDash val="solid"/>
          </a:ln>
        </p:spPr>
      </p:sp>
      <p:sp>
        <p:nvSpPr>
          <p:cNvPr id="17" name="">
            <a:extLst xmlns:a="http://schemas.openxmlformats.org/drawingml/2006/main">
              <a:ext uri="{FF2B5EF4-FFF2-40B4-BE49-F238E27FC236}">
                <a16:creationId xmlns:a16="http://schemas.microsoft.com/office/drawing/2014/main" id="{BFFAF237-DE19-4469-A33C-1F607E7E72E5}"/>
              </a:ext>
            </a:extLst>
          </p:cNvPr>
          <p:cNvSpPr>
            <a:spLocks xmlns:a="http://schemas.openxmlformats.org/drawingml/2006/main" noGrp="1"/>
          </p:cNvSpPr>
          <p:nvPr/>
        </p:nvSpPr>
        <p:spPr>
          <a:xfrm xmlns:a="http://schemas.openxmlformats.org/drawingml/2006/main">
            <a:off x="609600" y="65627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9B9086"/>
                </a:solidFill>
                <a:latin typeface="Helvetica Neue"/>
                <a:ea typeface="Helvetica Neue"/>
                <a:cs typeface="Helvetica Neue"/>
              </a:defRPr>
            </a:pPr>
            <a:r>
              <a:rPr sz="900" b="1" i="0">
                <a:solidFill>
                  <a:srgbClr val="9B9086"/>
                </a:solidFill>
                <a:latin typeface="Helvetica Neue"/>
                <a:ea typeface="Helvetica Neue"/>
                <a:cs typeface="Helvetica Neue"/>
              </a:rPr>
              <a:t>ZENVOICE  |  PRIVATE LOCAL-FIRST DICTATION</a:t>
            </a:r>
          </a:p>
        </p:txBody>
      </p:sp>
      <p:sp>
        <p:nvSpPr>
          <p:cNvPr id="18" name="">
            <a:extLst xmlns:a="http://schemas.openxmlformats.org/drawingml/2006/main">
              <a:ext uri="{FF2B5EF4-FFF2-40B4-BE49-F238E27FC236}">
                <a16:creationId xmlns:a16="http://schemas.microsoft.com/office/drawing/2014/main" id="{ECAB02D3-1FF1-4A16-B9A2-FC02E99F77A1}"/>
              </a:ext>
            </a:extLst>
          </p:cNvPr>
          <p:cNvSpPr>
            <a:spLocks xmlns:a="http://schemas.openxmlformats.org/drawingml/2006/main" noGrp="1"/>
          </p:cNvSpPr>
          <p:nvPr/>
        </p:nvSpPr>
        <p:spPr>
          <a:xfrm xmlns:a="http://schemas.openxmlformats.org/drawingml/2006/main">
            <a:off x="10668000" y="6562725"/>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9B9086"/>
                </a:solidFill>
                <a:latin typeface="Helvetica Neue"/>
                <a:ea typeface="Helvetica Neue"/>
                <a:cs typeface="Helvetica Neue"/>
              </a:defRPr>
            </a:pPr>
            <a:r>
              <a:rPr sz="900" b="1" i="0">
                <a:solidFill>
                  <a:srgbClr val="9B9086"/>
                </a:solidFill>
                <a:latin typeface="Helvetica Neue"/>
                <a:ea typeface="Helvetica Neue"/>
                <a:cs typeface="Helvetica Neue"/>
              </a:rPr>
              <a:t>13</a:t>
            </a:r>
          </a:p>
        </p:txBody>
      </p:sp>
    </p:spTree>
    <p:extLst>
      <p:ext uri="{BB962C8B-B14F-4D97-AF65-F5344CB8AC3E}">
        <p14:creationId xmlns:p14="http://schemas.microsoft.com/office/powerpoint/2010/main" val="742912621"/>
      </p:ext>
    </p:extLst>
  </p:cSld>
  <p:transition spd="med" advClick="1">
    <p:fade/>
  </p:transition>
</p:sld>
</file>

<file path=ppt/slides/slide14.xml><?xml version="1.0" encoding="utf-8"?>
<p:sld xmlns:p="http://schemas.openxmlformats.org/presentationml/2006/main">
  <p:cSld>
    <p:bg>
      <p:bgPr>
        <a:solidFill xmlns:a="http://schemas.openxmlformats.org/drawingml/2006/main">
          <a:srgbClr val="11100F"/>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8e32c26a94b4209"/>
          <a:stretch xmlns:a="http://schemas.openxmlformats.org/drawingml/2006/main"/>
        </p:blipFill>
        <p:spPr>
          <a:xfrm xmlns:a="http://schemas.openxmlformats.org/drawingml/2006/main">
            <a:off x="685800" y="685800"/>
            <a:ext cx="800100" cy="800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7873913-0197-4C42-BA8F-70DEAADDA86C}"/>
              </a:ext>
            </a:extLst>
          </p:cNvPr>
          <p:cNvSpPr>
            <a:spLocks xmlns:a="http://schemas.openxmlformats.org/drawingml/2006/main" noGrp="1"/>
          </p:cNvSpPr>
          <p:nvPr/>
        </p:nvSpPr>
        <p:spPr>
          <a:xfrm xmlns:a="http://schemas.openxmlformats.org/drawingml/2006/main">
            <a:off x="685800" y="1866900"/>
            <a:ext cx="9906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125" b="1" i="0">
                <a:solidFill>
                  <a:srgbClr val="FFFFFF"/>
                </a:solidFill>
                <a:latin typeface="Helvetica Neue"/>
                <a:ea typeface="Helvetica Neue"/>
                <a:cs typeface="Helvetica Neue"/>
              </a:defRPr>
            </a:pPr>
            <a:r>
              <a:rPr sz="4125" b="1" i="0">
                <a:solidFill>
                  <a:srgbClr val="FFFFFF"/>
                </a:solidFill>
                <a:latin typeface="Helvetica Neue"/>
                <a:ea typeface="Helvetica Neue"/>
                <a:cs typeface="Helvetica Neue"/>
              </a:rPr>
              <a:t>ZenVoice makes speaking a private, productive way to write.</a:t>
            </a:r>
          </a:p>
        </p:txBody>
      </p:sp>
      <p:sp>
        <p:nvSpPr>
          <p:cNvPr id="3" name="">
            <a:extLst xmlns:a="http://schemas.openxmlformats.org/drawingml/2006/main">
              <a:ext uri="{FF2B5EF4-FFF2-40B4-BE49-F238E27FC236}">
                <a16:creationId xmlns:a16="http://schemas.microsoft.com/office/drawing/2014/main" id="{52EA4FD1-3A7C-4F8D-A1BA-202B18899AD4}"/>
              </a:ext>
            </a:extLst>
          </p:cNvPr>
          <p:cNvSpPr>
            <a:spLocks xmlns:a="http://schemas.openxmlformats.org/drawingml/2006/main" noGrp="1"/>
          </p:cNvSpPr>
          <p:nvPr/>
        </p:nvSpPr>
        <p:spPr>
          <a:xfrm xmlns:a="http://schemas.openxmlformats.org/drawingml/2006/main">
            <a:off x="685800" y="3219450"/>
            <a:ext cx="8401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i="0">
                <a:solidFill>
                  <a:srgbClr val="D4CCC5"/>
                </a:solidFill>
                <a:latin typeface="Helvetica Neue"/>
                <a:ea typeface="Helvetica Neue"/>
                <a:cs typeface="Helvetica Neue"/>
              </a:defRPr>
            </a:pPr>
            <a:r>
              <a:rPr sz="1875" b="0" i="0">
                <a:solidFill>
                  <a:srgbClr val="D4CCC5"/>
                </a:solidFill>
                <a:latin typeface="Helvetica Neue"/>
                <a:ea typeface="Helvetica Neue"/>
                <a:cs typeface="Helvetica Neue"/>
              </a:rPr>
              <a:t>A focused native app, local AI models, measurable quality, and honest product boundaries — built as both a company product and a college project.</a:t>
            </a:r>
          </a:p>
        </p:txBody>
      </p:sp>
      <p:sp>
        <p:nvSpPr>
          <p:cNvPr id="4" name="">
            <a:extLst xmlns:a="http://schemas.openxmlformats.org/drawingml/2006/main">
              <a:ext uri="{FF2B5EF4-FFF2-40B4-BE49-F238E27FC236}">
                <a16:creationId xmlns:a16="http://schemas.microsoft.com/office/drawing/2014/main" id="{9D55F32D-43E3-4DEF-ADE8-777569D33093}"/>
              </a:ext>
            </a:extLst>
          </p:cNvPr>
          <p:cNvSpPr>
            <a:spLocks xmlns:a="http://schemas.openxmlformats.org/drawingml/2006/main" noGrp="1"/>
          </p:cNvSpPr>
          <p:nvPr/>
        </p:nvSpPr>
        <p:spPr>
          <a:xfrm xmlns:a="http://schemas.openxmlformats.org/drawingml/2006/main">
            <a:off x="685800" y="4898231"/>
            <a:ext cx="186018" cy="128588"/>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5" name="">
            <a:extLst xmlns:a="http://schemas.openxmlformats.org/drawingml/2006/main">
              <a:ext uri="{FF2B5EF4-FFF2-40B4-BE49-F238E27FC236}">
                <a16:creationId xmlns:a16="http://schemas.microsoft.com/office/drawing/2014/main" id="{65AD6F95-961A-4524-A635-FDB7C7AD40C7}"/>
              </a:ext>
            </a:extLst>
          </p:cNvPr>
          <p:cNvSpPr>
            <a:spLocks xmlns:a="http://schemas.openxmlformats.org/drawingml/2006/main" noGrp="1"/>
          </p:cNvSpPr>
          <p:nvPr/>
        </p:nvSpPr>
        <p:spPr>
          <a:xfrm xmlns:a="http://schemas.openxmlformats.org/drawingml/2006/main">
            <a:off x="948018" y="4866084"/>
            <a:ext cx="186018" cy="192881"/>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6" name="">
            <a:extLst xmlns:a="http://schemas.openxmlformats.org/drawingml/2006/main">
              <a:ext uri="{FF2B5EF4-FFF2-40B4-BE49-F238E27FC236}">
                <a16:creationId xmlns:a16="http://schemas.microsoft.com/office/drawing/2014/main" id="{C2FE67E9-A166-4C1F-AECA-E365C6AB92CB}"/>
              </a:ext>
            </a:extLst>
          </p:cNvPr>
          <p:cNvSpPr>
            <a:spLocks xmlns:a="http://schemas.openxmlformats.org/drawingml/2006/main" noGrp="1"/>
          </p:cNvSpPr>
          <p:nvPr/>
        </p:nvSpPr>
        <p:spPr>
          <a:xfrm xmlns:a="http://schemas.openxmlformats.org/drawingml/2006/main">
            <a:off x="1210235" y="4801791"/>
            <a:ext cx="186018" cy="321469"/>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7" name="">
            <a:extLst xmlns:a="http://schemas.openxmlformats.org/drawingml/2006/main">
              <a:ext uri="{FF2B5EF4-FFF2-40B4-BE49-F238E27FC236}">
                <a16:creationId xmlns:a16="http://schemas.microsoft.com/office/drawing/2014/main" id="{82AF6293-F80B-4A6C-80F9-D1CE0BF40528}"/>
              </a:ext>
            </a:extLst>
          </p:cNvPr>
          <p:cNvSpPr>
            <a:spLocks xmlns:a="http://schemas.openxmlformats.org/drawingml/2006/main" noGrp="1"/>
          </p:cNvSpPr>
          <p:nvPr/>
        </p:nvSpPr>
        <p:spPr>
          <a:xfrm xmlns:a="http://schemas.openxmlformats.org/drawingml/2006/main">
            <a:off x="1472453" y="4726781"/>
            <a:ext cx="186018" cy="471488"/>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8" name="">
            <a:extLst xmlns:a="http://schemas.openxmlformats.org/drawingml/2006/main">
              <a:ext uri="{FF2B5EF4-FFF2-40B4-BE49-F238E27FC236}">
                <a16:creationId xmlns:a16="http://schemas.microsoft.com/office/drawing/2014/main" id="{79EBCB6D-9E47-4246-B185-E2A188A8B166}"/>
              </a:ext>
            </a:extLst>
          </p:cNvPr>
          <p:cNvSpPr>
            <a:spLocks xmlns:a="http://schemas.openxmlformats.org/drawingml/2006/main" noGrp="1"/>
          </p:cNvSpPr>
          <p:nvPr/>
        </p:nvSpPr>
        <p:spPr>
          <a:xfrm xmlns:a="http://schemas.openxmlformats.org/drawingml/2006/main">
            <a:off x="1734671" y="4812506"/>
            <a:ext cx="186018" cy="300037"/>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9" name="">
            <a:extLst xmlns:a="http://schemas.openxmlformats.org/drawingml/2006/main">
              <a:ext uri="{FF2B5EF4-FFF2-40B4-BE49-F238E27FC236}">
                <a16:creationId xmlns:a16="http://schemas.microsoft.com/office/drawing/2014/main" id="{B66D252B-4241-4BE8-B536-0BDC5F4B8A69}"/>
              </a:ext>
            </a:extLst>
          </p:cNvPr>
          <p:cNvSpPr>
            <a:spLocks xmlns:a="http://schemas.openxmlformats.org/drawingml/2006/main" noGrp="1"/>
          </p:cNvSpPr>
          <p:nvPr/>
        </p:nvSpPr>
        <p:spPr>
          <a:xfrm xmlns:a="http://schemas.openxmlformats.org/drawingml/2006/main">
            <a:off x="1996888" y="4657130"/>
            <a:ext cx="186018" cy="610791"/>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10" name="">
            <a:extLst xmlns:a="http://schemas.openxmlformats.org/drawingml/2006/main">
              <a:ext uri="{FF2B5EF4-FFF2-40B4-BE49-F238E27FC236}">
                <a16:creationId xmlns:a16="http://schemas.microsoft.com/office/drawing/2014/main" id="{E9AC9088-2362-407D-B39E-42D44796ED2E}"/>
              </a:ext>
            </a:extLst>
          </p:cNvPr>
          <p:cNvSpPr>
            <a:spLocks xmlns:a="http://schemas.openxmlformats.org/drawingml/2006/main" noGrp="1"/>
          </p:cNvSpPr>
          <p:nvPr/>
        </p:nvSpPr>
        <p:spPr>
          <a:xfrm xmlns:a="http://schemas.openxmlformats.org/drawingml/2006/main">
            <a:off x="2259106" y="4576763"/>
            <a:ext cx="186018" cy="771525"/>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11" name="">
            <a:extLst xmlns:a="http://schemas.openxmlformats.org/drawingml/2006/main">
              <a:ext uri="{FF2B5EF4-FFF2-40B4-BE49-F238E27FC236}">
                <a16:creationId xmlns:a16="http://schemas.microsoft.com/office/drawing/2014/main" id="{4C7867A5-7882-4EF7-88DA-B48C773292FC}"/>
              </a:ext>
            </a:extLst>
          </p:cNvPr>
          <p:cNvSpPr>
            <a:spLocks xmlns:a="http://schemas.openxmlformats.org/drawingml/2006/main" noGrp="1"/>
          </p:cNvSpPr>
          <p:nvPr/>
        </p:nvSpPr>
        <p:spPr>
          <a:xfrm xmlns:a="http://schemas.openxmlformats.org/drawingml/2006/main">
            <a:off x="2521324" y="4705350"/>
            <a:ext cx="186018" cy="514350"/>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12" name="">
            <a:extLst xmlns:a="http://schemas.openxmlformats.org/drawingml/2006/main">
              <a:ext uri="{FF2B5EF4-FFF2-40B4-BE49-F238E27FC236}">
                <a16:creationId xmlns:a16="http://schemas.microsoft.com/office/drawing/2014/main" id="{16F8F343-F2B9-43FD-AF4A-195FAFFCD237}"/>
              </a:ext>
            </a:extLst>
          </p:cNvPr>
          <p:cNvSpPr>
            <a:spLocks xmlns:a="http://schemas.openxmlformats.org/drawingml/2006/main" noGrp="1"/>
          </p:cNvSpPr>
          <p:nvPr/>
        </p:nvSpPr>
        <p:spPr>
          <a:xfrm xmlns:a="http://schemas.openxmlformats.org/drawingml/2006/main">
            <a:off x="2783541" y="4780359"/>
            <a:ext cx="186018" cy="364331"/>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13" name="">
            <a:extLst xmlns:a="http://schemas.openxmlformats.org/drawingml/2006/main">
              <a:ext uri="{FF2B5EF4-FFF2-40B4-BE49-F238E27FC236}">
                <a16:creationId xmlns:a16="http://schemas.microsoft.com/office/drawing/2014/main" id="{5D7F6F01-D227-4637-9A19-9A328D5E2292}"/>
              </a:ext>
            </a:extLst>
          </p:cNvPr>
          <p:cNvSpPr>
            <a:spLocks xmlns:a="http://schemas.openxmlformats.org/drawingml/2006/main" noGrp="1"/>
          </p:cNvSpPr>
          <p:nvPr/>
        </p:nvSpPr>
        <p:spPr>
          <a:xfrm xmlns:a="http://schemas.openxmlformats.org/drawingml/2006/main">
            <a:off x="3045759" y="4641056"/>
            <a:ext cx="186018" cy="642938"/>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14" name="">
            <a:extLst xmlns:a="http://schemas.openxmlformats.org/drawingml/2006/main">
              <a:ext uri="{FF2B5EF4-FFF2-40B4-BE49-F238E27FC236}">
                <a16:creationId xmlns:a16="http://schemas.microsoft.com/office/drawing/2014/main" id="{25F3818C-E04E-4FB5-9ED3-E9F9FDD06CCC}"/>
              </a:ext>
            </a:extLst>
          </p:cNvPr>
          <p:cNvSpPr>
            <a:spLocks xmlns:a="http://schemas.openxmlformats.org/drawingml/2006/main" noGrp="1"/>
          </p:cNvSpPr>
          <p:nvPr/>
        </p:nvSpPr>
        <p:spPr>
          <a:xfrm xmlns:a="http://schemas.openxmlformats.org/drawingml/2006/main">
            <a:off x="3307976" y="4544616"/>
            <a:ext cx="186018" cy="835819"/>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15" name="">
            <a:extLst xmlns:a="http://schemas.openxmlformats.org/drawingml/2006/main">
              <a:ext uri="{FF2B5EF4-FFF2-40B4-BE49-F238E27FC236}">
                <a16:creationId xmlns:a16="http://schemas.microsoft.com/office/drawing/2014/main" id="{B92E8091-F8D5-44CB-82A0-9D60713A034E}"/>
              </a:ext>
            </a:extLst>
          </p:cNvPr>
          <p:cNvSpPr>
            <a:spLocks xmlns:a="http://schemas.openxmlformats.org/drawingml/2006/main" noGrp="1"/>
          </p:cNvSpPr>
          <p:nvPr/>
        </p:nvSpPr>
        <p:spPr>
          <a:xfrm xmlns:a="http://schemas.openxmlformats.org/drawingml/2006/main">
            <a:off x="3570194" y="4737497"/>
            <a:ext cx="186018" cy="450056"/>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16" name="">
            <a:extLst xmlns:a="http://schemas.openxmlformats.org/drawingml/2006/main">
              <a:ext uri="{FF2B5EF4-FFF2-40B4-BE49-F238E27FC236}">
                <a16:creationId xmlns:a16="http://schemas.microsoft.com/office/drawing/2014/main" id="{8CBFF16D-2C79-4E32-95AC-13EB67CF2046}"/>
              </a:ext>
            </a:extLst>
          </p:cNvPr>
          <p:cNvSpPr>
            <a:spLocks xmlns:a="http://schemas.openxmlformats.org/drawingml/2006/main" noGrp="1"/>
          </p:cNvSpPr>
          <p:nvPr/>
        </p:nvSpPr>
        <p:spPr>
          <a:xfrm xmlns:a="http://schemas.openxmlformats.org/drawingml/2006/main">
            <a:off x="3832412" y="4839295"/>
            <a:ext cx="186018" cy="246459"/>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17" name="">
            <a:extLst xmlns:a="http://schemas.openxmlformats.org/drawingml/2006/main">
              <a:ext uri="{FF2B5EF4-FFF2-40B4-BE49-F238E27FC236}">
                <a16:creationId xmlns:a16="http://schemas.microsoft.com/office/drawing/2014/main" id="{465BFF6B-D813-4230-A1FF-497982C5BAAC}"/>
              </a:ext>
            </a:extLst>
          </p:cNvPr>
          <p:cNvSpPr>
            <a:spLocks xmlns:a="http://schemas.openxmlformats.org/drawingml/2006/main" noGrp="1"/>
          </p:cNvSpPr>
          <p:nvPr/>
        </p:nvSpPr>
        <p:spPr>
          <a:xfrm xmlns:a="http://schemas.openxmlformats.org/drawingml/2006/main">
            <a:off x="4094629" y="4898231"/>
            <a:ext cx="186018" cy="128588"/>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18" name="">
            <a:extLst xmlns:a="http://schemas.openxmlformats.org/drawingml/2006/main">
              <a:ext uri="{FF2B5EF4-FFF2-40B4-BE49-F238E27FC236}">
                <a16:creationId xmlns:a16="http://schemas.microsoft.com/office/drawing/2014/main" id="{1B159FB5-CDBA-4A43-8D5A-CBE73968371B}"/>
              </a:ext>
            </a:extLst>
          </p:cNvPr>
          <p:cNvSpPr>
            <a:spLocks xmlns:a="http://schemas.openxmlformats.org/drawingml/2006/main" noGrp="1"/>
          </p:cNvSpPr>
          <p:nvPr/>
        </p:nvSpPr>
        <p:spPr>
          <a:xfrm xmlns:a="http://schemas.openxmlformats.org/drawingml/2006/main">
            <a:off x="4356847" y="4823222"/>
            <a:ext cx="186018" cy="278606"/>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19" name="">
            <a:extLst xmlns:a="http://schemas.openxmlformats.org/drawingml/2006/main">
              <a:ext uri="{FF2B5EF4-FFF2-40B4-BE49-F238E27FC236}">
                <a16:creationId xmlns:a16="http://schemas.microsoft.com/office/drawing/2014/main" id="{25E58B53-938D-436A-8401-36CDE2A81711}"/>
              </a:ext>
            </a:extLst>
          </p:cNvPr>
          <p:cNvSpPr>
            <a:spLocks xmlns:a="http://schemas.openxmlformats.org/drawingml/2006/main" noGrp="1"/>
          </p:cNvSpPr>
          <p:nvPr/>
        </p:nvSpPr>
        <p:spPr>
          <a:xfrm xmlns:a="http://schemas.openxmlformats.org/drawingml/2006/main">
            <a:off x="4619065" y="4758928"/>
            <a:ext cx="186018" cy="407194"/>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20" name="">
            <a:extLst xmlns:a="http://schemas.openxmlformats.org/drawingml/2006/main">
              <a:ext uri="{FF2B5EF4-FFF2-40B4-BE49-F238E27FC236}">
                <a16:creationId xmlns:a16="http://schemas.microsoft.com/office/drawing/2014/main" id="{D2761F82-DA9A-499D-A9D3-F1D3CBD5EE97}"/>
              </a:ext>
            </a:extLst>
          </p:cNvPr>
          <p:cNvSpPr>
            <a:spLocks xmlns:a="http://schemas.openxmlformats.org/drawingml/2006/main" noGrp="1"/>
          </p:cNvSpPr>
          <p:nvPr/>
        </p:nvSpPr>
        <p:spPr>
          <a:xfrm xmlns:a="http://schemas.openxmlformats.org/drawingml/2006/main">
            <a:off x="4881282" y="4871442"/>
            <a:ext cx="186018" cy="182166"/>
          </a:xfrm>
          <a:prstGeom xmlns:a="http://schemas.openxmlformats.org/drawingml/2006/main" prst="roundRect">
            <a:avLst>
              <a:gd name="adj" fmla="val 50000"/>
            </a:avLst>
          </a:prstGeom>
          <a:solidFill xmlns:a="http://schemas.openxmlformats.org/drawingml/2006/main">
            <a:srgbClr val="D8B67D"/>
          </a:solidFill>
          <a:ln xmlns:a="http://schemas.openxmlformats.org/drawingml/2006/main" w="0">
            <a:solidFill>
              <a:srgbClr val="D8B67D"/>
            </a:solidFill>
            <a:prstDash val="solid"/>
          </a:ln>
        </p:spPr>
      </p:sp>
      <p:sp>
        <p:nvSpPr>
          <p:cNvPr id="21" name="">
            <a:extLst xmlns:a="http://schemas.openxmlformats.org/drawingml/2006/main">
              <a:ext uri="{FF2B5EF4-FFF2-40B4-BE49-F238E27FC236}">
                <a16:creationId xmlns:a16="http://schemas.microsoft.com/office/drawing/2014/main" id="{0FF8ED8F-8896-4CA2-9E91-EE0E715223E2}"/>
              </a:ext>
            </a:extLst>
          </p:cNvPr>
          <p:cNvSpPr>
            <a:spLocks xmlns:a="http://schemas.openxmlformats.org/drawingml/2006/main" noGrp="1"/>
          </p:cNvSpPr>
          <p:nvPr/>
        </p:nvSpPr>
        <p:spPr>
          <a:xfrm xmlns:a="http://schemas.openxmlformats.org/drawingml/2006/main">
            <a:off x="685800" y="574357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Thank you • Questions / demo</a:t>
            </a:r>
          </a:p>
        </p:txBody>
      </p:sp>
      <p:sp>
        <p:nvSpPr>
          <p:cNvPr id="22" name="">
            <a:extLst xmlns:a="http://schemas.openxmlformats.org/drawingml/2006/main">
              <a:ext uri="{FF2B5EF4-FFF2-40B4-BE49-F238E27FC236}">
                <a16:creationId xmlns:a16="http://schemas.microsoft.com/office/drawing/2014/main" id="{C7AF48D2-AA4A-41EF-A49D-CFBBE54929AD}"/>
              </a:ext>
            </a:extLst>
          </p:cNvPr>
          <p:cNvSpPr>
            <a:spLocks xmlns:a="http://schemas.openxmlformats.org/drawingml/2006/main" noGrp="1"/>
          </p:cNvSpPr>
          <p:nvPr/>
        </p:nvSpPr>
        <p:spPr>
          <a:xfrm xmlns:a="http://schemas.openxmlformats.org/drawingml/2006/main">
            <a:off x="8991600" y="5743575"/>
            <a:ext cx="2514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0" i="0">
                <a:solidFill>
                  <a:srgbClr val="D8B67D"/>
                </a:solidFill>
                <a:latin typeface="Helvetica Neue"/>
                <a:ea typeface="Helvetica Neue"/>
                <a:cs typeface="Helvetica Neue"/>
              </a:defRPr>
            </a:pPr>
            <a:r>
              <a:rPr sz="1350" b="0" i="0">
                <a:solidFill>
                  <a:srgbClr val="D8B67D"/>
                </a:solidFill>
                <a:latin typeface="Helvetica Neue"/>
                <a:ea typeface="Helvetica Neue"/>
                <a:cs typeface="Helvetica Neue"/>
              </a:rPr>
              <a:t>ZenVoice for macOS</a:t>
            </a:r>
          </a:p>
        </p:txBody>
      </p:sp>
    </p:spTree>
    <p:extLst>
      <p:ext uri="{BB962C8B-B14F-4D97-AF65-F5344CB8AC3E}">
        <p14:creationId xmlns:p14="http://schemas.microsoft.com/office/powerpoint/2010/main" val="785437300"/>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2026-08-23T07:31:56.0790000Z</dcterms:created>
  <dcterms:modified xsi:type="dcterms:W3CDTF">2026-08-23T07:31:56.0790000Z</dcterms:modified>
</coreProperties>
</file>